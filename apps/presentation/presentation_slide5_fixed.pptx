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6A2B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5880" y="384048"/>
            <a:ext cx="9144" cy="329184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850" b="1">
                <a:solidFill>
                  <a:srgbClr val="78787D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0" y="384048"/>
            <a:ext cx="13715" cy="329184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3840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  <a:latin typeface="Inter"/>
              </a:defRPr>
            </a:pPr>
            <a:r>
              <a:t>KEY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38404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C66A2B"/>
                </a:solidFill>
                <a:latin typeface="Inter"/>
              </a:defRPr>
            </a:pPr>
            <a:r>
              <a:t>KEY BENEFITS</a:t>
            </a:r>
          </a:p>
          <a:p>
            <a:pPr>
              <a:lnSpc>
                <a:spcPts val="3600"/>
              </a:lnSpc>
              <a:spcAft>
                <a:spcPts val="1200"/>
              </a:spcAft>
            </a:pPr>
            <a:r>
              <a:rPr sz="3200" b="1">
                <a:solidFill>
                  <a:srgbClr val="1E1E1E"/>
                </a:solidFill>
                <a:latin typeface="Sora"/>
              </a:rPr>
              <a:t>UNLOCKING THE
POWER OF
</a:t>
            </a:r>
            <a:r>
              <a:rPr sz="3200" b="1">
                <a:solidFill>
                  <a:srgbClr val="C66A2B"/>
                </a:solidFill>
                <a:latin typeface="Sora"/>
              </a:rPr>
              <a:t>COLLABORATIVE
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457200" cy="18287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sz="1250">
                <a:solidFill>
                  <a:srgbClr val="1E1E1E"/>
                </a:solidFill>
                <a:latin typeface="Inter"/>
              </a:defRPr>
            </a:pPr>
            <a:r>
              <a:t>Our solution transforms isolated AI systems into a connected ecosystem that drives measurable impact across organizations and industries.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0584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4980" y="121158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33872" y="1490472"/>
            <a:ext cx="36576" cy="3657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852160" y="1508760"/>
            <a:ext cx="100584" cy="0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32627" y="1488643"/>
            <a:ext cx="40233" cy="40233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852160" y="1508760"/>
            <a:ext cx="31082" cy="95661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63125" y="1584304"/>
            <a:ext cx="40233" cy="40233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5770785" y="1508760"/>
            <a:ext cx="81375" cy="59121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750669" y="1547764"/>
            <a:ext cx="40233" cy="40233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5770785" y="1449638"/>
            <a:ext cx="81375" cy="59122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750669" y="1429521"/>
            <a:ext cx="40233" cy="40233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5852160" y="1413098"/>
            <a:ext cx="31082" cy="95662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863125" y="1392982"/>
            <a:ext cx="40233" cy="40233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965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250"/>
              </a:lnSpc>
              <a:spcAft>
                <a:spcPts val="400"/>
              </a:spcAft>
              <a:defRPr sz="1000" b="1">
                <a:solidFill>
                  <a:srgbClr val="1E1E1E"/>
                </a:solidFill>
                <a:latin typeface="Inter"/>
              </a:defRPr>
            </a:pPr>
            <a:r>
              <a:t>STRONGER</a:t>
            </a:r>
            <a:br/>
            <a:r>
              <a:t>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54203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150"/>
              </a:lnSpc>
              <a:defRPr sz="850">
                <a:solidFill>
                  <a:srgbClr val="78787D"/>
                </a:solidFill>
                <a:latin typeface="Inter"/>
              </a:defRPr>
            </a:pPr>
            <a:r>
              <a:t>Break down silos and enable seamless collaboration across organizations.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00584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2420" y="121158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1545336"/>
            <a:ext cx="36576" cy="5486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1312" y="1508760"/>
            <a:ext cx="36575" cy="91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6175" y="1472184"/>
            <a:ext cx="36576" cy="12801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8147304" y="1435608"/>
            <a:ext cx="164592" cy="128016"/>
          </a:xfrm>
          <a:prstGeom prst="line">
            <a:avLst/>
          </a:prstGeom>
          <a:ln w="15240">
            <a:solidFill>
              <a:srgbClr val="C6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>
            <a:off x="8275320" y="1408176"/>
            <a:ext cx="54864" cy="54864"/>
          </a:xfrm>
          <a:prstGeom prst="triangl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1965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250"/>
              </a:lnSpc>
              <a:spcAft>
                <a:spcPts val="400"/>
              </a:spcAft>
              <a:defRPr sz="1000" b="1">
                <a:solidFill>
                  <a:srgbClr val="1E1E1E"/>
                </a:solidFill>
                <a:latin typeface="Inter"/>
              </a:defRPr>
            </a:pPr>
            <a:r>
              <a:t>ACCELERATED</a:t>
            </a:r>
            <a:br/>
            <a:r>
              <a:t>INNOVATION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54203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150"/>
              </a:lnSpc>
              <a:defRPr sz="850">
                <a:solidFill>
                  <a:srgbClr val="78787D"/>
                </a:solidFill>
                <a:latin typeface="Inter"/>
              </a:defRPr>
            </a:pPr>
            <a:r>
              <a:t>Combine diverse data, models, and expertise to drive faster breakthroughs.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100584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09860" y="121158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0552176" y="1444752"/>
            <a:ext cx="109728" cy="128016"/>
          </a:xfrm>
          <a:custGeom>
            <a:avLst/>
            <a:gdLst/>
            <a:ahLst/>
            <a:cxnLst/>
            <a:rect l="l" t="t" r="r" b="b"/>
            <a:pathLst>
              <a:path w="109728" h="128016">
                <a:moveTo>
                  <a:pt x="0" y="0"/>
                </a:moveTo>
                <a:lnTo>
                  <a:pt x="109728" y="0"/>
                </a:lnTo>
                <a:lnTo>
                  <a:pt x="109728" y="64008"/>
                </a:lnTo>
                <a:lnTo>
                  <a:pt x="54864" y="128016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88752" y="1481328"/>
            <a:ext cx="36576" cy="3657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79608" y="1517904"/>
            <a:ext cx="54864" cy="4572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1965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250"/>
              </a:lnSpc>
              <a:spcAft>
                <a:spcPts val="400"/>
              </a:spcAft>
              <a:defRPr sz="1000" b="1">
                <a:solidFill>
                  <a:srgbClr val="1E1E1E"/>
                </a:solidFill>
                <a:latin typeface="Inter"/>
              </a:defRPr>
            </a:pPr>
            <a:r>
              <a:t>ENHANCED</a:t>
            </a:r>
            <a:br/>
            <a:r>
              <a:t>SECURITY &amp; 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254203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150"/>
              </a:lnSpc>
              <a:defRPr sz="850">
                <a:solidFill>
                  <a:srgbClr val="78787D"/>
                </a:solidFill>
                <a:latin typeface="Inter"/>
              </a:defRPr>
            </a:pPr>
            <a:r>
              <a:t>Built with privacy-preserving technology and zero-trust architecture.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361188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54980" y="381762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69864" y="4023360"/>
            <a:ext cx="91440" cy="91440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769864" y="4069080"/>
            <a:ext cx="91440" cy="91440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9864" y="4114800"/>
            <a:ext cx="91440" cy="91440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70448" y="4123944"/>
            <a:ext cx="73152" cy="73152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4128515"/>
            <a:ext cx="54864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5F5F7"/>
                </a:solidFill>
                <a:latin typeface="Inter"/>
              </a:defRPr>
            </a:pPr>
            <a:r>
              <a:t>$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45720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250"/>
              </a:lnSpc>
              <a:spcAft>
                <a:spcPts val="400"/>
              </a:spcAft>
              <a:defRPr sz="1000" b="1">
                <a:solidFill>
                  <a:srgbClr val="1E1E1E"/>
                </a:solidFill>
                <a:latin typeface="Inter"/>
              </a:defRPr>
            </a:pPr>
            <a:r>
              <a:t>GREATER</a:t>
            </a:r>
            <a:br/>
            <a:r>
              <a:t>EFFICIENCY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514807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150"/>
              </a:lnSpc>
              <a:defRPr sz="850">
                <a:solidFill>
                  <a:srgbClr val="78787D"/>
                </a:solidFill>
                <a:latin typeface="Inter"/>
              </a:defRPr>
            </a:pPr>
            <a:r>
              <a:t>Reduce duplication, optimize resources, and lower operational costs.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0" y="361188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932420" y="381762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29016" y="4014215"/>
            <a:ext cx="201168" cy="201168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83879" y="4069080"/>
            <a:ext cx="91440" cy="91440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8229600" y="4032504"/>
            <a:ext cx="82296" cy="82296"/>
          </a:xfrm>
          <a:prstGeom prst="line">
            <a:avLst/>
          </a:prstGeom>
          <a:ln w="15240">
            <a:solidFill>
              <a:srgbClr val="C6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302752" y="4023360"/>
            <a:ext cx="27431" cy="27431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45720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250"/>
              </a:lnSpc>
              <a:spcAft>
                <a:spcPts val="400"/>
              </a:spcAft>
              <a:defRPr sz="1000" b="1">
                <a:solidFill>
                  <a:srgbClr val="1E1E1E"/>
                </a:solidFill>
                <a:latin typeface="Inter"/>
              </a:defRPr>
            </a:pPr>
            <a:r>
              <a:t>IMPACT AT</a:t>
            </a:r>
            <a:br/>
            <a:r>
              <a:t>SCALE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514807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150"/>
              </a:lnSpc>
              <a:defRPr sz="850">
                <a:solidFill>
                  <a:srgbClr val="78787D"/>
                </a:solidFill>
                <a:latin typeface="Inter"/>
              </a:defRPr>
            </a:pPr>
            <a:r>
              <a:t>Solve bigger challenges together and create lasting value for society.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60" y="3611880"/>
            <a:ext cx="2194560" cy="2377440"/>
          </a:xfrm>
          <a:prstGeom prst="roundRect">
            <a:avLst/>
          </a:prstGeom>
          <a:solidFill>
            <a:srgbClr val="FCFCFA"/>
          </a:solidFill>
          <a:ln w="1270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09860" y="3817620"/>
            <a:ext cx="594360" cy="594360"/>
          </a:xfrm>
          <a:prstGeom prst="ellipse">
            <a:avLst/>
          </a:prstGeom>
          <a:noFill/>
          <a:ln w="1016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24744" y="4032504"/>
            <a:ext cx="164592" cy="164592"/>
          </a:xfrm>
          <a:prstGeom prst="ellipse">
            <a:avLst/>
          </a:prstGeom>
          <a:noFill/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10506456" y="4096512"/>
            <a:ext cx="201168" cy="36575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88752" y="4014215"/>
            <a:ext cx="36576" cy="201169"/>
          </a:xfrm>
          <a:prstGeom prst="line">
            <a:avLst/>
          </a:prstGeom>
          <a:ln w="1016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0533888" y="4133088"/>
            <a:ext cx="36576" cy="3657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43616" y="4059936"/>
            <a:ext cx="36576" cy="36576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45720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250"/>
              </a:lnSpc>
              <a:spcAft>
                <a:spcPts val="400"/>
              </a:spcAft>
              <a:defRPr sz="1000" b="1">
                <a:solidFill>
                  <a:srgbClr val="1E1E1E"/>
                </a:solidFill>
                <a:latin typeface="Inter"/>
              </a:defRPr>
            </a:pPr>
            <a:r>
              <a:t>FUTURE-READY</a:t>
            </a:r>
            <a:br/>
            <a:r>
              <a:t>ECOSYSTEM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55480" y="514807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150"/>
              </a:lnSpc>
              <a:defRPr sz="850">
                <a:solidFill>
                  <a:srgbClr val="78787D"/>
                </a:solidFill>
                <a:latin typeface="Inter"/>
              </a:defRPr>
            </a:pPr>
            <a:r>
              <a:t>A scalable foundation designed to evolve with emerging technologies.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85216" y="6483096"/>
            <a:ext cx="292608" cy="292608"/>
          </a:xfrm>
          <a:prstGeom prst="ellipse">
            <a:avLst/>
          </a:prstGeom>
          <a:solidFill>
            <a:srgbClr val="0A0B0C"/>
          </a:solidFill>
          <a:ln w="1270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8368" y="6556248"/>
            <a:ext cx="146304" cy="146304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97280" y="6492240"/>
            <a:ext cx="13716" cy="27432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34440" y="64922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F5F5F7"/>
                </a:solidFill>
                <a:latin typeface="Inter"/>
              </a:rPr>
              <a:t>Together, we can turn independent intelligence into </a:t>
            </a:r>
            <a:r>
              <a:rPr sz="1050" b="1">
                <a:solidFill>
                  <a:srgbClr val="C66A2B"/>
                </a:solidFill>
                <a:latin typeface="Inter"/>
              </a:rPr>
              <a:t>collective impact</a:t>
            </a:r>
            <a:r>
              <a:rPr sz="1050">
                <a:solidFill>
                  <a:srgbClr val="F5F5F7"/>
                </a:solidFill>
                <a:latin typeface="Inter"/>
              </a:rPr>
              <a:t>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6492240"/>
            <a:ext cx="13715" cy="27432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0" y="64739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defRPr sz="850" b="1">
                <a:solidFill>
                  <a:srgbClr val="F5F5F7"/>
                </a:solidFill>
                <a:latin typeface="Inter"/>
              </a:defRPr>
            </a:pPr>
            <a:r>
              <a:t>CONNECTED INTELLIGENCE.</a:t>
            </a:r>
            <a:br/>
            <a:r>
              <a:t>STRONGER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