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66A2B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3" name="Rectangle 2"/>
          <p:cNvSpPr/>
          <p:nvPr/>
        </p:nvSpPr>
        <p:spPr>
          <a:xfrm>
            <a:off x="1325880" y="384048"/>
            <a:ext cx="9144" cy="329184"/>
          </a:xfrm>
          <a:prstGeom prst="rect">
            <a:avLst/>
          </a:prstGeom>
          <a:solidFill>
            <a:srgbClr val="DCD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850" b="1">
                <a:solidFill>
                  <a:srgbClr val="78787D"/>
                </a:solidFill>
                <a:latin typeface="Inter"/>
              </a:defRPr>
            </a:pPr>
            <a:r>
              <a:t>CONNECTING INTELLIGENCE</a:t>
            </a:r>
            <a:br/>
            <a:r>
              <a:t>ACROSS ORGANIZATIONS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384048"/>
            <a:ext cx="13716" cy="329184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95560" y="3840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1E1E"/>
                </a:solidFill>
                <a:latin typeface="Inter"/>
              </a:defRPr>
            </a:pPr>
            <a:r>
              <a:t>EXPECTED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914400"/>
            <a:ext cx="67052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400" b="1">
                <a:solidFill>
                  <a:srgbClr val="1F4D3A"/>
                </a:solidFill>
                <a:latin typeface="Sora"/>
              </a:defRPr>
            </a:pPr>
            <a:r>
              <a:t>EXPECTED IMPACT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1691640"/>
            <a:ext cx="1005840" cy="18288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1874519"/>
            <a:ext cx="76196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defRPr sz="1300">
                <a:solidFill>
                  <a:srgbClr val="1E1E1E"/>
                </a:solidFill>
                <a:latin typeface="Inter"/>
              </a:defRPr>
            </a:pPr>
            <a:r>
              <a:t>Building a connected intelligence infrastructure will create value</a:t>
            </a:r>
            <a:br/>
            <a:r>
              <a:t>for organizations, industries, and society at large.</a:t>
            </a:r>
          </a:p>
        </p:txBody>
      </p:sp>
      <p:sp>
        <p:nvSpPr>
          <p:cNvPr id="10" name="Oval 9"/>
          <p:cNvSpPr/>
          <p:nvPr/>
        </p:nvSpPr>
        <p:spPr>
          <a:xfrm>
            <a:off x="1161288" y="2990088"/>
            <a:ext cx="694944" cy="694944"/>
          </a:xfrm>
          <a:prstGeom prst="ellipse">
            <a:avLst/>
          </a:prstGeom>
          <a:noFill/>
          <a:ln w="10160">
            <a:solidFill>
              <a:srgbClr val="1F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6424" y="2935224"/>
            <a:ext cx="804672" cy="804672"/>
          </a:xfrm>
          <a:prstGeom prst="ellipse">
            <a:avLst/>
          </a:prstGeom>
          <a:noFill/>
          <a:ln w="635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19655" y="3090672"/>
            <a:ext cx="36576" cy="36576"/>
          </a:xfrm>
          <a:prstGeom prst="ellipse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1288" y="3547872"/>
            <a:ext cx="36576" cy="36576"/>
          </a:xfrm>
          <a:prstGeom prst="ellipse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53895" y="3273552"/>
            <a:ext cx="109729" cy="128016"/>
          </a:xfrm>
          <a:custGeom>
            <a:avLst/>
            <a:gdLst/>
            <a:ahLst/>
            <a:cxnLst/>
            <a:rect l="l" t="t" r="r" b="b"/>
            <a:pathLst>
              <a:path w="109729" h="128016">
                <a:moveTo>
                  <a:pt x="0" y="0"/>
                </a:moveTo>
                <a:lnTo>
                  <a:pt x="109729" y="0"/>
                </a:lnTo>
                <a:lnTo>
                  <a:pt x="109729" y="64008"/>
                </a:lnTo>
                <a:lnTo>
                  <a:pt x="54865" y="128016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1F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90472" y="3337560"/>
            <a:ext cx="13716" cy="13716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04188" y="3351276"/>
            <a:ext cx="22859" cy="13716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25880" y="3886200"/>
            <a:ext cx="365759" cy="13715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defRPr sz="1050" b="1">
                <a:solidFill>
                  <a:srgbClr val="1F4D3A"/>
                </a:solidFill>
                <a:latin typeface="Inter"/>
              </a:defRPr>
            </a:pPr>
            <a:r>
              <a:t>SECURE</a:t>
            </a:r>
            <a:br/>
            <a:r>
              <a:t>COLLABORATION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defRPr sz="900">
                <a:solidFill>
                  <a:srgbClr val="1E1E1E"/>
                </a:solidFill>
                <a:latin typeface="Inter"/>
              </a:defRPr>
            </a:pPr>
            <a:r>
              <a:t>Organizations can share and collaborate without compromising privacy or control.</a:t>
            </a:r>
          </a:p>
        </p:txBody>
      </p:sp>
      <p:sp>
        <p:nvSpPr>
          <p:cNvPr id="20" name="Oval 19"/>
          <p:cNvSpPr/>
          <p:nvPr/>
        </p:nvSpPr>
        <p:spPr>
          <a:xfrm>
            <a:off x="2944368" y="2990088"/>
            <a:ext cx="694944" cy="694944"/>
          </a:xfrm>
          <a:prstGeom prst="ellipse">
            <a:avLst/>
          </a:prstGeom>
          <a:noFill/>
          <a:ln w="10160">
            <a:solidFill>
              <a:srgbClr val="1F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89504" y="2935224"/>
            <a:ext cx="804672" cy="804672"/>
          </a:xfrm>
          <a:prstGeom prst="ellipse">
            <a:avLst/>
          </a:prstGeom>
          <a:noFill/>
          <a:ln w="635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02736" y="3090672"/>
            <a:ext cx="36576" cy="36576"/>
          </a:xfrm>
          <a:prstGeom prst="ellipse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44368" y="3547872"/>
            <a:ext cx="36576" cy="36576"/>
          </a:xfrm>
          <a:prstGeom prst="ellipse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32404" y="3259836"/>
            <a:ext cx="118872" cy="118872"/>
          </a:xfrm>
          <a:prstGeom prst="ellipse">
            <a:avLst/>
          </a:prstGeom>
          <a:noFill/>
          <a:ln w="12700">
            <a:solidFill>
              <a:srgbClr val="1F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59836" y="3383279"/>
            <a:ext cx="64008" cy="9144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3552" y="3410712"/>
            <a:ext cx="36576" cy="9143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364992" y="3319272"/>
            <a:ext cx="36576" cy="0"/>
          </a:xfrm>
          <a:prstGeom prst="line">
            <a:avLst/>
          </a:prstGeom>
          <a:ln w="10160">
            <a:solidFill>
              <a:srgbClr val="1F4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343566" y="3370998"/>
            <a:ext cx="25863" cy="25863"/>
          </a:xfrm>
          <a:prstGeom prst="line">
            <a:avLst/>
          </a:prstGeom>
          <a:ln w="10160">
            <a:solidFill>
              <a:srgbClr val="1F4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91840" y="3392424"/>
            <a:ext cx="0" cy="36576"/>
          </a:xfrm>
          <a:prstGeom prst="line">
            <a:avLst/>
          </a:prstGeom>
          <a:ln w="10160">
            <a:solidFill>
              <a:srgbClr val="1F4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3214250" y="3370998"/>
            <a:ext cx="25863" cy="25863"/>
          </a:xfrm>
          <a:prstGeom prst="line">
            <a:avLst/>
          </a:prstGeom>
          <a:ln w="10160">
            <a:solidFill>
              <a:srgbClr val="1F4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3182112" y="3319272"/>
            <a:ext cx="36576" cy="0"/>
          </a:xfrm>
          <a:prstGeom prst="line">
            <a:avLst/>
          </a:prstGeom>
          <a:ln w="10160">
            <a:solidFill>
              <a:srgbClr val="1F4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3214250" y="3241682"/>
            <a:ext cx="25863" cy="25863"/>
          </a:xfrm>
          <a:prstGeom prst="line">
            <a:avLst/>
          </a:prstGeom>
          <a:ln w="10160">
            <a:solidFill>
              <a:srgbClr val="1F4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291840" y="3209544"/>
            <a:ext cx="0" cy="36576"/>
          </a:xfrm>
          <a:prstGeom prst="line">
            <a:avLst/>
          </a:prstGeom>
          <a:ln w="10160">
            <a:solidFill>
              <a:srgbClr val="1F4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343566" y="3241682"/>
            <a:ext cx="25863" cy="25863"/>
          </a:xfrm>
          <a:prstGeom prst="line">
            <a:avLst/>
          </a:prstGeom>
          <a:ln w="10160">
            <a:solidFill>
              <a:srgbClr val="1F4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108960" y="3886200"/>
            <a:ext cx="365760" cy="13715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23160" y="411480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defRPr sz="1050" b="1">
                <a:solidFill>
                  <a:srgbClr val="1F4D3A"/>
                </a:solidFill>
                <a:latin typeface="Inter"/>
              </a:defRPr>
            </a:pPr>
            <a:r>
              <a:t>FASTER</a:t>
            </a:r>
            <a:br/>
            <a:r>
              <a:t>INNOVATION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4846320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defRPr sz="900">
                <a:solidFill>
                  <a:srgbClr val="1E1E1E"/>
                </a:solidFill>
                <a:latin typeface="Inter"/>
              </a:defRPr>
            </a:pPr>
            <a:r>
              <a:t>Combine diverse intelligence and expertise to solve complex problems faster.</a:t>
            </a:r>
          </a:p>
        </p:txBody>
      </p:sp>
      <p:sp>
        <p:nvSpPr>
          <p:cNvPr id="38" name="Oval 37"/>
          <p:cNvSpPr/>
          <p:nvPr/>
        </p:nvSpPr>
        <p:spPr>
          <a:xfrm>
            <a:off x="4727448" y="2990088"/>
            <a:ext cx="694944" cy="694944"/>
          </a:xfrm>
          <a:prstGeom prst="ellipse">
            <a:avLst/>
          </a:prstGeom>
          <a:noFill/>
          <a:ln w="10160">
            <a:solidFill>
              <a:srgbClr val="1F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72583" y="2935224"/>
            <a:ext cx="804672" cy="804672"/>
          </a:xfrm>
          <a:prstGeom prst="ellipse">
            <a:avLst/>
          </a:prstGeom>
          <a:noFill/>
          <a:ln w="635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85816" y="3090672"/>
            <a:ext cx="36576" cy="36576"/>
          </a:xfrm>
          <a:prstGeom prst="ellipse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727448" y="3547872"/>
            <a:ext cx="36576" cy="36576"/>
          </a:xfrm>
          <a:prstGeom prst="ellipse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047488" y="3273552"/>
            <a:ext cx="54864" cy="54864"/>
          </a:xfrm>
          <a:prstGeom prst="ellipse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20056" y="3346703"/>
            <a:ext cx="109728" cy="54864"/>
          </a:xfrm>
          <a:prstGeom prst="round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997196" y="3323844"/>
            <a:ext cx="45720" cy="45720"/>
          </a:xfrm>
          <a:prstGeom prst="ellipse">
            <a:avLst/>
          </a:prstGeom>
          <a:solidFill>
            <a:srgbClr val="78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974336" y="3383279"/>
            <a:ext cx="91440" cy="45720"/>
          </a:xfrm>
          <a:prstGeom prst="roundRect">
            <a:avLst/>
          </a:prstGeom>
          <a:solidFill>
            <a:srgbClr val="78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106923" y="3323844"/>
            <a:ext cx="45720" cy="45720"/>
          </a:xfrm>
          <a:prstGeom prst="ellipse">
            <a:avLst/>
          </a:prstGeom>
          <a:solidFill>
            <a:srgbClr val="78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084064" y="3383279"/>
            <a:ext cx="91440" cy="45720"/>
          </a:xfrm>
          <a:prstGeom prst="roundRect">
            <a:avLst/>
          </a:prstGeom>
          <a:solidFill>
            <a:srgbClr val="78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92040" y="3886200"/>
            <a:ext cx="365760" cy="13715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0" y="411480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defRPr sz="1050" b="1">
                <a:solidFill>
                  <a:srgbClr val="1F4D3A"/>
                </a:solidFill>
                <a:latin typeface="Inter"/>
              </a:defRPr>
            </a:pPr>
            <a:r>
              <a:t>STRONGER</a:t>
            </a:r>
            <a:br/>
            <a:r>
              <a:t>ECOSYSTEM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6240" y="4846320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defRPr sz="900">
                <a:solidFill>
                  <a:srgbClr val="1E1E1E"/>
                </a:solidFill>
                <a:latin typeface="Inter"/>
              </a:defRPr>
            </a:pPr>
            <a:r>
              <a:t>Build a trusted network of organizations working together toward common goals.</a:t>
            </a:r>
          </a:p>
        </p:txBody>
      </p:sp>
      <p:sp>
        <p:nvSpPr>
          <p:cNvPr id="51" name="Oval 50"/>
          <p:cNvSpPr/>
          <p:nvPr/>
        </p:nvSpPr>
        <p:spPr>
          <a:xfrm>
            <a:off x="6510527" y="2990088"/>
            <a:ext cx="694944" cy="694944"/>
          </a:xfrm>
          <a:prstGeom prst="ellipse">
            <a:avLst/>
          </a:prstGeom>
          <a:noFill/>
          <a:ln w="10160">
            <a:solidFill>
              <a:srgbClr val="1F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455663" y="2935224"/>
            <a:ext cx="804672" cy="804672"/>
          </a:xfrm>
          <a:prstGeom prst="ellipse">
            <a:avLst/>
          </a:prstGeom>
          <a:noFill/>
          <a:ln w="635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168896" y="3090672"/>
            <a:ext cx="36576" cy="36576"/>
          </a:xfrm>
          <a:prstGeom prst="ellipse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10527" y="3547872"/>
            <a:ext cx="36576" cy="36576"/>
          </a:xfrm>
          <a:prstGeom prst="ellipse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793991" y="3364991"/>
            <a:ext cx="27432" cy="54864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48855" y="3328416"/>
            <a:ext cx="27431" cy="91439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903719" y="3291840"/>
            <a:ext cx="27432" cy="128015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V="1">
            <a:off x="6784847" y="3273552"/>
            <a:ext cx="146304" cy="109727"/>
          </a:xfrm>
          <a:prstGeom prst="line">
            <a:avLst/>
          </a:prstGeom>
          <a:ln w="15240">
            <a:solidFill>
              <a:srgbClr val="C66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Isosceles Triangle 58"/>
          <p:cNvSpPr/>
          <p:nvPr/>
        </p:nvSpPr>
        <p:spPr>
          <a:xfrm>
            <a:off x="6894575" y="3246120"/>
            <a:ext cx="54864" cy="54864"/>
          </a:xfrm>
          <a:prstGeom prst="triangl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675119" y="3886200"/>
            <a:ext cx="365760" cy="13715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19" y="411480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defRPr sz="1050" b="1">
                <a:solidFill>
                  <a:srgbClr val="1F4D3A"/>
                </a:solidFill>
                <a:latin typeface="Inter"/>
              </a:defRPr>
            </a:pPr>
            <a:r>
              <a:t>GREATER</a:t>
            </a:r>
            <a:br/>
            <a:r>
              <a:t>EFFICIENCY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19" y="4846320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defRPr sz="900">
                <a:solidFill>
                  <a:srgbClr val="1E1E1E"/>
                </a:solidFill>
                <a:latin typeface="Inter"/>
              </a:defRPr>
            </a:pPr>
            <a:r>
              <a:t>Reduce duplication of efforts and optimize the use of resources.</a:t>
            </a:r>
          </a:p>
        </p:txBody>
      </p:sp>
      <p:sp>
        <p:nvSpPr>
          <p:cNvPr id="63" name="Oval 62"/>
          <p:cNvSpPr/>
          <p:nvPr/>
        </p:nvSpPr>
        <p:spPr>
          <a:xfrm>
            <a:off x="8293607" y="2990088"/>
            <a:ext cx="694944" cy="694944"/>
          </a:xfrm>
          <a:prstGeom prst="ellipse">
            <a:avLst/>
          </a:prstGeom>
          <a:noFill/>
          <a:ln w="10160">
            <a:solidFill>
              <a:srgbClr val="1F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38744" y="2935224"/>
            <a:ext cx="804672" cy="804672"/>
          </a:xfrm>
          <a:prstGeom prst="ellipse">
            <a:avLst/>
          </a:prstGeom>
          <a:noFill/>
          <a:ln w="635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951976" y="3090672"/>
            <a:ext cx="36576" cy="36576"/>
          </a:xfrm>
          <a:prstGeom prst="ellipse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293608" y="3547872"/>
            <a:ext cx="36576" cy="36576"/>
          </a:xfrm>
          <a:prstGeom prst="ellipse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09076" y="3282696"/>
            <a:ext cx="64008" cy="64008"/>
          </a:xfrm>
          <a:prstGeom prst="ellipse">
            <a:avLst/>
          </a:prstGeom>
          <a:noFill/>
          <a:ln w="12700">
            <a:solidFill>
              <a:srgbClr val="1F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595359" y="3328416"/>
            <a:ext cx="91440" cy="73152"/>
          </a:xfrm>
          <a:prstGeom prst="round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31936" y="3346704"/>
            <a:ext cx="18288" cy="18288"/>
          </a:xfrm>
          <a:prstGeom prst="ellipse">
            <a:avLst/>
          </a:prstGeom>
          <a:solidFill>
            <a:srgbClr val="FC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58200" y="3886200"/>
            <a:ext cx="365759" cy="13715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772400" y="411480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defRPr sz="1050" b="1">
                <a:solidFill>
                  <a:srgbClr val="1F4D3A"/>
                </a:solidFill>
                <a:latin typeface="Inter"/>
              </a:defRPr>
            </a:pPr>
            <a:r>
              <a:t>PRIVACY &amp;</a:t>
            </a:r>
            <a:br/>
            <a:r>
              <a:t>TRUST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72400" y="4846320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defRPr sz="900">
                <a:solidFill>
                  <a:srgbClr val="1E1E1E"/>
                </a:solidFill>
                <a:latin typeface="Inter"/>
              </a:defRPr>
            </a:pPr>
            <a:r>
              <a:t>Ensure transparency, accountability, and data protection at every step.</a:t>
            </a:r>
          </a:p>
        </p:txBody>
      </p:sp>
      <p:sp>
        <p:nvSpPr>
          <p:cNvPr id="73" name="Oval 72"/>
          <p:cNvSpPr/>
          <p:nvPr/>
        </p:nvSpPr>
        <p:spPr>
          <a:xfrm>
            <a:off x="10076688" y="2990088"/>
            <a:ext cx="694944" cy="694944"/>
          </a:xfrm>
          <a:prstGeom prst="ellipse">
            <a:avLst/>
          </a:prstGeom>
          <a:noFill/>
          <a:ln w="10160">
            <a:solidFill>
              <a:srgbClr val="1F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21824" y="2935224"/>
            <a:ext cx="804672" cy="804672"/>
          </a:xfrm>
          <a:prstGeom prst="ellipse">
            <a:avLst/>
          </a:prstGeom>
          <a:noFill/>
          <a:ln w="6350">
            <a:solidFill>
              <a:srgbClr val="DCDE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735056" y="3090672"/>
            <a:ext cx="36576" cy="36576"/>
          </a:xfrm>
          <a:prstGeom prst="ellipse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076688" y="3547872"/>
            <a:ext cx="36576" cy="36576"/>
          </a:xfrm>
          <a:prstGeom prst="ellipse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355580" y="3268979"/>
            <a:ext cx="137160" cy="137160"/>
          </a:xfrm>
          <a:prstGeom prst="ellipse">
            <a:avLst/>
          </a:prstGeom>
          <a:noFill/>
          <a:ln w="12700">
            <a:solidFill>
              <a:srgbClr val="1F4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373868" y="3296412"/>
            <a:ext cx="45720" cy="45720"/>
          </a:xfrm>
          <a:prstGeom prst="ellipse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428732" y="3332988"/>
            <a:ext cx="45720" cy="45720"/>
          </a:xfrm>
          <a:prstGeom prst="ellipse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241280" y="3886200"/>
            <a:ext cx="365759" cy="13715"/>
          </a:xfrm>
          <a:prstGeom prst="rect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555480" y="411480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defRPr sz="1050" b="1">
                <a:solidFill>
                  <a:srgbClr val="1F4D3A"/>
                </a:solidFill>
                <a:latin typeface="Inter"/>
              </a:defRPr>
            </a:pPr>
            <a:r>
              <a:t>SOCIETAL</a:t>
            </a:r>
            <a:br/>
            <a:r>
              <a:t>IMPACT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55480" y="4846320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defRPr sz="900">
                <a:solidFill>
                  <a:srgbClr val="1E1E1E"/>
                </a:solidFill>
                <a:latin typeface="Inter"/>
              </a:defRPr>
            </a:pPr>
            <a:r>
              <a:t>Drive inclusive growth and create positive impact across industries and communities.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31520" y="5760720"/>
            <a:ext cx="10728655" cy="822960"/>
          </a:xfrm>
          <a:prstGeom prst="round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60120" y="5943600"/>
            <a:ext cx="457200" cy="457200"/>
          </a:xfrm>
          <a:prstGeom prst="ellipse">
            <a:avLst/>
          </a:prstGeom>
          <a:solidFill>
            <a:srgbClr val="1F4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51560" y="6035040"/>
            <a:ext cx="274320" cy="274320"/>
          </a:xfrm>
          <a:prstGeom prst="ellipse">
            <a:avLst/>
          </a:prstGeom>
          <a:solidFill>
            <a:srgbClr val="1F4D3A"/>
          </a:solidFill>
          <a:ln w="15240">
            <a:solidFill>
              <a:srgbClr val="C6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43000" y="6126480"/>
            <a:ext cx="91440" cy="91440"/>
          </a:xfrm>
          <a:prstGeom prst="ellipse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645920" y="5897880"/>
            <a:ext cx="13715" cy="548639"/>
          </a:xfrm>
          <a:prstGeom prst="rect">
            <a:avLst/>
          </a:prstGeom>
          <a:solidFill>
            <a:srgbClr val="C6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828800" y="58978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1E1E1E"/>
                </a:solidFill>
                <a:latin typeface="Libre Baskerville"/>
              </a:rPr>
              <a:t>A connected intelligence ecosystem leads to a smarter, more collaborative, and </a:t>
            </a:r>
            <a:r>
              <a:rPr sz="1300" b="1">
                <a:solidFill>
                  <a:srgbClr val="1F4D3A"/>
                </a:solidFill>
                <a:latin typeface="Libre Baskerville"/>
              </a:rPr>
              <a:t>sustainable future</a:t>
            </a:r>
            <a:r>
              <a:rPr sz="1300">
                <a:solidFill>
                  <a:srgbClr val="1E1E1E"/>
                </a:solidFill>
                <a:latin typeface="Libre Baskerville"/>
              </a:rPr>
              <a:t> for everyone.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