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27432" cy="1097280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66A2B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65759" cy="18288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defRPr sz="3600" b="1">
                <a:solidFill>
                  <a:srgbClr val="1F4D3A"/>
                </a:solidFill>
                <a:latin typeface="Libre Baskerville"/>
              </a:defRPr>
            </a:pPr>
            <a:r>
              <a:t>Problem</a:t>
            </a:r>
            <a:br/>
            <a:r>
              <a:t>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457200" cy="27431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46304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sz="1350">
                <a:solidFill>
                  <a:srgbClr val="1E1E1E"/>
                </a:solidFill>
                <a:latin typeface="Inter"/>
              </a:defRPr>
            </a:pPr>
            <a:r>
              <a:t>Today, AI systems are developed and deployed within isolated organizational boundaries. This fragmentation creates significant barriers to collaboration, leads to duplicated efforts, and slows down collective progress.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303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850" b="1">
                <a:solidFill>
                  <a:srgbClr val="5C5F5C"/>
                </a:solidFill>
                <a:latin typeface="Inter"/>
              </a:defRPr>
            </a:pPr>
            <a:r>
              <a:t>CONNECTING INTELLIGENCE</a:t>
            </a:r>
            <a:br/>
            <a:r>
              <a:t>ACROSS ORGANIZATIONS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0" y="548640"/>
            <a:ext cx="13716" cy="320040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2468880" cy="2468880"/>
          </a:xfrm>
          <a:prstGeom prst="roundRect">
            <a:avLst/>
          </a:prstGeom>
          <a:solidFill>
            <a:srgbClr val="F6F4E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31520" y="3108960"/>
            <a:ext cx="685800" cy="384048"/>
          </a:xfrm>
          <a:custGeom>
            <a:avLst/>
            <a:gdLst/>
            <a:ahLst/>
            <a:cxnLst/>
            <a:rect l="l" t="t" r="r" b="b"/>
            <a:pathLst>
              <a:path w="685800" h="384048">
                <a:moveTo>
                  <a:pt x="0" y="0"/>
                </a:moveTo>
                <a:lnTo>
                  <a:pt x="685800" y="0"/>
                </a:lnTo>
                <a:lnTo>
                  <a:pt x="502920" y="384048"/>
                </a:lnTo>
                <a:lnTo>
                  <a:pt x="0" y="384048"/>
                </a:lnTo>
                <a:lnTo>
                  <a:pt x="0" y="0"/>
                </a:lnTo>
                <a:close/>
              </a:path>
            </a:pathLst>
          </a:cu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14553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4" name="Oval 13"/>
          <p:cNvSpPr/>
          <p:nvPr/>
        </p:nvSpPr>
        <p:spPr>
          <a:xfrm>
            <a:off x="1714500" y="3589020"/>
            <a:ext cx="502920" cy="502920"/>
          </a:xfrm>
          <a:prstGeom prst="ellipse">
            <a:avLst/>
          </a:prstGeom>
          <a:solidFill>
            <a:srgbClr val="F6F4E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29384" y="3758184"/>
            <a:ext cx="73152" cy="73152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92808" y="3858768"/>
            <a:ext cx="146304" cy="73152"/>
          </a:xfrm>
          <a:prstGeom prst="round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F4D3A"/>
                </a:solidFill>
                <a:latin typeface="Inter"/>
              </a:defRPr>
            </a:pPr>
            <a:r>
              <a:t>INDEPENDENT</a:t>
            </a:r>
            <a:br/>
            <a:r>
              <a:t>AI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7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50">
                <a:solidFill>
                  <a:srgbClr val="1E1E1E"/>
                </a:solidFill>
                <a:latin typeface="Inter"/>
              </a:defRPr>
            </a:pPr>
            <a:r>
              <a:t>AI systems operate in silos with no communication or interoperability.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108960"/>
            <a:ext cx="2468880" cy="2468880"/>
          </a:xfrm>
          <a:prstGeom prst="roundRect">
            <a:avLst/>
          </a:prstGeom>
          <a:solidFill>
            <a:srgbClr val="F6F4E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474720" y="3108960"/>
            <a:ext cx="685800" cy="384048"/>
          </a:xfrm>
          <a:custGeom>
            <a:avLst/>
            <a:gdLst/>
            <a:ahLst/>
            <a:cxnLst/>
            <a:rect l="l" t="t" r="r" b="b"/>
            <a:pathLst>
              <a:path w="685800" h="384048">
                <a:moveTo>
                  <a:pt x="0" y="0"/>
                </a:moveTo>
                <a:lnTo>
                  <a:pt x="685800" y="0"/>
                </a:lnTo>
                <a:lnTo>
                  <a:pt x="502919" y="384048"/>
                </a:lnTo>
                <a:lnTo>
                  <a:pt x="0" y="384048"/>
                </a:lnTo>
                <a:lnTo>
                  <a:pt x="0" y="0"/>
                </a:lnTo>
                <a:close/>
              </a:path>
            </a:pathLst>
          </a:cu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314553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22" name="Oval 21"/>
          <p:cNvSpPr/>
          <p:nvPr/>
        </p:nvSpPr>
        <p:spPr>
          <a:xfrm>
            <a:off x="4457700" y="3589020"/>
            <a:ext cx="502920" cy="502920"/>
          </a:xfrm>
          <a:prstGeom prst="ellipse">
            <a:avLst/>
          </a:prstGeom>
          <a:solidFill>
            <a:srgbClr val="F6F4E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40580" y="3762756"/>
            <a:ext cx="64008" cy="64008"/>
          </a:xfrm>
          <a:prstGeom prst="ellipse">
            <a:avLst/>
          </a:prstGeom>
          <a:solidFill>
            <a:srgbClr val="5C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08576" y="3849624"/>
            <a:ext cx="128016" cy="64008"/>
          </a:xfrm>
          <a:prstGeom prst="roundRect">
            <a:avLst/>
          </a:prstGeom>
          <a:solidFill>
            <a:srgbClr val="5C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13732" y="3781044"/>
            <a:ext cx="64008" cy="64008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81728" y="3867912"/>
            <a:ext cx="128016" cy="64008"/>
          </a:xfrm>
          <a:prstGeom prst="round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F4D3A"/>
                </a:solidFill>
                <a:latin typeface="Inter"/>
              </a:defRPr>
            </a:pPr>
            <a:r>
              <a:t>LIMITED</a:t>
            </a:r>
            <a:br/>
            <a:r>
              <a:t>COLLABORATION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79" y="498347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50">
                <a:solidFill>
                  <a:srgbClr val="1E1E1E"/>
                </a:solidFill>
                <a:latin typeface="Inter"/>
              </a:defRPr>
            </a:pPr>
            <a:r>
              <a:t>Lack of a common platform prevents sharing of capabilities and knowledge.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08960"/>
            <a:ext cx="2468880" cy="2468880"/>
          </a:xfrm>
          <a:prstGeom prst="roundRect">
            <a:avLst/>
          </a:prstGeom>
          <a:solidFill>
            <a:srgbClr val="F6F4E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6217920" y="3108960"/>
            <a:ext cx="685800" cy="384048"/>
          </a:xfrm>
          <a:custGeom>
            <a:avLst/>
            <a:gdLst/>
            <a:ahLst/>
            <a:cxnLst/>
            <a:rect l="l" t="t" r="r" b="b"/>
            <a:pathLst>
              <a:path w="685800" h="384048">
                <a:moveTo>
                  <a:pt x="0" y="0"/>
                </a:moveTo>
                <a:lnTo>
                  <a:pt x="685800" y="0"/>
                </a:lnTo>
                <a:lnTo>
                  <a:pt x="502920" y="384048"/>
                </a:lnTo>
                <a:lnTo>
                  <a:pt x="0" y="384048"/>
                </a:lnTo>
                <a:lnTo>
                  <a:pt x="0" y="0"/>
                </a:lnTo>
                <a:close/>
              </a:path>
            </a:pathLst>
          </a:cu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314553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2" name="Oval 31"/>
          <p:cNvSpPr/>
          <p:nvPr/>
        </p:nvSpPr>
        <p:spPr>
          <a:xfrm>
            <a:off x="7200900" y="3589020"/>
            <a:ext cx="502920" cy="502920"/>
          </a:xfrm>
          <a:prstGeom prst="ellipse">
            <a:avLst/>
          </a:prstGeom>
          <a:solidFill>
            <a:srgbClr val="F6F4E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88352" y="3758184"/>
            <a:ext cx="128016" cy="164592"/>
          </a:xfrm>
          <a:prstGeom prst="rect">
            <a:avLst/>
          </a:prstGeom>
          <a:noFill/>
          <a:ln w="1905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15784" y="3813048"/>
            <a:ext cx="73151" cy="13716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15784" y="3849624"/>
            <a:ext cx="73151" cy="13716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15784" y="3886200"/>
            <a:ext cx="45719" cy="13716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F4D3A"/>
                </a:solidFill>
                <a:latin typeface="Inter"/>
              </a:defRPr>
            </a:pPr>
            <a:r>
              <a:t>REPEATED</a:t>
            </a:r>
            <a:br/>
            <a:r>
              <a:t>DEVELOPMENT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98347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50">
                <a:solidFill>
                  <a:srgbClr val="1E1E1E"/>
                </a:solidFill>
                <a:latin typeface="Inter"/>
              </a:defRPr>
            </a:pPr>
            <a:r>
              <a:t>Organizations build similar solutions independently, wasting time and resources.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3108960"/>
            <a:ext cx="2468880" cy="2468880"/>
          </a:xfrm>
          <a:prstGeom prst="roundRect">
            <a:avLst/>
          </a:prstGeom>
          <a:solidFill>
            <a:srgbClr val="F6F4E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8961120" y="3108960"/>
            <a:ext cx="685800" cy="384048"/>
          </a:xfrm>
          <a:custGeom>
            <a:avLst/>
            <a:gdLst/>
            <a:ahLst/>
            <a:cxnLst/>
            <a:rect l="l" t="t" r="r" b="b"/>
            <a:pathLst>
              <a:path w="685800" h="384048">
                <a:moveTo>
                  <a:pt x="0" y="0"/>
                </a:moveTo>
                <a:lnTo>
                  <a:pt x="685800" y="0"/>
                </a:lnTo>
                <a:lnTo>
                  <a:pt x="502920" y="384048"/>
                </a:lnTo>
                <a:lnTo>
                  <a:pt x="0" y="384048"/>
                </a:lnTo>
                <a:lnTo>
                  <a:pt x="0" y="0"/>
                </a:lnTo>
                <a:close/>
              </a:path>
            </a:pathLst>
          </a:cu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4272" y="314553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42" name="Oval 41"/>
          <p:cNvSpPr/>
          <p:nvPr/>
        </p:nvSpPr>
        <p:spPr>
          <a:xfrm>
            <a:off x="9944100" y="3589020"/>
            <a:ext cx="502920" cy="502920"/>
          </a:xfrm>
          <a:prstGeom prst="ellipse">
            <a:avLst/>
          </a:prstGeom>
          <a:solidFill>
            <a:srgbClr val="F6F4E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158984" y="3776472"/>
            <a:ext cx="73152" cy="73152"/>
          </a:xfrm>
          <a:prstGeom prst="ellipse">
            <a:avLst/>
          </a:prstGeom>
          <a:noFill/>
          <a:ln w="1905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140696" y="3831336"/>
            <a:ext cx="109728" cy="82296"/>
          </a:xfrm>
          <a:prstGeom prst="round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81844" y="3845052"/>
            <a:ext cx="27432" cy="27432"/>
          </a:xfrm>
          <a:prstGeom prst="ellipse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1050" b="1">
                <a:solidFill>
                  <a:srgbClr val="1F4D3A"/>
                </a:solidFill>
                <a:latin typeface="Inter"/>
              </a:defRPr>
            </a:pPr>
            <a:r>
              <a:t>NO COMMON</a:t>
            </a:r>
            <a:br/>
            <a:r>
              <a:t>INFRASTRUCTURE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498347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50">
                <a:solidFill>
                  <a:srgbClr val="1E1E1E"/>
                </a:solidFill>
                <a:latin typeface="Inter"/>
              </a:defRPr>
            </a:pPr>
            <a:r>
              <a:t>Absence of a trusted infrastructure hinders secure and scalable collaboration.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760720"/>
            <a:ext cx="10728655" cy="731520"/>
          </a:xfrm>
          <a:prstGeom prst="round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97280" y="5897880"/>
            <a:ext cx="18288" cy="457200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0160" y="587044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C66A2B"/>
                </a:solidFill>
                <a:latin typeface="Libre Baskerville"/>
              </a:rPr>
              <a:t>“   </a:t>
            </a:r>
            <a:r>
              <a:rPr sz="1350">
                <a:solidFill>
                  <a:srgbClr val="FCFCFA"/>
                </a:solidFill>
                <a:latin typeface="Libre Baskerville"/>
              </a:rPr>
              <a:t>The next challenge in AI is enabling independent systems to collaborate securely.</a:t>
            </a:r>
            <a:r>
              <a:rPr sz="2000" b="1">
                <a:solidFill>
                  <a:srgbClr val="C66A2B"/>
                </a:solidFill>
                <a:latin typeface="Libre Baskerville"/>
              </a:rPr>
              <a:t>   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