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5" r:id="rId7"/>
    <p:sldId id="261"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66A2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B0C"/>
        </a:solidFill>
        <a:effectLst/>
      </p:bgPr>
    </p:bg>
    <p:spTree>
      <p:nvGrpSpPr>
        <p:cNvPr id="1" name=""/>
        <p:cNvGrpSpPr/>
        <p:nvPr/>
      </p:nvGrpSpPr>
      <p:grpSpPr>
        <a:xfrm>
          <a:off x="0" y="0"/>
          <a:ext cx="0" cy="0"/>
          <a:chOff x="0" y="0"/>
          <a:chExt cx="0" cy="0"/>
        </a:xfrm>
      </p:grpSpPr>
      <p:sp>
        <p:nvSpPr>
          <p:cNvPr id="2" name="Rectangle 1"/>
          <p:cNvSpPr/>
          <p:nvPr/>
        </p:nvSpPr>
        <p:spPr>
          <a:xfrm>
            <a:off x="320040" y="0"/>
            <a:ext cx="27432" cy="685800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40080"/>
            <a:ext cx="1371600" cy="457200"/>
          </a:xfrm>
          <a:prstGeom prst="rect">
            <a:avLst/>
          </a:prstGeom>
          <a:noFill/>
        </p:spPr>
        <p:txBody>
          <a:bodyPr wrap="square" lIns="0" tIns="0" rIns="0" bIns="0">
            <a:spAutoFit/>
          </a:bodyPr>
          <a:lstStyle/>
          <a:p>
            <a:pPr>
              <a:defRPr sz="1800" b="1">
                <a:solidFill>
                  <a:srgbClr val="C66A2B"/>
                </a:solidFill>
                <a:latin typeface="Inter"/>
              </a:defRPr>
            </a:pPr>
            <a:r>
              <a:t>01</a:t>
            </a:r>
          </a:p>
        </p:txBody>
      </p:sp>
      <p:sp>
        <p:nvSpPr>
          <p:cNvPr id="4" name="TextBox 3"/>
          <p:cNvSpPr txBox="1"/>
          <p:nvPr/>
        </p:nvSpPr>
        <p:spPr>
          <a:xfrm>
            <a:off x="640080" y="1188720"/>
            <a:ext cx="5020056" cy="3859518"/>
          </a:xfrm>
          <a:prstGeom prst="rect">
            <a:avLst/>
          </a:prstGeom>
          <a:noFill/>
        </p:spPr>
        <p:txBody>
          <a:bodyPr wrap="square" lIns="0" tIns="0" rIns="0" bIns="0">
            <a:spAutoFit/>
          </a:bodyPr>
          <a:lstStyle/>
          <a:p>
            <a:pPr>
              <a:lnSpc>
                <a:spcPct val="95000"/>
              </a:lnSpc>
              <a:spcAft>
                <a:spcPts val="600"/>
              </a:spcAft>
            </a:pPr>
            <a:r>
              <a:rPr sz="6600" b="1" dirty="0">
                <a:solidFill>
                  <a:srgbClr val="F5F5F7"/>
                </a:solidFill>
                <a:latin typeface="Sora"/>
              </a:rPr>
              <a:t>Connecting</a:t>
            </a:r>
            <a:r>
              <a:rPr lang="en-IN" sz="6600" b="1" dirty="0">
                <a:solidFill>
                  <a:srgbClr val="F5F5F7"/>
                </a:solidFill>
                <a:latin typeface="Sora"/>
              </a:rPr>
              <a:t> </a:t>
            </a:r>
            <a:r>
              <a:rPr sz="6600" b="1" dirty="0">
                <a:solidFill>
                  <a:srgbClr val="F5F5F7"/>
                </a:solidFill>
                <a:latin typeface="Sora"/>
              </a:rPr>
              <a:t>Intelligence</a:t>
            </a:r>
            <a:r>
              <a:rPr lang="en-IN" sz="6600" b="1" dirty="0">
                <a:solidFill>
                  <a:srgbClr val="F5F5F7"/>
                </a:solidFill>
                <a:latin typeface="Sora"/>
              </a:rPr>
              <a:t> </a:t>
            </a:r>
            <a:r>
              <a:rPr sz="6600" b="1" dirty="0">
                <a:solidFill>
                  <a:srgbClr val="C66A2B"/>
                </a:solidFill>
                <a:latin typeface="Sora"/>
              </a:rPr>
              <a:t>Across</a:t>
            </a:r>
            <a:r>
              <a:rPr lang="en-IN" sz="6600" b="1" dirty="0">
                <a:solidFill>
                  <a:srgbClr val="C66A2B"/>
                </a:solidFill>
                <a:latin typeface="Sora"/>
              </a:rPr>
              <a:t> </a:t>
            </a:r>
            <a:r>
              <a:rPr sz="6600" b="1" dirty="0">
                <a:solidFill>
                  <a:srgbClr val="C66A2B"/>
                </a:solidFill>
                <a:latin typeface="Sora"/>
              </a:rPr>
              <a:t>Organizations</a:t>
            </a:r>
          </a:p>
        </p:txBody>
      </p:sp>
      <p:sp>
        <p:nvSpPr>
          <p:cNvPr id="6" name="TextBox 5"/>
          <p:cNvSpPr txBox="1"/>
          <p:nvPr/>
        </p:nvSpPr>
        <p:spPr>
          <a:xfrm>
            <a:off x="640080" y="5166360"/>
            <a:ext cx="6492240" cy="1005840"/>
          </a:xfrm>
          <a:prstGeom prst="rect">
            <a:avLst/>
          </a:prstGeom>
          <a:noFill/>
        </p:spPr>
        <p:txBody>
          <a:bodyPr wrap="square" lIns="0" tIns="0" rIns="0" bIns="0">
            <a:spAutoFit/>
          </a:bodyPr>
          <a:lstStyle/>
          <a:p>
            <a:pPr>
              <a:lnSpc>
                <a:spcPct val="130000"/>
              </a:lnSpc>
              <a:defRPr sz="1200" b="1">
                <a:solidFill>
                  <a:srgbClr val="F5F5F7"/>
                </a:solidFill>
                <a:latin typeface="Inter"/>
              </a:defRPr>
            </a:pPr>
            <a:r>
              <a:t>A DISTRIBUTED INTELLIGENCE INFRASTRUCTURE</a:t>
            </a:r>
            <a:br/>
            <a:r>
              <a:t>FOR SECURE AI COLLABORATION</a:t>
            </a:r>
          </a:p>
        </p:txBody>
      </p:sp>
      <p:sp>
        <p:nvSpPr>
          <p:cNvPr id="7" name="Rounded Rectangle 6"/>
          <p:cNvSpPr/>
          <p:nvPr/>
        </p:nvSpPr>
        <p:spPr>
          <a:xfrm>
            <a:off x="7498079" y="914400"/>
            <a:ext cx="3931920" cy="5029200"/>
          </a:xfrm>
          <a:prstGeom prst="roundRect">
            <a:avLst/>
          </a:prstGeom>
          <a:solidFill>
            <a:srgbClr val="161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863840" y="1261872"/>
            <a:ext cx="402336" cy="402336"/>
          </a:xfrm>
          <a:prstGeom prst="ellipse">
            <a:avLst/>
          </a:prstGeom>
          <a:solidFill>
            <a:srgbClr val="16181A"/>
          </a:solidFill>
          <a:ln w="1524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023860" y="1367028"/>
            <a:ext cx="82296" cy="82296"/>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82712" y="1490472"/>
            <a:ext cx="164592" cy="82296"/>
          </a:xfrm>
          <a:prstGeom prst="round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80" y="1325880"/>
            <a:ext cx="2743200" cy="274320"/>
          </a:xfrm>
          <a:prstGeom prst="rect">
            <a:avLst/>
          </a:prstGeom>
          <a:noFill/>
        </p:spPr>
        <p:txBody>
          <a:bodyPr wrap="none">
            <a:spAutoFit/>
          </a:bodyPr>
          <a:lstStyle/>
          <a:p>
            <a:pPr>
              <a:defRPr sz="950" b="1">
                <a:solidFill>
                  <a:srgbClr val="C66A2B"/>
                </a:solidFill>
                <a:latin typeface="Inter"/>
              </a:defRPr>
            </a:pPr>
            <a:r>
              <a:t>PRESENTED BY</a:t>
            </a:r>
          </a:p>
        </p:txBody>
      </p:sp>
      <p:sp>
        <p:nvSpPr>
          <p:cNvPr id="12" name="TextBox 11"/>
          <p:cNvSpPr txBox="1"/>
          <p:nvPr/>
        </p:nvSpPr>
        <p:spPr>
          <a:xfrm>
            <a:off x="7863840" y="1828800"/>
            <a:ext cx="3291840" cy="1005840"/>
          </a:xfrm>
          <a:prstGeom prst="rect">
            <a:avLst/>
          </a:prstGeom>
          <a:noFill/>
        </p:spPr>
        <p:txBody>
          <a:bodyPr wrap="square" lIns="0" tIns="0" rIns="0" bIns="0">
            <a:spAutoFit/>
          </a:bodyPr>
          <a:lstStyle/>
          <a:p>
            <a:pPr>
              <a:lnSpc>
                <a:spcPct val="130000"/>
              </a:lnSpc>
              <a:defRPr sz="1200">
                <a:solidFill>
                  <a:srgbClr val="F5F5F7"/>
                </a:solidFill>
                <a:latin typeface="Inter"/>
              </a:defRPr>
            </a:pPr>
            <a:r>
              <a:t>Gokul S</a:t>
            </a:r>
            <a:br/>
            <a:r>
              <a:t>Gautham Krishna R Nair</a:t>
            </a:r>
            <a:br/>
            <a:r>
              <a:t>Sreenidhi V</a:t>
            </a:r>
            <a:br/>
            <a:r>
              <a:t>T Maheswaran</a:t>
            </a:r>
          </a:p>
        </p:txBody>
      </p:sp>
      <p:sp>
        <p:nvSpPr>
          <p:cNvPr id="13" name="Rectangle 12"/>
          <p:cNvSpPr/>
          <p:nvPr/>
        </p:nvSpPr>
        <p:spPr>
          <a:xfrm>
            <a:off x="7863840" y="3017520"/>
            <a:ext cx="3200400" cy="9144"/>
          </a:xfrm>
          <a:prstGeom prst="rect">
            <a:avLst/>
          </a:prstGeom>
          <a:solidFill>
            <a:srgbClr val="242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63840" y="3273551"/>
            <a:ext cx="402336" cy="402336"/>
          </a:xfrm>
          <a:prstGeom prst="ellipse">
            <a:avLst/>
          </a:prstGeom>
          <a:solidFill>
            <a:srgbClr val="16181A"/>
          </a:solidFill>
          <a:ln w="1524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982712" y="3392424"/>
            <a:ext cx="164592" cy="164592"/>
          </a:xfrm>
          <a:prstGeom prst="roundRect">
            <a:avLst/>
          </a:prstGeom>
          <a:solidFill>
            <a:srgbClr val="16181A"/>
          </a:solid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037576" y="3419856"/>
            <a:ext cx="54864" cy="54864"/>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010144" y="3493008"/>
            <a:ext cx="109728" cy="45720"/>
          </a:xfrm>
          <a:prstGeom prst="round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80" y="3337560"/>
            <a:ext cx="2743200" cy="274320"/>
          </a:xfrm>
          <a:prstGeom prst="rect">
            <a:avLst/>
          </a:prstGeom>
          <a:noFill/>
        </p:spPr>
        <p:txBody>
          <a:bodyPr wrap="none">
            <a:spAutoFit/>
          </a:bodyPr>
          <a:lstStyle/>
          <a:p>
            <a:pPr>
              <a:defRPr sz="950" b="1">
                <a:solidFill>
                  <a:srgbClr val="C66A2B"/>
                </a:solidFill>
                <a:latin typeface="Inter"/>
              </a:defRPr>
            </a:pPr>
            <a:r>
              <a:t>GUIDE</a:t>
            </a:r>
          </a:p>
        </p:txBody>
      </p:sp>
      <p:sp>
        <p:nvSpPr>
          <p:cNvPr id="19" name="TextBox 18"/>
          <p:cNvSpPr txBox="1"/>
          <p:nvPr/>
        </p:nvSpPr>
        <p:spPr>
          <a:xfrm>
            <a:off x="7863840" y="3840480"/>
            <a:ext cx="3291840" cy="365760"/>
          </a:xfrm>
          <a:prstGeom prst="rect">
            <a:avLst/>
          </a:prstGeom>
          <a:noFill/>
        </p:spPr>
        <p:txBody>
          <a:bodyPr wrap="square" lIns="0" tIns="0" rIns="0" bIns="0">
            <a:spAutoFit/>
          </a:bodyPr>
          <a:lstStyle/>
          <a:p>
            <a:pPr>
              <a:defRPr sz="1200">
                <a:solidFill>
                  <a:srgbClr val="F5F5F7"/>
                </a:solidFill>
                <a:latin typeface="Inter"/>
              </a:defRPr>
            </a:pPr>
            <a:r>
              <a:t>Assistant Professor Nisha Soman</a:t>
            </a:r>
          </a:p>
        </p:txBody>
      </p:sp>
      <p:sp>
        <p:nvSpPr>
          <p:cNvPr id="20" name="Rectangle 19"/>
          <p:cNvSpPr/>
          <p:nvPr/>
        </p:nvSpPr>
        <p:spPr>
          <a:xfrm>
            <a:off x="7863840" y="4389120"/>
            <a:ext cx="3200400" cy="9143"/>
          </a:xfrm>
          <a:prstGeom prst="rect">
            <a:avLst/>
          </a:prstGeom>
          <a:solidFill>
            <a:srgbClr val="242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7863840" y="4553712"/>
            <a:ext cx="402336" cy="402336"/>
          </a:xfrm>
          <a:prstGeom prst="ellipse">
            <a:avLst/>
          </a:prstGeom>
          <a:solidFill>
            <a:srgbClr val="16181A"/>
          </a:solidFill>
          <a:ln w="1524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01000" y="4727448"/>
            <a:ext cx="18287" cy="73152"/>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55864" y="4727448"/>
            <a:ext cx="18287" cy="73152"/>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10728" y="4727448"/>
            <a:ext cx="18287" cy="73152"/>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973568" y="4800600"/>
            <a:ext cx="182880" cy="18288"/>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Isosceles Triangle 25"/>
          <p:cNvSpPr/>
          <p:nvPr/>
        </p:nvSpPr>
        <p:spPr>
          <a:xfrm>
            <a:off x="7964424" y="4663440"/>
            <a:ext cx="201168" cy="64008"/>
          </a:xfrm>
          <a:prstGeom prst="triangl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12480" y="4526280"/>
            <a:ext cx="2743200" cy="548640"/>
          </a:xfrm>
          <a:prstGeom prst="rect">
            <a:avLst/>
          </a:prstGeom>
          <a:noFill/>
        </p:spPr>
        <p:txBody>
          <a:bodyPr wrap="square">
            <a:spAutoFit/>
          </a:bodyPr>
          <a:lstStyle/>
          <a:p>
            <a:pPr>
              <a:lnSpc>
                <a:spcPct val="105000"/>
              </a:lnSpc>
              <a:defRPr sz="850" b="1">
                <a:solidFill>
                  <a:srgbClr val="C66A2B"/>
                </a:solidFill>
                <a:latin typeface="Inter"/>
              </a:defRPr>
            </a:pPr>
            <a:r>
              <a:t>DEPARTMENT OF ARTIFICIAL</a:t>
            </a:r>
            <a:br/>
            <a:r>
              <a:t>INTELLIGENCE AND MACHINE LEARNING</a:t>
            </a:r>
          </a:p>
        </p:txBody>
      </p:sp>
      <p:sp>
        <p:nvSpPr>
          <p:cNvPr id="28" name="TextBox 27"/>
          <p:cNvSpPr txBox="1"/>
          <p:nvPr/>
        </p:nvSpPr>
        <p:spPr>
          <a:xfrm>
            <a:off x="7863840" y="5166360"/>
            <a:ext cx="3291840" cy="640080"/>
          </a:xfrm>
          <a:prstGeom prst="rect">
            <a:avLst/>
          </a:prstGeom>
          <a:noFill/>
        </p:spPr>
        <p:txBody>
          <a:bodyPr wrap="square" lIns="0" tIns="0" rIns="0" bIns="0">
            <a:spAutoFit/>
          </a:bodyPr>
          <a:lstStyle/>
          <a:p>
            <a:pPr>
              <a:lnSpc>
                <a:spcPct val="130000"/>
              </a:lnSpc>
              <a:defRPr sz="1100">
                <a:solidFill>
                  <a:srgbClr val="F5F5F7"/>
                </a:solidFill>
                <a:latin typeface="Inter"/>
              </a:defRPr>
            </a:pPr>
            <a:r>
              <a:t>Marian Engineering College</a:t>
            </a:r>
            <a:br/>
            <a:r>
              <a:t>Kazhakuttam</a:t>
            </a:r>
            <a:br/>
            <a:r>
              <a:t>Thiruvananthapuram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0" y="0"/>
            <a:ext cx="8229600" cy="6858000"/>
          </a:xfrm>
          <a:custGeom>
            <a:avLst/>
            <a:gdLst/>
            <a:ahLst/>
            <a:cxnLst/>
            <a:rect l="l" t="t" r="r" b="b"/>
            <a:pathLst>
              <a:path w="8229600" h="6858000">
                <a:moveTo>
                  <a:pt x="0" y="0"/>
                </a:moveTo>
                <a:lnTo>
                  <a:pt x="8229600" y="0"/>
                </a:lnTo>
                <a:lnTo>
                  <a:pt x="7040880" y="6858000"/>
                </a:lnTo>
                <a:lnTo>
                  <a:pt x="0" y="6858000"/>
                </a:lnTo>
                <a:lnTo>
                  <a:pt x="0" y="0"/>
                </a:lnTo>
                <a:close/>
              </a:path>
            </a:pathLst>
          </a:cu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548640"/>
            <a:ext cx="1371600" cy="457200"/>
          </a:xfrm>
          <a:prstGeom prst="rect">
            <a:avLst/>
          </a:prstGeom>
          <a:noFill/>
        </p:spPr>
        <p:txBody>
          <a:bodyPr wrap="square" lIns="0" tIns="0" rIns="0" bIns="0">
            <a:spAutoFit/>
          </a:bodyPr>
          <a:lstStyle/>
          <a:p>
            <a:pPr>
              <a:defRPr sz="1800" b="1">
                <a:solidFill>
                  <a:srgbClr val="C66A2B"/>
                </a:solidFill>
                <a:latin typeface="Inter"/>
              </a:defRPr>
            </a:pPr>
            <a:r>
              <a:t>02</a:t>
            </a:r>
          </a:p>
        </p:txBody>
      </p:sp>
      <p:sp>
        <p:nvSpPr>
          <p:cNvPr id="4" name="Rectangle 3"/>
          <p:cNvSpPr/>
          <p:nvPr/>
        </p:nvSpPr>
        <p:spPr>
          <a:xfrm>
            <a:off x="502920" y="1005840"/>
            <a:ext cx="13715" cy="128016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645920"/>
            <a:ext cx="5486400" cy="1097280"/>
          </a:xfrm>
          <a:prstGeom prst="rect">
            <a:avLst/>
          </a:prstGeom>
          <a:noFill/>
        </p:spPr>
        <p:txBody>
          <a:bodyPr wrap="square" lIns="0" tIns="0" rIns="0" bIns="0">
            <a:spAutoFit/>
          </a:bodyPr>
          <a:lstStyle/>
          <a:p>
            <a:pPr>
              <a:defRPr sz="5800" b="1">
                <a:solidFill>
                  <a:srgbClr val="F5F5F7"/>
                </a:solidFill>
                <a:latin typeface="Sora"/>
              </a:defRPr>
            </a:pPr>
            <a:r>
              <a:rPr dirty="0"/>
              <a:t>ABSTRACT</a:t>
            </a:r>
          </a:p>
        </p:txBody>
      </p:sp>
      <p:sp>
        <p:nvSpPr>
          <p:cNvPr id="7" name="TextBox 6"/>
          <p:cNvSpPr txBox="1"/>
          <p:nvPr/>
        </p:nvSpPr>
        <p:spPr>
          <a:xfrm>
            <a:off x="1005840" y="3566160"/>
            <a:ext cx="5577840" cy="2926080"/>
          </a:xfrm>
          <a:prstGeom prst="rect">
            <a:avLst/>
          </a:prstGeom>
          <a:noFill/>
        </p:spPr>
        <p:txBody>
          <a:bodyPr wrap="square" lIns="0" tIns="0" rIns="0" bIns="0">
            <a:spAutoFit/>
          </a:bodyPr>
          <a:lstStyle/>
          <a:p>
            <a:pPr>
              <a:lnSpc>
                <a:spcPct val="135000"/>
              </a:lnSpc>
              <a:spcAft>
                <a:spcPts val="2400"/>
              </a:spcAft>
              <a:defRPr sz="1350">
                <a:solidFill>
                  <a:srgbClr val="F5F5F7"/>
                </a:solidFill>
                <a:latin typeface="Inter"/>
              </a:defRPr>
            </a:pPr>
            <a:r>
              <a:t>As Artificial Intelligence systems become more powerful and widespread, they remain largely isolated within organizational boundaries. This isolation limits collaboration, causes repeated development of similar solutions, and prevents systems from sharing capabilities or knowledge.</a:t>
            </a:r>
          </a:p>
          <a:p>
            <a:pPr>
              <a:lnSpc>
                <a:spcPct val="135000"/>
              </a:lnSpc>
              <a:defRPr sz="1350">
                <a:solidFill>
                  <a:srgbClr val="F5F5F7"/>
                </a:solidFill>
                <a:latin typeface="Inter"/>
              </a:defRPr>
            </a:pPr>
            <a:r>
              <a:t>This project proposes a distributed intelligence infrastructure that enables independent AI systems to communicate, collaborate, and coordinate securely while preserving each organization’s autonomy and data privacy.</a:t>
            </a:r>
          </a:p>
        </p:txBody>
      </p:sp>
      <p:sp>
        <p:nvSpPr>
          <p:cNvPr id="8" name="Rectangle 7"/>
          <p:cNvSpPr/>
          <p:nvPr/>
        </p:nvSpPr>
        <p:spPr>
          <a:xfrm>
            <a:off x="73152" y="5760720"/>
            <a:ext cx="4572" cy="109728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46304" y="5843016"/>
            <a:ext cx="4572" cy="1014983"/>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19456" y="5925312"/>
            <a:ext cx="4572" cy="932687"/>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92608" y="6007608"/>
            <a:ext cx="4572" cy="850391"/>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6089904"/>
            <a:ext cx="4572" cy="768095"/>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 y="6172200"/>
            <a:ext cx="4572" cy="68580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12063" y="6254496"/>
            <a:ext cx="4572" cy="603504"/>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85216" y="6336792"/>
            <a:ext cx="4572" cy="521208"/>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58368" y="6419088"/>
            <a:ext cx="4572" cy="438912"/>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31519" y="6501384"/>
            <a:ext cx="4572" cy="356615"/>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4672" y="6583680"/>
            <a:ext cx="4572" cy="2743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77824" y="6665976"/>
            <a:ext cx="4572" cy="192023"/>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5320" y="1645919"/>
            <a:ext cx="640080" cy="640080"/>
          </a:xfrm>
          <a:prstGeom prst="ellipse">
            <a:avLst/>
          </a:pr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8522208" y="1883664"/>
            <a:ext cx="146304" cy="164591"/>
          </a:xfrm>
          <a:custGeom>
            <a:avLst/>
            <a:gdLst/>
            <a:ahLst/>
            <a:cxnLst/>
            <a:rect l="l" t="t" r="r" b="b"/>
            <a:pathLst>
              <a:path w="146304" h="164591">
                <a:moveTo>
                  <a:pt x="0" y="0"/>
                </a:moveTo>
                <a:lnTo>
                  <a:pt x="146304" y="0"/>
                </a:lnTo>
                <a:lnTo>
                  <a:pt x="146304" y="82296"/>
                </a:lnTo>
                <a:lnTo>
                  <a:pt x="73152" y="164591"/>
                </a:lnTo>
                <a:lnTo>
                  <a:pt x="0" y="82296"/>
                </a:lnTo>
                <a:lnTo>
                  <a:pt x="0" y="0"/>
                </a:lnTo>
                <a:close/>
              </a:path>
            </a:pathLst>
          </a:custGeom>
          <a:noFill/>
          <a:ln w="1905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72500" y="1924812"/>
            <a:ext cx="45720" cy="45720"/>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567928" y="1965960"/>
            <a:ext cx="54864" cy="4572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235440" y="1691640"/>
            <a:ext cx="13716" cy="54864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18320" y="1645920"/>
            <a:ext cx="2377440" cy="1188720"/>
          </a:xfrm>
          <a:prstGeom prst="rect">
            <a:avLst/>
          </a:prstGeom>
          <a:noFill/>
        </p:spPr>
        <p:txBody>
          <a:bodyPr wrap="square" lIns="0" tIns="0" rIns="0" bIns="0">
            <a:spAutoFit/>
          </a:bodyPr>
          <a:lstStyle/>
          <a:p>
            <a:pPr>
              <a:lnSpc>
                <a:spcPct val="115000"/>
              </a:lnSpc>
              <a:spcAft>
                <a:spcPts val="800"/>
              </a:spcAft>
              <a:defRPr sz="1100" b="1">
                <a:solidFill>
                  <a:srgbClr val="1E1E1E"/>
                </a:solidFill>
                <a:latin typeface="Inter"/>
              </a:defRPr>
            </a:pPr>
            <a:r>
              <a:t>SECURE</a:t>
            </a:r>
            <a:br/>
            <a:r>
              <a:t>COLLABORATION</a:t>
            </a:r>
          </a:p>
          <a:p>
            <a:pPr>
              <a:lnSpc>
                <a:spcPct val="120000"/>
              </a:lnSpc>
              <a:defRPr sz="950">
                <a:solidFill>
                  <a:srgbClr val="5C5F5C"/>
                </a:solidFill>
                <a:latin typeface="Inter"/>
              </a:defRPr>
            </a:pPr>
            <a:r>
              <a:t>Enables trusted communication between independent AI systems across organizations.</a:t>
            </a:r>
          </a:p>
        </p:txBody>
      </p:sp>
      <p:sp>
        <p:nvSpPr>
          <p:cNvPr id="26" name="Oval 25"/>
          <p:cNvSpPr/>
          <p:nvPr/>
        </p:nvSpPr>
        <p:spPr>
          <a:xfrm>
            <a:off x="8275320" y="3291840"/>
            <a:ext cx="640080" cy="640080"/>
          </a:xfrm>
          <a:prstGeom prst="ellipse">
            <a:avLst/>
          </a:pr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49640" y="3538728"/>
            <a:ext cx="91440" cy="91440"/>
          </a:xfrm>
          <a:prstGeom prst="ellipse">
            <a:avLst/>
          </a:prstGeom>
          <a:noFill/>
          <a:ln w="1905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531352" y="3593592"/>
            <a:ext cx="128016" cy="100584"/>
          </a:xfrm>
          <a:prstGeom prst="round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577072" y="3611880"/>
            <a:ext cx="36576" cy="36576"/>
          </a:xfrm>
          <a:prstGeom prst="ellipse">
            <a:avLst/>
          </a:pr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235440" y="3337560"/>
            <a:ext cx="13716" cy="54864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418320" y="3291840"/>
            <a:ext cx="2377440" cy="1188720"/>
          </a:xfrm>
          <a:prstGeom prst="rect">
            <a:avLst/>
          </a:prstGeom>
          <a:noFill/>
        </p:spPr>
        <p:txBody>
          <a:bodyPr wrap="square" lIns="0" tIns="0" rIns="0" bIns="0">
            <a:spAutoFit/>
          </a:bodyPr>
          <a:lstStyle/>
          <a:p>
            <a:pPr>
              <a:lnSpc>
                <a:spcPct val="115000"/>
              </a:lnSpc>
              <a:spcAft>
                <a:spcPts val="800"/>
              </a:spcAft>
              <a:defRPr sz="1100" b="1">
                <a:solidFill>
                  <a:srgbClr val="1E1E1E"/>
                </a:solidFill>
                <a:latin typeface="Inter"/>
              </a:defRPr>
            </a:pPr>
            <a:r>
              <a:t>PRIVACY</a:t>
            </a:r>
            <a:br/>
            <a:r>
              <a:t>PRESERVATION</a:t>
            </a:r>
          </a:p>
          <a:p>
            <a:pPr>
              <a:lnSpc>
                <a:spcPct val="120000"/>
              </a:lnSpc>
              <a:defRPr sz="950">
                <a:solidFill>
                  <a:srgbClr val="5C5F5C"/>
                </a:solidFill>
                <a:latin typeface="Inter"/>
              </a:defRPr>
            </a:pPr>
            <a:r>
              <a:t>Protects data ownership and ensures privacy through decentralized and secure interaction.</a:t>
            </a:r>
          </a:p>
        </p:txBody>
      </p:sp>
      <p:sp>
        <p:nvSpPr>
          <p:cNvPr id="32" name="Oval 31"/>
          <p:cNvSpPr/>
          <p:nvPr/>
        </p:nvSpPr>
        <p:spPr>
          <a:xfrm>
            <a:off x="8275320" y="4937760"/>
            <a:ext cx="640080" cy="640080"/>
          </a:xfrm>
          <a:prstGeom prst="ellipse">
            <a:avLst/>
          </a:pr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540496" y="5294376"/>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650224" y="5294376"/>
            <a:ext cx="13716"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540496" y="5294376"/>
            <a:ext cx="109728"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563356" y="5170932"/>
            <a:ext cx="64008" cy="64008"/>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8508492" y="5262372"/>
            <a:ext cx="64008" cy="64008"/>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618220" y="5262372"/>
            <a:ext cx="64008" cy="64008"/>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235440" y="4983480"/>
            <a:ext cx="13716" cy="54864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418320" y="4937760"/>
            <a:ext cx="2377440" cy="1188720"/>
          </a:xfrm>
          <a:prstGeom prst="rect">
            <a:avLst/>
          </a:prstGeom>
          <a:noFill/>
        </p:spPr>
        <p:txBody>
          <a:bodyPr wrap="square" lIns="0" tIns="0" rIns="0" bIns="0">
            <a:spAutoFit/>
          </a:bodyPr>
          <a:lstStyle/>
          <a:p>
            <a:pPr>
              <a:lnSpc>
                <a:spcPct val="115000"/>
              </a:lnSpc>
              <a:spcAft>
                <a:spcPts val="800"/>
              </a:spcAft>
              <a:defRPr sz="1100" b="1">
                <a:solidFill>
                  <a:srgbClr val="1E1E1E"/>
                </a:solidFill>
                <a:latin typeface="Inter"/>
              </a:defRPr>
            </a:pPr>
            <a:r>
              <a:t>CONNECTED</a:t>
            </a:r>
            <a:br/>
            <a:r>
              <a:t>AI ECOSYSTEM</a:t>
            </a:r>
          </a:p>
          <a:p>
            <a:pPr>
              <a:lnSpc>
                <a:spcPct val="120000"/>
              </a:lnSpc>
              <a:defRPr sz="950">
                <a:solidFill>
                  <a:srgbClr val="5C5F5C"/>
                </a:solidFill>
                <a:latin typeface="Inter"/>
              </a:defRPr>
            </a:pPr>
            <a:r>
              <a:t>Builds a collaborative ecosystem where AI systems can share capabilities, coordinate tasks, and create value together.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572000"/>
            <a:ext cx="27432" cy="109728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48640"/>
            <a:ext cx="1371600" cy="457200"/>
          </a:xfrm>
          <a:prstGeom prst="rect">
            <a:avLst/>
          </a:prstGeom>
          <a:noFill/>
        </p:spPr>
        <p:txBody>
          <a:bodyPr wrap="none">
            <a:spAutoFit/>
          </a:bodyPr>
          <a:lstStyle/>
          <a:p>
            <a:pPr>
              <a:defRPr sz="1800" b="1">
                <a:solidFill>
                  <a:srgbClr val="C66A2B"/>
                </a:solidFill>
                <a:latin typeface="Inter"/>
              </a:defRPr>
            </a:pPr>
            <a:r>
              <a:t>03</a:t>
            </a:r>
          </a:p>
        </p:txBody>
      </p:sp>
      <p:sp>
        <p:nvSpPr>
          <p:cNvPr id="5" name="Rectangle 4"/>
          <p:cNvSpPr/>
          <p:nvPr/>
        </p:nvSpPr>
        <p:spPr>
          <a:xfrm>
            <a:off x="762000" y="868680"/>
            <a:ext cx="365759" cy="18288"/>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188720"/>
            <a:ext cx="4572000" cy="1463040"/>
          </a:xfrm>
          <a:prstGeom prst="rect">
            <a:avLst/>
          </a:prstGeom>
          <a:noFill/>
        </p:spPr>
        <p:txBody>
          <a:bodyPr wrap="square" lIns="0" tIns="0" rIns="0" bIns="0">
            <a:spAutoFit/>
          </a:bodyPr>
          <a:lstStyle/>
          <a:p>
            <a:pPr>
              <a:lnSpc>
                <a:spcPct val="105000"/>
              </a:lnSpc>
              <a:defRPr sz="3600" b="1">
                <a:solidFill>
                  <a:srgbClr val="1F4D3A"/>
                </a:solidFill>
                <a:latin typeface="Libre Baskerville"/>
              </a:defRPr>
            </a:pPr>
            <a:r>
              <a:t>Problem</a:t>
            </a:r>
            <a:br/>
            <a:r>
              <a:t>Statement</a:t>
            </a:r>
          </a:p>
        </p:txBody>
      </p:sp>
      <p:sp>
        <p:nvSpPr>
          <p:cNvPr id="8" name="TextBox 7"/>
          <p:cNvSpPr txBox="1"/>
          <p:nvPr/>
        </p:nvSpPr>
        <p:spPr>
          <a:xfrm>
            <a:off x="5486400" y="1463040"/>
            <a:ext cx="5943600" cy="1097280"/>
          </a:xfrm>
          <a:prstGeom prst="rect">
            <a:avLst/>
          </a:prstGeom>
          <a:noFill/>
        </p:spPr>
        <p:txBody>
          <a:bodyPr wrap="square" lIns="0" tIns="0" rIns="0" bIns="0">
            <a:spAutoFit/>
          </a:bodyPr>
          <a:lstStyle/>
          <a:p>
            <a:pPr>
              <a:lnSpc>
                <a:spcPct val="130000"/>
              </a:lnSpc>
              <a:defRPr sz="1350">
                <a:solidFill>
                  <a:srgbClr val="1E1E1E"/>
                </a:solidFill>
                <a:latin typeface="Inter"/>
              </a:defRPr>
            </a:pPr>
            <a:r>
              <a:rPr dirty="0"/>
              <a:t>Today, AI systems are developed and deployed within isolated organizational boundaries. This fragmentation creates significant barriers to collaboration, leads to duplicated efforts, and slows down collective progress.</a:t>
            </a:r>
          </a:p>
        </p:txBody>
      </p:sp>
      <p:sp>
        <p:nvSpPr>
          <p:cNvPr id="9" name="TextBox 8"/>
          <p:cNvSpPr txBox="1"/>
          <p:nvPr/>
        </p:nvSpPr>
        <p:spPr>
          <a:xfrm>
            <a:off x="8229600" y="530352"/>
            <a:ext cx="3017520" cy="457200"/>
          </a:xfrm>
          <a:prstGeom prst="rect">
            <a:avLst/>
          </a:prstGeom>
          <a:noFill/>
        </p:spPr>
        <p:txBody>
          <a:bodyPr wrap="square">
            <a:spAutoFit/>
          </a:bodyPr>
          <a:lstStyle/>
          <a:p>
            <a:pPr algn="r">
              <a:lnSpc>
                <a:spcPct val="115000"/>
              </a:lnSpc>
              <a:defRPr sz="850" b="1">
                <a:solidFill>
                  <a:srgbClr val="5C5F5C"/>
                </a:solidFill>
                <a:latin typeface="Inter"/>
              </a:defRPr>
            </a:pPr>
            <a:r>
              <a:t>CONNECTING INTELLIGENCE</a:t>
            </a:r>
            <a:br/>
            <a:r>
              <a:t>ACROSS ORGANIZATIONS</a:t>
            </a:r>
          </a:p>
        </p:txBody>
      </p:sp>
      <p:sp>
        <p:nvSpPr>
          <p:cNvPr id="10" name="Rectangle 9"/>
          <p:cNvSpPr/>
          <p:nvPr/>
        </p:nvSpPr>
        <p:spPr>
          <a:xfrm>
            <a:off x="11430000" y="548640"/>
            <a:ext cx="13716" cy="32004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3108960"/>
            <a:ext cx="2468880" cy="2468880"/>
          </a:xfrm>
          <a:prstGeom prst="roundRect">
            <a:avLst/>
          </a:prstGeom>
          <a:solidFill>
            <a:srgbClr val="F6F4EF"/>
          </a:solidFill>
          <a:ln w="12700">
            <a:solidFill>
              <a:srgbClr val="E6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Freeform 11"/>
          <p:cNvSpPr/>
          <p:nvPr/>
        </p:nvSpPr>
        <p:spPr>
          <a:xfrm>
            <a:off x="731520" y="3108960"/>
            <a:ext cx="685800" cy="384048"/>
          </a:xfrm>
          <a:custGeom>
            <a:avLst/>
            <a:gdLst/>
            <a:ahLst/>
            <a:cxnLst/>
            <a:rect l="l" t="t" r="r" b="b"/>
            <a:pathLst>
              <a:path w="685800" h="384048">
                <a:moveTo>
                  <a:pt x="0" y="0"/>
                </a:moveTo>
                <a:lnTo>
                  <a:pt x="685800" y="0"/>
                </a:lnTo>
                <a:lnTo>
                  <a:pt x="502920" y="384048"/>
                </a:lnTo>
                <a:lnTo>
                  <a:pt x="0" y="384048"/>
                </a:lnTo>
                <a:lnTo>
                  <a:pt x="0" y="0"/>
                </a:lnTo>
                <a:close/>
              </a:path>
            </a:pathLst>
          </a:cu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 y="3145536"/>
            <a:ext cx="365760" cy="320040"/>
          </a:xfrm>
          <a:prstGeom prst="rect">
            <a:avLst/>
          </a:prstGeom>
          <a:noFill/>
        </p:spPr>
        <p:txBody>
          <a:bodyPr wrap="square" lIns="0" tIns="0" rIns="0" bIns="0">
            <a:spAutoFit/>
          </a:bodyPr>
          <a:lstStyle/>
          <a:p>
            <a:pPr algn="l">
              <a:defRPr sz="1100" b="1">
                <a:solidFill>
                  <a:srgbClr val="FFFFFF"/>
                </a:solidFill>
                <a:latin typeface="Inter"/>
              </a:defRPr>
            </a:pPr>
            <a:r>
              <a:t>01</a:t>
            </a:r>
          </a:p>
        </p:txBody>
      </p:sp>
      <p:sp>
        <p:nvSpPr>
          <p:cNvPr id="14" name="Oval 13"/>
          <p:cNvSpPr/>
          <p:nvPr/>
        </p:nvSpPr>
        <p:spPr>
          <a:xfrm>
            <a:off x="1714500" y="3589020"/>
            <a:ext cx="502920" cy="502920"/>
          </a:xfrm>
          <a:prstGeom prst="ellipse">
            <a:avLst/>
          </a:prstGeom>
          <a:solidFill>
            <a:srgbClr val="F6F4EF"/>
          </a:solidFill>
          <a:ln w="12700">
            <a:solidFill>
              <a:srgbClr val="E6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929384" y="3758184"/>
            <a:ext cx="73152" cy="73152"/>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892808" y="3858768"/>
            <a:ext cx="146304" cy="73152"/>
          </a:xfrm>
          <a:prstGeom prst="round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4434840"/>
            <a:ext cx="2286000" cy="461665"/>
          </a:xfrm>
          <a:prstGeom prst="rect">
            <a:avLst/>
          </a:prstGeom>
          <a:noFill/>
        </p:spPr>
        <p:txBody>
          <a:bodyPr wrap="square">
            <a:spAutoFit/>
          </a:bodyPr>
          <a:lstStyle/>
          <a:p>
            <a:pPr algn="ctr">
              <a:defRPr sz="1050" b="1">
                <a:solidFill>
                  <a:srgbClr val="1F4D3A"/>
                </a:solidFill>
                <a:latin typeface="Inter"/>
              </a:defRPr>
            </a:pPr>
            <a:r>
              <a:rPr sz="1200"/>
              <a:t>INDEPENDENT</a:t>
            </a:r>
            <a:br>
              <a:rPr sz="1200"/>
            </a:br>
            <a:r>
              <a:rPr sz="1200"/>
              <a:t>AI SYSTEMS</a:t>
            </a:r>
          </a:p>
        </p:txBody>
      </p:sp>
      <p:sp>
        <p:nvSpPr>
          <p:cNvPr id="18" name="TextBox 17"/>
          <p:cNvSpPr txBox="1"/>
          <p:nvPr/>
        </p:nvSpPr>
        <p:spPr>
          <a:xfrm>
            <a:off x="868680" y="4983479"/>
            <a:ext cx="2194560" cy="338554"/>
          </a:xfrm>
          <a:prstGeom prst="rect">
            <a:avLst/>
          </a:prstGeom>
          <a:noFill/>
        </p:spPr>
        <p:txBody>
          <a:bodyPr wrap="square" lIns="0" tIns="0" rIns="0" bIns="0">
            <a:spAutoFit/>
          </a:bodyPr>
          <a:lstStyle/>
          <a:p>
            <a:pPr algn="ctr">
              <a:defRPr sz="950">
                <a:solidFill>
                  <a:srgbClr val="1E1E1E"/>
                </a:solidFill>
                <a:latin typeface="Inter"/>
              </a:defRPr>
            </a:pPr>
            <a:r>
              <a:rPr sz="1100" dirty="0"/>
              <a:t>AI systems operate in silos with no communication or interoperability.</a:t>
            </a:r>
          </a:p>
        </p:txBody>
      </p:sp>
      <p:sp>
        <p:nvSpPr>
          <p:cNvPr id="19" name="Rounded Rectangle 18"/>
          <p:cNvSpPr/>
          <p:nvPr/>
        </p:nvSpPr>
        <p:spPr>
          <a:xfrm>
            <a:off x="3474720" y="3108960"/>
            <a:ext cx="2468880" cy="2468880"/>
          </a:xfrm>
          <a:prstGeom prst="roundRect">
            <a:avLst/>
          </a:prstGeom>
          <a:solidFill>
            <a:srgbClr val="F6F4EF"/>
          </a:solidFill>
          <a:ln w="12700">
            <a:solidFill>
              <a:srgbClr val="E6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3474720" y="3108960"/>
            <a:ext cx="685800" cy="384048"/>
          </a:xfrm>
          <a:custGeom>
            <a:avLst/>
            <a:gdLst/>
            <a:ahLst/>
            <a:cxnLst/>
            <a:rect l="l" t="t" r="r" b="b"/>
            <a:pathLst>
              <a:path w="685800" h="384048">
                <a:moveTo>
                  <a:pt x="0" y="0"/>
                </a:moveTo>
                <a:lnTo>
                  <a:pt x="685800" y="0"/>
                </a:lnTo>
                <a:lnTo>
                  <a:pt x="502919" y="384048"/>
                </a:lnTo>
                <a:lnTo>
                  <a:pt x="0" y="384048"/>
                </a:lnTo>
                <a:lnTo>
                  <a:pt x="0" y="0"/>
                </a:lnTo>
                <a:close/>
              </a:path>
            </a:pathLst>
          </a:cu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547872" y="3145536"/>
            <a:ext cx="365760" cy="320040"/>
          </a:xfrm>
          <a:prstGeom prst="rect">
            <a:avLst/>
          </a:prstGeom>
          <a:noFill/>
        </p:spPr>
        <p:txBody>
          <a:bodyPr wrap="square" lIns="0" tIns="0" rIns="0" bIns="0">
            <a:spAutoFit/>
          </a:bodyPr>
          <a:lstStyle/>
          <a:p>
            <a:pPr algn="l">
              <a:defRPr sz="1100" b="1">
                <a:solidFill>
                  <a:srgbClr val="FFFFFF"/>
                </a:solidFill>
                <a:latin typeface="Inter"/>
              </a:defRPr>
            </a:pPr>
            <a:r>
              <a:t>02</a:t>
            </a:r>
          </a:p>
        </p:txBody>
      </p:sp>
      <p:sp>
        <p:nvSpPr>
          <p:cNvPr id="22" name="Oval 21"/>
          <p:cNvSpPr/>
          <p:nvPr/>
        </p:nvSpPr>
        <p:spPr>
          <a:xfrm>
            <a:off x="4457700" y="3589020"/>
            <a:ext cx="502920" cy="502920"/>
          </a:xfrm>
          <a:prstGeom prst="ellipse">
            <a:avLst/>
          </a:prstGeom>
          <a:solidFill>
            <a:srgbClr val="F6F4EF"/>
          </a:solidFill>
          <a:ln w="12700">
            <a:solidFill>
              <a:srgbClr val="E6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640580" y="3762756"/>
            <a:ext cx="64008" cy="64008"/>
          </a:xfrm>
          <a:prstGeom prst="ellipse">
            <a:avLst/>
          </a:prstGeom>
          <a:solidFill>
            <a:srgbClr val="5C5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608576" y="3849624"/>
            <a:ext cx="128016" cy="64008"/>
          </a:xfrm>
          <a:prstGeom prst="roundRect">
            <a:avLst/>
          </a:prstGeom>
          <a:solidFill>
            <a:srgbClr val="5C5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4713732" y="3781044"/>
            <a:ext cx="64008" cy="64008"/>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681728" y="3867912"/>
            <a:ext cx="128016" cy="64008"/>
          </a:xfrm>
          <a:prstGeom prst="round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66160" y="4434840"/>
            <a:ext cx="2286000" cy="461665"/>
          </a:xfrm>
          <a:prstGeom prst="rect">
            <a:avLst/>
          </a:prstGeom>
          <a:noFill/>
        </p:spPr>
        <p:txBody>
          <a:bodyPr wrap="square">
            <a:spAutoFit/>
          </a:bodyPr>
          <a:lstStyle/>
          <a:p>
            <a:pPr algn="ctr">
              <a:defRPr sz="1050" b="1">
                <a:solidFill>
                  <a:srgbClr val="1F4D3A"/>
                </a:solidFill>
                <a:latin typeface="Inter"/>
              </a:defRPr>
            </a:pPr>
            <a:r>
              <a:rPr sz="1200"/>
              <a:t>LIMITED</a:t>
            </a:r>
            <a:br>
              <a:rPr sz="1200"/>
            </a:br>
            <a:r>
              <a:rPr sz="1200"/>
              <a:t>COLLABORATION</a:t>
            </a:r>
          </a:p>
        </p:txBody>
      </p:sp>
      <p:sp>
        <p:nvSpPr>
          <p:cNvPr id="28" name="TextBox 27"/>
          <p:cNvSpPr txBox="1"/>
          <p:nvPr/>
        </p:nvSpPr>
        <p:spPr>
          <a:xfrm>
            <a:off x="3611879" y="4983479"/>
            <a:ext cx="2194560" cy="338554"/>
          </a:xfrm>
          <a:prstGeom prst="rect">
            <a:avLst/>
          </a:prstGeom>
          <a:noFill/>
        </p:spPr>
        <p:txBody>
          <a:bodyPr wrap="square" lIns="0" tIns="0" rIns="0" bIns="0">
            <a:spAutoFit/>
          </a:bodyPr>
          <a:lstStyle/>
          <a:p>
            <a:pPr algn="ctr">
              <a:defRPr sz="950">
                <a:solidFill>
                  <a:srgbClr val="1E1E1E"/>
                </a:solidFill>
                <a:latin typeface="Inter"/>
              </a:defRPr>
            </a:pPr>
            <a:r>
              <a:rPr sz="1100"/>
              <a:t>Lack of a common platform prevents sharing of capabilities and knowledge.</a:t>
            </a:r>
          </a:p>
        </p:txBody>
      </p:sp>
      <p:sp>
        <p:nvSpPr>
          <p:cNvPr id="29" name="Rounded Rectangle 28"/>
          <p:cNvSpPr/>
          <p:nvPr/>
        </p:nvSpPr>
        <p:spPr>
          <a:xfrm>
            <a:off x="6217920" y="3108960"/>
            <a:ext cx="2468880" cy="2468880"/>
          </a:xfrm>
          <a:prstGeom prst="roundRect">
            <a:avLst/>
          </a:prstGeom>
          <a:solidFill>
            <a:srgbClr val="F6F4EF"/>
          </a:solidFill>
          <a:ln w="12700">
            <a:solidFill>
              <a:srgbClr val="E6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Freeform 29"/>
          <p:cNvSpPr/>
          <p:nvPr/>
        </p:nvSpPr>
        <p:spPr>
          <a:xfrm>
            <a:off x="6217920" y="3108960"/>
            <a:ext cx="685800" cy="384048"/>
          </a:xfrm>
          <a:custGeom>
            <a:avLst/>
            <a:gdLst/>
            <a:ahLst/>
            <a:cxnLst/>
            <a:rect l="l" t="t" r="r" b="b"/>
            <a:pathLst>
              <a:path w="685800" h="384048">
                <a:moveTo>
                  <a:pt x="0" y="0"/>
                </a:moveTo>
                <a:lnTo>
                  <a:pt x="685800" y="0"/>
                </a:lnTo>
                <a:lnTo>
                  <a:pt x="502920" y="384048"/>
                </a:lnTo>
                <a:lnTo>
                  <a:pt x="0" y="384048"/>
                </a:lnTo>
                <a:lnTo>
                  <a:pt x="0" y="0"/>
                </a:lnTo>
                <a:close/>
              </a:path>
            </a:pathLst>
          </a:cu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91072" y="3145536"/>
            <a:ext cx="365760" cy="320040"/>
          </a:xfrm>
          <a:prstGeom prst="rect">
            <a:avLst/>
          </a:prstGeom>
          <a:noFill/>
        </p:spPr>
        <p:txBody>
          <a:bodyPr wrap="square" lIns="0" tIns="0" rIns="0" bIns="0">
            <a:spAutoFit/>
          </a:bodyPr>
          <a:lstStyle/>
          <a:p>
            <a:pPr algn="l">
              <a:defRPr sz="1100" b="1">
                <a:solidFill>
                  <a:srgbClr val="FFFFFF"/>
                </a:solidFill>
                <a:latin typeface="Inter"/>
              </a:defRPr>
            </a:pPr>
            <a:r>
              <a:t>03</a:t>
            </a:r>
          </a:p>
        </p:txBody>
      </p:sp>
      <p:sp>
        <p:nvSpPr>
          <p:cNvPr id="32" name="Oval 31"/>
          <p:cNvSpPr/>
          <p:nvPr/>
        </p:nvSpPr>
        <p:spPr>
          <a:xfrm>
            <a:off x="7200900" y="3589020"/>
            <a:ext cx="502920" cy="502920"/>
          </a:xfrm>
          <a:prstGeom prst="ellipse">
            <a:avLst/>
          </a:prstGeom>
          <a:solidFill>
            <a:srgbClr val="F6F4EF"/>
          </a:solidFill>
          <a:ln w="12700">
            <a:solidFill>
              <a:srgbClr val="E6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388352" y="3758184"/>
            <a:ext cx="128016" cy="164592"/>
          </a:xfrm>
          <a:prstGeom prst="rect">
            <a:avLst/>
          </a:prstGeom>
          <a:noFill/>
          <a:ln w="19050">
            <a:solidFill>
              <a:srgbClr val="1F4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15784" y="3813048"/>
            <a:ext cx="73151" cy="13716"/>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415784" y="3849624"/>
            <a:ext cx="73151" cy="13716"/>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415784" y="3886200"/>
            <a:ext cx="45719" cy="13716"/>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09359" y="4434840"/>
            <a:ext cx="2286000" cy="461665"/>
          </a:xfrm>
          <a:prstGeom prst="rect">
            <a:avLst/>
          </a:prstGeom>
          <a:noFill/>
        </p:spPr>
        <p:txBody>
          <a:bodyPr wrap="square">
            <a:spAutoFit/>
          </a:bodyPr>
          <a:lstStyle/>
          <a:p>
            <a:pPr algn="ctr">
              <a:defRPr sz="1050" b="1">
                <a:solidFill>
                  <a:srgbClr val="1F4D3A"/>
                </a:solidFill>
                <a:latin typeface="Inter"/>
              </a:defRPr>
            </a:pPr>
            <a:r>
              <a:rPr sz="1200"/>
              <a:t>REPEATED</a:t>
            </a:r>
            <a:br>
              <a:rPr sz="1200"/>
            </a:br>
            <a:r>
              <a:rPr sz="1200"/>
              <a:t>DEVELOPMENT</a:t>
            </a:r>
          </a:p>
        </p:txBody>
      </p:sp>
      <p:sp>
        <p:nvSpPr>
          <p:cNvPr id="38" name="TextBox 37"/>
          <p:cNvSpPr txBox="1"/>
          <p:nvPr/>
        </p:nvSpPr>
        <p:spPr>
          <a:xfrm>
            <a:off x="6355080" y="4983479"/>
            <a:ext cx="2194560" cy="507831"/>
          </a:xfrm>
          <a:prstGeom prst="rect">
            <a:avLst/>
          </a:prstGeom>
          <a:noFill/>
        </p:spPr>
        <p:txBody>
          <a:bodyPr wrap="square" lIns="0" tIns="0" rIns="0" bIns="0">
            <a:spAutoFit/>
          </a:bodyPr>
          <a:lstStyle/>
          <a:p>
            <a:pPr algn="ctr">
              <a:defRPr sz="950">
                <a:solidFill>
                  <a:srgbClr val="1E1E1E"/>
                </a:solidFill>
                <a:latin typeface="Inter"/>
              </a:defRPr>
            </a:pPr>
            <a:r>
              <a:rPr sz="1100"/>
              <a:t>Organizations build similar solutions independently, wasting time and resources.</a:t>
            </a:r>
          </a:p>
        </p:txBody>
      </p:sp>
      <p:sp>
        <p:nvSpPr>
          <p:cNvPr id="39" name="Rounded Rectangle 38"/>
          <p:cNvSpPr/>
          <p:nvPr/>
        </p:nvSpPr>
        <p:spPr>
          <a:xfrm>
            <a:off x="8961120" y="3108960"/>
            <a:ext cx="2468880" cy="2468880"/>
          </a:xfrm>
          <a:prstGeom prst="roundRect">
            <a:avLst/>
          </a:prstGeom>
          <a:solidFill>
            <a:srgbClr val="F6F4EF"/>
          </a:solidFill>
          <a:ln w="12700">
            <a:solidFill>
              <a:srgbClr val="E6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Freeform 39"/>
          <p:cNvSpPr/>
          <p:nvPr/>
        </p:nvSpPr>
        <p:spPr>
          <a:xfrm>
            <a:off x="8961120" y="3108960"/>
            <a:ext cx="685800" cy="384048"/>
          </a:xfrm>
          <a:custGeom>
            <a:avLst/>
            <a:gdLst/>
            <a:ahLst/>
            <a:cxnLst/>
            <a:rect l="l" t="t" r="r" b="b"/>
            <a:pathLst>
              <a:path w="685800" h="384048">
                <a:moveTo>
                  <a:pt x="0" y="0"/>
                </a:moveTo>
                <a:lnTo>
                  <a:pt x="685800" y="0"/>
                </a:lnTo>
                <a:lnTo>
                  <a:pt x="502920" y="384048"/>
                </a:lnTo>
                <a:lnTo>
                  <a:pt x="0" y="384048"/>
                </a:lnTo>
                <a:lnTo>
                  <a:pt x="0" y="0"/>
                </a:lnTo>
                <a:close/>
              </a:path>
            </a:pathLst>
          </a:cu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034272" y="3145536"/>
            <a:ext cx="365760" cy="320040"/>
          </a:xfrm>
          <a:prstGeom prst="rect">
            <a:avLst/>
          </a:prstGeom>
          <a:noFill/>
        </p:spPr>
        <p:txBody>
          <a:bodyPr wrap="square" lIns="0" tIns="0" rIns="0" bIns="0">
            <a:spAutoFit/>
          </a:bodyPr>
          <a:lstStyle/>
          <a:p>
            <a:pPr algn="l">
              <a:defRPr sz="1100" b="1">
                <a:solidFill>
                  <a:srgbClr val="FFFFFF"/>
                </a:solidFill>
                <a:latin typeface="Inter"/>
              </a:defRPr>
            </a:pPr>
            <a:r>
              <a:t>04</a:t>
            </a:r>
          </a:p>
        </p:txBody>
      </p:sp>
      <p:sp>
        <p:nvSpPr>
          <p:cNvPr id="42" name="Oval 41"/>
          <p:cNvSpPr/>
          <p:nvPr/>
        </p:nvSpPr>
        <p:spPr>
          <a:xfrm>
            <a:off x="9944100" y="3589020"/>
            <a:ext cx="502920" cy="502920"/>
          </a:xfrm>
          <a:prstGeom prst="ellipse">
            <a:avLst/>
          </a:prstGeom>
          <a:solidFill>
            <a:srgbClr val="F6F4EF"/>
          </a:solidFill>
          <a:ln w="12700">
            <a:solidFill>
              <a:srgbClr val="E6E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0158984" y="3776472"/>
            <a:ext cx="73152" cy="73152"/>
          </a:xfrm>
          <a:prstGeom prst="ellipse">
            <a:avLst/>
          </a:prstGeom>
          <a:noFill/>
          <a:ln w="19050">
            <a:solidFill>
              <a:srgbClr val="1F4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10140696" y="3831336"/>
            <a:ext cx="109728" cy="82296"/>
          </a:xfrm>
          <a:prstGeom prst="round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181844" y="3845052"/>
            <a:ext cx="27432" cy="27432"/>
          </a:xfrm>
          <a:prstGeom prst="ellipse">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052560" y="4434840"/>
            <a:ext cx="2286000" cy="461665"/>
          </a:xfrm>
          <a:prstGeom prst="rect">
            <a:avLst/>
          </a:prstGeom>
          <a:noFill/>
        </p:spPr>
        <p:txBody>
          <a:bodyPr wrap="square">
            <a:spAutoFit/>
          </a:bodyPr>
          <a:lstStyle/>
          <a:p>
            <a:pPr algn="ctr">
              <a:defRPr sz="1050" b="1">
                <a:solidFill>
                  <a:srgbClr val="1F4D3A"/>
                </a:solidFill>
                <a:latin typeface="Inter"/>
              </a:defRPr>
            </a:pPr>
            <a:r>
              <a:rPr sz="1200"/>
              <a:t>NO COMMON</a:t>
            </a:r>
            <a:br>
              <a:rPr sz="1200"/>
            </a:br>
            <a:r>
              <a:rPr sz="1200"/>
              <a:t>INFRASTRUCTURE</a:t>
            </a:r>
          </a:p>
        </p:txBody>
      </p:sp>
      <p:sp>
        <p:nvSpPr>
          <p:cNvPr id="47" name="TextBox 46"/>
          <p:cNvSpPr txBox="1"/>
          <p:nvPr/>
        </p:nvSpPr>
        <p:spPr>
          <a:xfrm>
            <a:off x="9098280" y="4983479"/>
            <a:ext cx="2194560" cy="507831"/>
          </a:xfrm>
          <a:prstGeom prst="rect">
            <a:avLst/>
          </a:prstGeom>
          <a:noFill/>
        </p:spPr>
        <p:txBody>
          <a:bodyPr wrap="square" lIns="0" tIns="0" rIns="0" bIns="0">
            <a:spAutoFit/>
          </a:bodyPr>
          <a:lstStyle/>
          <a:p>
            <a:pPr algn="ctr">
              <a:defRPr sz="950">
                <a:solidFill>
                  <a:srgbClr val="1E1E1E"/>
                </a:solidFill>
                <a:latin typeface="Inter"/>
              </a:defRPr>
            </a:pPr>
            <a:r>
              <a:rPr sz="1100"/>
              <a:t>Absence of a trusted infrastructure hinders secure and scalable collaboration.</a:t>
            </a:r>
          </a:p>
        </p:txBody>
      </p:sp>
      <p:sp>
        <p:nvSpPr>
          <p:cNvPr id="48" name="Rounded Rectangle 47"/>
          <p:cNvSpPr/>
          <p:nvPr/>
        </p:nvSpPr>
        <p:spPr>
          <a:xfrm>
            <a:off x="731520" y="5760720"/>
            <a:ext cx="10728655" cy="731520"/>
          </a:xfrm>
          <a:prstGeom prst="round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097280" y="5897880"/>
            <a:ext cx="18288" cy="45720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280160" y="5943600"/>
            <a:ext cx="9601200" cy="548640"/>
          </a:xfrm>
          <a:prstGeom prst="rect">
            <a:avLst/>
          </a:prstGeom>
          <a:noFill/>
        </p:spPr>
        <p:txBody>
          <a:bodyPr wrap="square" lIns="0" tIns="0" rIns="0" bIns="0">
            <a:spAutoFit/>
          </a:bodyPr>
          <a:lstStyle/>
          <a:p>
            <a:r>
              <a:rPr sz="2000" b="1" dirty="0">
                <a:solidFill>
                  <a:srgbClr val="C66A2B"/>
                </a:solidFill>
                <a:latin typeface="Libre Baskerville"/>
              </a:rPr>
              <a:t>“   </a:t>
            </a:r>
            <a:r>
              <a:rPr sz="1350" dirty="0">
                <a:solidFill>
                  <a:srgbClr val="FCFCFA"/>
                </a:solidFill>
                <a:latin typeface="Libre Baskerville"/>
              </a:rPr>
              <a:t>The next challenge in AI is enabling independent systems to collaborate securely.</a:t>
            </a:r>
            <a:r>
              <a:rPr sz="2000" b="1" dirty="0">
                <a:solidFill>
                  <a:srgbClr val="C66A2B"/>
                </a:solidFill>
                <a:latin typeface="Libre Baskerville"/>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34367-4E5A-312E-F156-5C42168CCF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868138-7818-463B-C10A-EF82657BD8E5}"/>
              </a:ext>
            </a:extLst>
          </p:cNvPr>
          <p:cNvSpPr txBox="1"/>
          <p:nvPr/>
        </p:nvSpPr>
        <p:spPr>
          <a:xfrm>
            <a:off x="731520" y="365760"/>
            <a:ext cx="1371600" cy="457200"/>
          </a:xfrm>
          <a:prstGeom prst="rect">
            <a:avLst/>
          </a:prstGeom>
          <a:noFill/>
        </p:spPr>
        <p:txBody>
          <a:bodyPr wrap="none">
            <a:spAutoFit/>
          </a:bodyPr>
          <a:lstStyle/>
          <a:p>
            <a:pPr>
              <a:defRPr sz="2200" b="1">
                <a:solidFill>
                  <a:srgbClr val="C66A2B"/>
                </a:solidFill>
                <a:latin typeface="Inter"/>
              </a:defRPr>
            </a:pPr>
            <a:r>
              <a:t>04</a:t>
            </a:r>
          </a:p>
        </p:txBody>
      </p:sp>
      <p:sp>
        <p:nvSpPr>
          <p:cNvPr id="3" name="Rectangle 2">
            <a:extLst>
              <a:ext uri="{FF2B5EF4-FFF2-40B4-BE49-F238E27FC236}">
                <a16:creationId xmlns:a16="http://schemas.microsoft.com/office/drawing/2014/main" id="{5BA6C3BA-95DF-6A60-3B1E-1F9A9102EEFC}"/>
              </a:ext>
            </a:extLst>
          </p:cNvPr>
          <p:cNvSpPr/>
          <p:nvPr/>
        </p:nvSpPr>
        <p:spPr>
          <a:xfrm>
            <a:off x="1325880" y="384048"/>
            <a:ext cx="9144" cy="329184"/>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F4505B01-D8E1-9300-8DE9-6000FEC0BCE4}"/>
              </a:ext>
            </a:extLst>
          </p:cNvPr>
          <p:cNvSpPr txBox="1"/>
          <p:nvPr/>
        </p:nvSpPr>
        <p:spPr>
          <a:xfrm>
            <a:off x="1463040" y="365760"/>
            <a:ext cx="2743200" cy="457200"/>
          </a:xfrm>
          <a:prstGeom prst="rect">
            <a:avLst/>
          </a:prstGeom>
          <a:noFill/>
        </p:spPr>
        <p:txBody>
          <a:bodyPr wrap="square">
            <a:spAutoFit/>
          </a:bodyPr>
          <a:lstStyle/>
          <a:p>
            <a:pPr>
              <a:lnSpc>
                <a:spcPct val="115000"/>
              </a:lnSpc>
              <a:defRPr sz="850" b="1">
                <a:solidFill>
                  <a:srgbClr val="8C8C91"/>
                </a:solidFill>
                <a:latin typeface="Inter"/>
              </a:defRPr>
            </a:pPr>
            <a:r>
              <a:t>CONNECTING INTELLIGENCE</a:t>
            </a:r>
            <a:br/>
            <a:r>
              <a:t>ACROSS ORGANIZATIONS</a:t>
            </a:r>
          </a:p>
        </p:txBody>
      </p:sp>
      <p:sp>
        <p:nvSpPr>
          <p:cNvPr id="6" name="TextBox 5">
            <a:extLst>
              <a:ext uri="{FF2B5EF4-FFF2-40B4-BE49-F238E27FC236}">
                <a16:creationId xmlns:a16="http://schemas.microsoft.com/office/drawing/2014/main" id="{157D05E0-4790-914B-7E59-4F704A52A824}"/>
              </a:ext>
            </a:extLst>
          </p:cNvPr>
          <p:cNvSpPr txBox="1"/>
          <p:nvPr/>
        </p:nvSpPr>
        <p:spPr>
          <a:xfrm>
            <a:off x="9555480" y="384048"/>
            <a:ext cx="1828800" cy="365760"/>
          </a:xfrm>
          <a:prstGeom prst="rect">
            <a:avLst/>
          </a:prstGeom>
          <a:noFill/>
        </p:spPr>
        <p:txBody>
          <a:bodyPr wrap="none">
            <a:spAutoFit/>
          </a:bodyPr>
          <a:lstStyle/>
          <a:p>
            <a:pPr>
              <a:defRPr sz="1000" b="1">
                <a:solidFill>
                  <a:srgbClr val="1E1E1E"/>
                </a:solidFill>
                <a:latin typeface="Inter"/>
              </a:defRPr>
            </a:pPr>
            <a:r>
              <a:t>OUR SOLUTION</a:t>
            </a:r>
          </a:p>
        </p:txBody>
      </p:sp>
      <p:sp>
        <p:nvSpPr>
          <p:cNvPr id="7" name="TextBox 6">
            <a:extLst>
              <a:ext uri="{FF2B5EF4-FFF2-40B4-BE49-F238E27FC236}">
                <a16:creationId xmlns:a16="http://schemas.microsoft.com/office/drawing/2014/main" id="{0AE79F38-9922-52E2-3954-8F53479FD929}"/>
              </a:ext>
            </a:extLst>
          </p:cNvPr>
          <p:cNvSpPr txBox="1"/>
          <p:nvPr/>
        </p:nvSpPr>
        <p:spPr>
          <a:xfrm>
            <a:off x="694944" y="1382089"/>
            <a:ext cx="2423160" cy="1842299"/>
          </a:xfrm>
          <a:prstGeom prst="rect">
            <a:avLst/>
          </a:prstGeom>
          <a:noFill/>
        </p:spPr>
        <p:txBody>
          <a:bodyPr wrap="square" lIns="0" tIns="0" rIns="0" bIns="0">
            <a:spAutoFit/>
          </a:bodyPr>
          <a:lstStyle/>
          <a:p>
            <a:pPr>
              <a:spcAft>
                <a:spcPts val="800"/>
              </a:spcAft>
              <a:defRPr sz="1000" b="1">
                <a:solidFill>
                  <a:srgbClr val="C66A2B"/>
                </a:solidFill>
                <a:latin typeface="Inter"/>
              </a:defRPr>
            </a:pPr>
            <a:r>
              <a:rPr dirty="0"/>
              <a:t>THE SOLUTION</a:t>
            </a:r>
          </a:p>
          <a:p>
            <a:pPr>
              <a:lnSpc>
                <a:spcPct val="95000"/>
              </a:lnSpc>
              <a:spcAft>
                <a:spcPts val="800"/>
              </a:spcAft>
            </a:pPr>
            <a:r>
              <a:rPr sz="3600" b="1" dirty="0">
                <a:solidFill>
                  <a:srgbClr val="1E1E1E"/>
                </a:solidFill>
                <a:latin typeface="Bebas Neue" panose="020B0606020202050201" pitchFamily="34" charset="0"/>
              </a:rPr>
              <a:t>DISTRIBUTED</a:t>
            </a:r>
            <a:r>
              <a:rPr lang="en-IN" sz="3600" b="1" dirty="0">
                <a:solidFill>
                  <a:srgbClr val="1E1E1E"/>
                </a:solidFill>
                <a:latin typeface="Bebas Neue" panose="020B0606020202050201" pitchFamily="34" charset="0"/>
              </a:rPr>
              <a:t> </a:t>
            </a:r>
            <a:r>
              <a:rPr sz="3600" b="1" dirty="0">
                <a:solidFill>
                  <a:srgbClr val="C66A2B"/>
                </a:solidFill>
                <a:latin typeface="Bebas Neue" panose="020B0606020202050201" pitchFamily="34" charset="0"/>
              </a:rPr>
              <a:t>INTELLIGENCE</a:t>
            </a:r>
            <a:r>
              <a:rPr lang="en-IN" sz="3600" b="1" dirty="0">
                <a:solidFill>
                  <a:srgbClr val="C66A2B"/>
                </a:solidFill>
                <a:latin typeface="Bebas Neue" panose="020B0606020202050201" pitchFamily="34" charset="0"/>
              </a:rPr>
              <a:t> </a:t>
            </a:r>
            <a:r>
              <a:rPr sz="3600" b="1" dirty="0">
                <a:solidFill>
                  <a:srgbClr val="1E1E1E"/>
                </a:solidFill>
                <a:latin typeface="Bebas Neue" panose="020B0606020202050201" pitchFamily="34" charset="0"/>
              </a:rPr>
              <a:t>INFRASTRUCTURE</a:t>
            </a:r>
          </a:p>
        </p:txBody>
      </p:sp>
      <p:sp>
        <p:nvSpPr>
          <p:cNvPr id="9" name="TextBox 8">
            <a:extLst>
              <a:ext uri="{FF2B5EF4-FFF2-40B4-BE49-F238E27FC236}">
                <a16:creationId xmlns:a16="http://schemas.microsoft.com/office/drawing/2014/main" id="{8EF80453-9D88-6D8A-7115-2ED425E2DBED}"/>
              </a:ext>
            </a:extLst>
          </p:cNvPr>
          <p:cNvSpPr txBox="1"/>
          <p:nvPr/>
        </p:nvSpPr>
        <p:spPr>
          <a:xfrm>
            <a:off x="731520" y="3520440"/>
            <a:ext cx="3291840" cy="1097280"/>
          </a:xfrm>
          <a:prstGeom prst="rect">
            <a:avLst/>
          </a:prstGeom>
          <a:noFill/>
        </p:spPr>
        <p:txBody>
          <a:bodyPr wrap="square" lIns="0" tIns="0" rIns="0" bIns="0">
            <a:spAutoFit/>
          </a:bodyPr>
          <a:lstStyle/>
          <a:p>
            <a:pPr>
              <a:lnSpc>
                <a:spcPct val="135000"/>
              </a:lnSpc>
              <a:defRPr sz="1250">
                <a:solidFill>
                  <a:srgbClr val="1E1E1E"/>
                </a:solidFill>
                <a:latin typeface="Inter"/>
              </a:defRPr>
            </a:pPr>
            <a:r>
              <a:rPr dirty="0"/>
              <a:t>A secure, decentralized foundation that enables independent AI systems to connect, collaborate, and create collective impact.</a:t>
            </a:r>
          </a:p>
        </p:txBody>
      </p:sp>
      <p:sp>
        <p:nvSpPr>
          <p:cNvPr id="10" name="Rounded Rectangle 9">
            <a:extLst>
              <a:ext uri="{FF2B5EF4-FFF2-40B4-BE49-F238E27FC236}">
                <a16:creationId xmlns:a16="http://schemas.microsoft.com/office/drawing/2014/main" id="{61077C17-DA4F-EC82-6FE4-BC54AF5C0F19}"/>
              </a:ext>
            </a:extLst>
          </p:cNvPr>
          <p:cNvSpPr/>
          <p:nvPr/>
        </p:nvSpPr>
        <p:spPr>
          <a:xfrm>
            <a:off x="731520" y="4709160"/>
            <a:ext cx="3657600" cy="822960"/>
          </a:xfrm>
          <a:prstGeom prst="roundRect">
            <a:avLst/>
          </a:pr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FF2B5EF4-FFF2-40B4-BE49-F238E27FC236}">
                <a16:creationId xmlns:a16="http://schemas.microsoft.com/office/drawing/2014/main" id="{18DB7E02-4D30-13BE-2585-0CFB67C0816D}"/>
              </a:ext>
            </a:extLst>
          </p:cNvPr>
          <p:cNvSpPr/>
          <p:nvPr/>
        </p:nvSpPr>
        <p:spPr>
          <a:xfrm>
            <a:off x="987552" y="4919472"/>
            <a:ext cx="402336" cy="402336"/>
          </a:xfrm>
          <a:prstGeom prst="ellipse">
            <a:avLst/>
          </a:prstGeom>
          <a:solidFill>
            <a:srgbClr val="0A0B0C"/>
          </a:solidFill>
          <a:ln w="1524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a:extLst>
              <a:ext uri="{FF2B5EF4-FFF2-40B4-BE49-F238E27FC236}">
                <a16:creationId xmlns:a16="http://schemas.microsoft.com/office/drawing/2014/main" id="{BB4E6EB6-41E8-2A9F-819A-8D96F2E67BE2}"/>
              </a:ext>
            </a:extLst>
          </p:cNvPr>
          <p:cNvSpPr/>
          <p:nvPr/>
        </p:nvSpPr>
        <p:spPr>
          <a:xfrm>
            <a:off x="1078992" y="5010912"/>
            <a:ext cx="219456" cy="219456"/>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a:extLst>
              <a:ext uri="{FF2B5EF4-FFF2-40B4-BE49-F238E27FC236}">
                <a16:creationId xmlns:a16="http://schemas.microsoft.com/office/drawing/2014/main" id="{BCD48753-0EB7-C65F-52B2-47A149485CFB}"/>
              </a:ext>
            </a:extLst>
          </p:cNvPr>
          <p:cNvSpPr/>
          <p:nvPr/>
        </p:nvSpPr>
        <p:spPr>
          <a:xfrm>
            <a:off x="1143000" y="5074920"/>
            <a:ext cx="91440" cy="91440"/>
          </a:xfrm>
          <a:prstGeom prst="ellipse">
            <a:avLst/>
          </a:pr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E88E3B88-CC1A-DD29-5FE9-4DE0C289D3BA}"/>
              </a:ext>
            </a:extLst>
          </p:cNvPr>
          <p:cNvSpPr txBox="1"/>
          <p:nvPr/>
        </p:nvSpPr>
        <p:spPr>
          <a:xfrm>
            <a:off x="1554480" y="4818888"/>
            <a:ext cx="2651760" cy="685800"/>
          </a:xfrm>
          <a:prstGeom prst="rect">
            <a:avLst/>
          </a:prstGeom>
          <a:noFill/>
        </p:spPr>
        <p:txBody>
          <a:bodyPr wrap="square">
            <a:spAutoFit/>
          </a:bodyPr>
          <a:lstStyle/>
          <a:p>
            <a:pPr>
              <a:spcAft>
                <a:spcPts val="200"/>
              </a:spcAft>
              <a:defRPr sz="1050">
                <a:solidFill>
                  <a:srgbClr val="F5F5F7"/>
                </a:solidFill>
                <a:latin typeface="Inter"/>
              </a:defRPr>
            </a:pPr>
            <a:r>
              <a:t>Connecting independent intelligence.</a:t>
            </a:r>
          </a:p>
          <a:p>
            <a:pPr>
              <a:defRPr sz="1050" b="1">
                <a:solidFill>
                  <a:srgbClr val="C66A2B"/>
                </a:solidFill>
                <a:latin typeface="Inter"/>
              </a:defRPr>
            </a:pPr>
            <a:r>
              <a:t>Empowering collective progress.</a:t>
            </a:r>
          </a:p>
        </p:txBody>
      </p:sp>
      <p:sp>
        <p:nvSpPr>
          <p:cNvPr id="92" name="Rectangle 91">
            <a:extLst>
              <a:ext uri="{FF2B5EF4-FFF2-40B4-BE49-F238E27FC236}">
                <a16:creationId xmlns:a16="http://schemas.microsoft.com/office/drawing/2014/main" id="{DE071A79-4138-2993-26FE-9EDA9FC27F1D}"/>
              </a:ext>
            </a:extLst>
          </p:cNvPr>
          <p:cNvSpPr/>
          <p:nvPr/>
        </p:nvSpPr>
        <p:spPr>
          <a:xfrm>
            <a:off x="0" y="6000998"/>
            <a:ext cx="12191695" cy="857002"/>
          </a:xfrm>
          <a:prstGeom prst="rect">
            <a:avLst/>
          </a:pr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a:extLst>
              <a:ext uri="{FF2B5EF4-FFF2-40B4-BE49-F238E27FC236}">
                <a16:creationId xmlns:a16="http://schemas.microsoft.com/office/drawing/2014/main" id="{DFB58C90-C59F-7C0F-F857-0E8298772BFD}"/>
              </a:ext>
            </a:extLst>
          </p:cNvPr>
          <p:cNvSpPr txBox="1"/>
          <p:nvPr/>
        </p:nvSpPr>
        <p:spPr>
          <a:xfrm>
            <a:off x="914399" y="6227064"/>
            <a:ext cx="10362895" cy="365760"/>
          </a:xfrm>
          <a:prstGeom prst="rect">
            <a:avLst/>
          </a:prstGeom>
          <a:noFill/>
        </p:spPr>
        <p:txBody>
          <a:bodyPr wrap="square" lIns="0" tIns="0" rIns="0" bIns="0">
            <a:spAutoFit/>
          </a:bodyPr>
          <a:lstStyle/>
          <a:p>
            <a:pPr algn="ctr"/>
            <a:r>
              <a:rPr sz="1600" b="1" dirty="0">
                <a:solidFill>
                  <a:srgbClr val="C66A2B"/>
                </a:solidFill>
                <a:latin typeface="Libre Baskerville"/>
              </a:rPr>
              <a:t>“   </a:t>
            </a:r>
            <a:r>
              <a:rPr sz="1300" dirty="0">
                <a:solidFill>
                  <a:srgbClr val="F5F5F7"/>
                </a:solidFill>
                <a:latin typeface="Libre Baskerville"/>
              </a:rPr>
              <a:t>Turning isolated AI systems into a network of </a:t>
            </a:r>
            <a:r>
              <a:rPr sz="1300" b="1" dirty="0">
                <a:solidFill>
                  <a:srgbClr val="C66A2B"/>
                </a:solidFill>
                <a:latin typeface="Libre Baskerville"/>
              </a:rPr>
              <a:t>collaborative </a:t>
            </a:r>
            <a:r>
              <a:rPr sz="2400" b="1" dirty="0">
                <a:solidFill>
                  <a:srgbClr val="C66A2B"/>
                </a:solidFill>
                <a:latin typeface="Libre Baskerville"/>
              </a:rPr>
              <a:t>intelligence</a:t>
            </a:r>
            <a:r>
              <a:rPr sz="1300" dirty="0">
                <a:solidFill>
                  <a:srgbClr val="F5F5F7"/>
                </a:solidFill>
                <a:latin typeface="Libre Baskerville"/>
              </a:rPr>
              <a:t>.</a:t>
            </a:r>
            <a:r>
              <a:rPr sz="1600" b="1" dirty="0">
                <a:solidFill>
                  <a:srgbClr val="C66A2B"/>
                </a:solidFill>
                <a:latin typeface="Libre Baskerville"/>
              </a:rPr>
              <a:t>   ”</a:t>
            </a:r>
          </a:p>
        </p:txBody>
      </p:sp>
      <p:pic>
        <p:nvPicPr>
          <p:cNvPr id="95" name="Picture 94">
            <a:extLst>
              <a:ext uri="{FF2B5EF4-FFF2-40B4-BE49-F238E27FC236}">
                <a16:creationId xmlns:a16="http://schemas.microsoft.com/office/drawing/2014/main" id="{C89E6E0E-803D-3409-BBA9-123DC5D6D447}"/>
              </a:ext>
            </a:extLst>
          </p:cNvPr>
          <p:cNvPicPr>
            <a:picLocks noChangeAspect="1"/>
          </p:cNvPicPr>
          <p:nvPr/>
        </p:nvPicPr>
        <p:blipFill>
          <a:blip r:embed="rId2"/>
          <a:stretch>
            <a:fillRect/>
          </a:stretch>
        </p:blipFill>
        <p:spPr>
          <a:xfrm>
            <a:off x="4453128" y="749808"/>
            <a:ext cx="7679758" cy="5123174"/>
          </a:xfrm>
          <a:prstGeom prst="rect">
            <a:avLst/>
          </a:prstGeom>
        </p:spPr>
      </p:pic>
    </p:spTree>
    <p:extLst>
      <p:ext uri="{BB962C8B-B14F-4D97-AF65-F5344CB8AC3E}">
        <p14:creationId xmlns:p14="http://schemas.microsoft.com/office/powerpoint/2010/main" val="2970209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371600" cy="457200"/>
          </a:xfrm>
          <a:prstGeom prst="rect">
            <a:avLst/>
          </a:prstGeom>
          <a:noFill/>
        </p:spPr>
        <p:txBody>
          <a:bodyPr wrap="none">
            <a:spAutoFit/>
          </a:bodyPr>
          <a:lstStyle/>
          <a:p>
            <a:pPr>
              <a:defRPr sz="2200" b="1">
                <a:solidFill>
                  <a:srgbClr val="C66A2B"/>
                </a:solidFill>
                <a:latin typeface="Inter"/>
              </a:defRPr>
            </a:pPr>
            <a:r>
              <a:t>05</a:t>
            </a:r>
          </a:p>
        </p:txBody>
      </p:sp>
      <p:sp>
        <p:nvSpPr>
          <p:cNvPr id="3" name="Rectangle 2"/>
          <p:cNvSpPr/>
          <p:nvPr/>
        </p:nvSpPr>
        <p:spPr>
          <a:xfrm>
            <a:off x="1325880" y="384048"/>
            <a:ext cx="9144" cy="329184"/>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63040" y="365760"/>
            <a:ext cx="2743200" cy="457200"/>
          </a:xfrm>
          <a:prstGeom prst="rect">
            <a:avLst/>
          </a:prstGeom>
          <a:noFill/>
        </p:spPr>
        <p:txBody>
          <a:bodyPr wrap="square">
            <a:spAutoFit/>
          </a:bodyPr>
          <a:lstStyle/>
          <a:p>
            <a:pPr>
              <a:lnSpc>
                <a:spcPct val="115000"/>
              </a:lnSpc>
              <a:defRPr sz="850" b="1">
                <a:solidFill>
                  <a:srgbClr val="8C8C91"/>
                </a:solidFill>
                <a:latin typeface="Inter"/>
              </a:defRPr>
            </a:pPr>
            <a:r>
              <a:t>CONNECTING INTELLIGENCE</a:t>
            </a:r>
            <a:br/>
            <a:r>
              <a:t>ACROSS ORGANIZATIONS</a:t>
            </a:r>
          </a:p>
        </p:txBody>
      </p:sp>
      <p:sp>
        <p:nvSpPr>
          <p:cNvPr id="5" name="Rectangle 4"/>
          <p:cNvSpPr/>
          <p:nvPr/>
        </p:nvSpPr>
        <p:spPr>
          <a:xfrm>
            <a:off x="9418320" y="384048"/>
            <a:ext cx="13715" cy="329184"/>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555480" y="384048"/>
            <a:ext cx="1828800" cy="365760"/>
          </a:xfrm>
          <a:prstGeom prst="rect">
            <a:avLst/>
          </a:prstGeom>
          <a:noFill/>
        </p:spPr>
        <p:txBody>
          <a:bodyPr wrap="none">
            <a:spAutoFit/>
          </a:bodyPr>
          <a:lstStyle/>
          <a:p>
            <a:pPr>
              <a:defRPr sz="1000" b="1">
                <a:solidFill>
                  <a:srgbClr val="1E1E1E"/>
                </a:solidFill>
                <a:latin typeface="Inter"/>
              </a:defRPr>
            </a:pPr>
            <a:r>
              <a:t>KEY BENEFITS</a:t>
            </a:r>
          </a:p>
        </p:txBody>
      </p:sp>
      <p:sp>
        <p:nvSpPr>
          <p:cNvPr id="7" name="TextBox 6"/>
          <p:cNvSpPr txBox="1"/>
          <p:nvPr/>
        </p:nvSpPr>
        <p:spPr>
          <a:xfrm>
            <a:off x="731520" y="1371600"/>
            <a:ext cx="3840480" cy="2904641"/>
          </a:xfrm>
          <a:prstGeom prst="rect">
            <a:avLst/>
          </a:prstGeom>
          <a:noFill/>
        </p:spPr>
        <p:txBody>
          <a:bodyPr wrap="square" lIns="0" tIns="0" rIns="0" bIns="0">
            <a:spAutoFit/>
          </a:bodyPr>
          <a:lstStyle/>
          <a:p>
            <a:pPr>
              <a:spcAft>
                <a:spcPts val="1200"/>
              </a:spcAft>
              <a:defRPr sz="1100" b="1">
                <a:solidFill>
                  <a:srgbClr val="C66A2B"/>
                </a:solidFill>
                <a:latin typeface="Inter"/>
              </a:defRPr>
            </a:pPr>
            <a:r>
              <a:rPr dirty="0"/>
              <a:t>KEY BENEFITS</a:t>
            </a:r>
          </a:p>
          <a:p>
            <a:pPr>
              <a:lnSpc>
                <a:spcPct val="95000"/>
              </a:lnSpc>
              <a:spcAft>
                <a:spcPts val="1200"/>
              </a:spcAft>
            </a:pPr>
            <a:r>
              <a:rPr sz="4400" b="1" dirty="0">
                <a:solidFill>
                  <a:srgbClr val="1E1E1E"/>
                </a:solidFill>
                <a:latin typeface="Bebas Neue" panose="020B0606020202050201" pitchFamily="34" charset="0"/>
              </a:rPr>
              <a:t>UNLOCKING THE</a:t>
            </a:r>
            <a:r>
              <a:rPr lang="en-IN" sz="4400" b="1" dirty="0">
                <a:solidFill>
                  <a:srgbClr val="1E1E1E"/>
                </a:solidFill>
                <a:latin typeface="Bebas Neue" panose="020B0606020202050201" pitchFamily="34" charset="0"/>
              </a:rPr>
              <a:t>  </a:t>
            </a:r>
            <a:r>
              <a:rPr sz="4400" b="1" dirty="0">
                <a:solidFill>
                  <a:srgbClr val="1E1E1E"/>
                </a:solidFill>
                <a:latin typeface="Bebas Neue" panose="020B0606020202050201" pitchFamily="34" charset="0"/>
              </a:rPr>
              <a:t>POWER OF</a:t>
            </a:r>
            <a:r>
              <a:rPr lang="en-IN" sz="4400" b="1" dirty="0">
                <a:solidFill>
                  <a:srgbClr val="1E1E1E"/>
                </a:solidFill>
                <a:latin typeface="Bebas Neue" panose="020B0606020202050201" pitchFamily="34" charset="0"/>
              </a:rPr>
              <a:t> </a:t>
            </a:r>
            <a:r>
              <a:rPr sz="4400" b="1" dirty="0">
                <a:solidFill>
                  <a:srgbClr val="C66A2B"/>
                </a:solidFill>
                <a:latin typeface="Bebas Neue" panose="020B0606020202050201" pitchFamily="34" charset="0"/>
              </a:rPr>
              <a:t>COLLABORATIVE</a:t>
            </a:r>
            <a:r>
              <a:rPr lang="en-IN" sz="4400" b="1" dirty="0">
                <a:solidFill>
                  <a:srgbClr val="C66A2B"/>
                </a:solidFill>
                <a:latin typeface="Bebas Neue" panose="020B0606020202050201" pitchFamily="34" charset="0"/>
              </a:rPr>
              <a:t> </a:t>
            </a:r>
            <a:r>
              <a:rPr sz="4400" b="1" dirty="0">
                <a:solidFill>
                  <a:srgbClr val="C66A2B"/>
                </a:solidFill>
                <a:latin typeface="Bebas Neue" panose="020B0606020202050201" pitchFamily="34" charset="0"/>
              </a:rPr>
              <a:t>INTELLIGENCE</a:t>
            </a:r>
          </a:p>
        </p:txBody>
      </p:sp>
      <p:sp>
        <p:nvSpPr>
          <p:cNvPr id="9" name="TextBox 8"/>
          <p:cNvSpPr txBox="1"/>
          <p:nvPr/>
        </p:nvSpPr>
        <p:spPr>
          <a:xfrm>
            <a:off x="731520" y="4617720"/>
            <a:ext cx="3291840" cy="1005840"/>
          </a:xfrm>
          <a:prstGeom prst="rect">
            <a:avLst/>
          </a:prstGeom>
          <a:noFill/>
        </p:spPr>
        <p:txBody>
          <a:bodyPr wrap="square" lIns="0" tIns="0" rIns="0" bIns="0">
            <a:spAutoFit/>
          </a:bodyPr>
          <a:lstStyle/>
          <a:p>
            <a:pPr>
              <a:lnSpc>
                <a:spcPct val="130000"/>
              </a:lnSpc>
              <a:defRPr sz="1250">
                <a:solidFill>
                  <a:srgbClr val="1E1E1E"/>
                </a:solidFill>
                <a:latin typeface="Inter"/>
              </a:defRPr>
            </a:pPr>
            <a:r>
              <a:rPr dirty="0"/>
              <a:t>Our solution transforms isolated AI systems into a connected ecosystem that drives measurable impact across organizations and industries.</a:t>
            </a:r>
          </a:p>
        </p:txBody>
      </p:sp>
      <p:sp>
        <p:nvSpPr>
          <p:cNvPr id="10" name="Rounded Rectangle 9"/>
          <p:cNvSpPr/>
          <p:nvPr/>
        </p:nvSpPr>
        <p:spPr>
          <a:xfrm>
            <a:off x="4754880" y="1005840"/>
            <a:ext cx="2194560" cy="2377440"/>
          </a:xfrm>
          <a:prstGeom prst="roundRect">
            <a:avLst/>
          </a:prstGeom>
          <a:solidFill>
            <a:srgbClr val="FCFCFA"/>
          </a:solidFill>
          <a:ln w="1270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554980" y="1211580"/>
            <a:ext cx="594360" cy="594360"/>
          </a:xfrm>
          <a:prstGeom prst="ellipse">
            <a:avLst/>
          </a:prstGeom>
          <a:noFill/>
          <a:ln w="1016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833872" y="1490472"/>
            <a:ext cx="36576" cy="36576"/>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5852160" y="1508760"/>
            <a:ext cx="109728" cy="0"/>
          </a:xfrm>
          <a:prstGeom prst="line">
            <a:avLst/>
          </a:prstGeom>
          <a:ln w="10160">
            <a:solidFill>
              <a:srgbClr val="1E1E1E"/>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5939028" y="1485900"/>
            <a:ext cx="45720" cy="45720"/>
          </a:xfrm>
          <a:prstGeom prst="ellipse">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5852160" y="1508760"/>
            <a:ext cx="33907" cy="104357"/>
          </a:xfrm>
          <a:prstGeom prst="line">
            <a:avLst/>
          </a:prstGeom>
          <a:ln w="10160">
            <a:solidFill>
              <a:srgbClr val="1E1E1E"/>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863207" y="1590257"/>
            <a:ext cx="45720" cy="45720"/>
          </a:xfrm>
          <a:prstGeom prst="ellipse">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flipH="1">
            <a:off x="5763388" y="1508760"/>
            <a:ext cx="88772" cy="64496"/>
          </a:xfrm>
          <a:prstGeom prst="line">
            <a:avLst/>
          </a:prstGeom>
          <a:ln w="10160">
            <a:solidFill>
              <a:srgbClr val="1E1E1E"/>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740528" y="1550396"/>
            <a:ext cx="45720" cy="45720"/>
          </a:xfrm>
          <a:prstGeom prst="ellipse">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H="1" flipV="1">
            <a:off x="5763388" y="1444263"/>
            <a:ext cx="88772" cy="64497"/>
          </a:xfrm>
          <a:prstGeom prst="line">
            <a:avLst/>
          </a:prstGeom>
          <a:ln w="10160">
            <a:solidFill>
              <a:srgbClr val="1E1E1E"/>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740528" y="1421403"/>
            <a:ext cx="45720" cy="45720"/>
          </a:xfrm>
          <a:prstGeom prst="ellipse">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5852160" y="1404402"/>
            <a:ext cx="33907" cy="104358"/>
          </a:xfrm>
          <a:prstGeom prst="line">
            <a:avLst/>
          </a:prstGeom>
          <a:ln w="10160">
            <a:solidFill>
              <a:srgbClr val="1E1E1E"/>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5863207" y="1381542"/>
            <a:ext cx="45720" cy="45720"/>
          </a:xfrm>
          <a:prstGeom prst="ellipse">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46320" y="2011680"/>
            <a:ext cx="2011680" cy="554447"/>
          </a:xfrm>
          <a:prstGeom prst="rect">
            <a:avLst/>
          </a:prstGeom>
          <a:noFill/>
        </p:spPr>
        <p:txBody>
          <a:bodyPr wrap="square">
            <a:spAutoFit/>
          </a:bodyPr>
          <a:lstStyle/>
          <a:p>
            <a:pPr algn="ctr">
              <a:lnSpc>
                <a:spcPct val="110000"/>
              </a:lnSpc>
              <a:defRPr sz="1050" b="1">
                <a:solidFill>
                  <a:srgbClr val="1E1E1E"/>
                </a:solidFill>
                <a:latin typeface="Inter"/>
              </a:defRPr>
            </a:pPr>
            <a:r>
              <a:rPr sz="1400"/>
              <a:t>STRONGER</a:t>
            </a:r>
            <a:br>
              <a:rPr sz="1400"/>
            </a:br>
            <a:r>
              <a:rPr sz="1400"/>
              <a:t>COLLABORATION</a:t>
            </a:r>
          </a:p>
        </p:txBody>
      </p:sp>
      <p:sp>
        <p:nvSpPr>
          <p:cNvPr id="24" name="TextBox 23"/>
          <p:cNvSpPr txBox="1"/>
          <p:nvPr/>
        </p:nvSpPr>
        <p:spPr>
          <a:xfrm>
            <a:off x="4846320" y="2606040"/>
            <a:ext cx="2011680" cy="553998"/>
          </a:xfrm>
          <a:prstGeom prst="rect">
            <a:avLst/>
          </a:prstGeom>
          <a:noFill/>
        </p:spPr>
        <p:txBody>
          <a:bodyPr wrap="square" lIns="0" tIns="0" rIns="0" bIns="0">
            <a:spAutoFit/>
          </a:bodyPr>
          <a:lstStyle/>
          <a:p>
            <a:pPr algn="ctr">
              <a:defRPr sz="900">
                <a:solidFill>
                  <a:srgbClr val="8C8C91"/>
                </a:solidFill>
                <a:latin typeface="Inter"/>
              </a:defRPr>
            </a:pPr>
            <a:r>
              <a:rPr sz="1200" dirty="0"/>
              <a:t>Break down silos and enable seamless collaboration across organizations.</a:t>
            </a:r>
          </a:p>
        </p:txBody>
      </p:sp>
      <p:sp>
        <p:nvSpPr>
          <p:cNvPr id="25" name="Rounded Rectangle 24"/>
          <p:cNvSpPr/>
          <p:nvPr/>
        </p:nvSpPr>
        <p:spPr>
          <a:xfrm>
            <a:off x="7132320" y="1005840"/>
            <a:ext cx="2194560" cy="2377440"/>
          </a:xfrm>
          <a:prstGeom prst="roundRect">
            <a:avLst/>
          </a:prstGeom>
          <a:solidFill>
            <a:srgbClr val="FCFCFA"/>
          </a:solidFill>
          <a:ln w="1270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32420" y="1211580"/>
            <a:ext cx="594360" cy="594360"/>
          </a:xfrm>
          <a:prstGeom prst="ellipse">
            <a:avLst/>
          </a:prstGeom>
          <a:noFill/>
          <a:ln w="1016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56448" y="1563624"/>
            <a:ext cx="36576" cy="54863"/>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211312" y="1527048"/>
            <a:ext cx="36575" cy="91439"/>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266175" y="1490472"/>
            <a:ext cx="36576" cy="128015"/>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8147304" y="1435608"/>
            <a:ext cx="164592" cy="146304"/>
          </a:xfrm>
          <a:prstGeom prst="line">
            <a:avLst/>
          </a:prstGeom>
          <a:ln w="15240">
            <a:solidFill>
              <a:srgbClr val="C66A2B"/>
            </a:solidFill>
          </a:ln>
        </p:spPr>
        <p:style>
          <a:lnRef idx="2">
            <a:schemeClr val="accent1"/>
          </a:lnRef>
          <a:fillRef idx="0">
            <a:schemeClr val="accent1"/>
          </a:fillRef>
          <a:effectRef idx="1">
            <a:schemeClr val="accent1"/>
          </a:effectRef>
          <a:fontRef idx="minor">
            <a:schemeClr val="tx1"/>
          </a:fontRef>
        </p:style>
      </p:cxnSp>
      <p:sp>
        <p:nvSpPr>
          <p:cNvPr id="31" name="Isosceles Triangle 30"/>
          <p:cNvSpPr/>
          <p:nvPr/>
        </p:nvSpPr>
        <p:spPr>
          <a:xfrm>
            <a:off x="8275320" y="1408176"/>
            <a:ext cx="54864" cy="54864"/>
          </a:xfrm>
          <a:prstGeom prst="triangl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23760" y="2011680"/>
            <a:ext cx="2011680" cy="554447"/>
          </a:xfrm>
          <a:prstGeom prst="rect">
            <a:avLst/>
          </a:prstGeom>
          <a:noFill/>
        </p:spPr>
        <p:txBody>
          <a:bodyPr wrap="square">
            <a:spAutoFit/>
          </a:bodyPr>
          <a:lstStyle/>
          <a:p>
            <a:pPr algn="ctr">
              <a:lnSpc>
                <a:spcPct val="110000"/>
              </a:lnSpc>
              <a:defRPr sz="1050" b="1">
                <a:solidFill>
                  <a:srgbClr val="1E1E1E"/>
                </a:solidFill>
                <a:latin typeface="Inter"/>
              </a:defRPr>
            </a:pPr>
            <a:r>
              <a:rPr sz="1400" dirty="0"/>
              <a:t>ACCELERATED</a:t>
            </a:r>
            <a:br>
              <a:rPr sz="1400" dirty="0"/>
            </a:br>
            <a:r>
              <a:rPr sz="1400" dirty="0"/>
              <a:t>INNOVATION</a:t>
            </a:r>
          </a:p>
        </p:txBody>
      </p:sp>
      <p:sp>
        <p:nvSpPr>
          <p:cNvPr id="33" name="TextBox 32"/>
          <p:cNvSpPr txBox="1"/>
          <p:nvPr/>
        </p:nvSpPr>
        <p:spPr>
          <a:xfrm>
            <a:off x="7223760" y="2606040"/>
            <a:ext cx="2011680" cy="553998"/>
          </a:xfrm>
          <a:prstGeom prst="rect">
            <a:avLst/>
          </a:prstGeom>
          <a:noFill/>
        </p:spPr>
        <p:txBody>
          <a:bodyPr wrap="square" lIns="0" tIns="0" rIns="0" bIns="0">
            <a:spAutoFit/>
          </a:bodyPr>
          <a:lstStyle/>
          <a:p>
            <a:pPr algn="ctr">
              <a:defRPr sz="900">
                <a:solidFill>
                  <a:srgbClr val="8C8C91"/>
                </a:solidFill>
                <a:latin typeface="Inter"/>
              </a:defRPr>
            </a:pPr>
            <a:r>
              <a:rPr sz="1200" dirty="0"/>
              <a:t>Combine diverse data, models, and expertise to drive faster breakthroughs.</a:t>
            </a:r>
          </a:p>
        </p:txBody>
      </p:sp>
      <p:sp>
        <p:nvSpPr>
          <p:cNvPr id="34" name="Rounded Rectangle 33"/>
          <p:cNvSpPr/>
          <p:nvPr/>
        </p:nvSpPr>
        <p:spPr>
          <a:xfrm>
            <a:off x="9509760" y="1005840"/>
            <a:ext cx="2194560" cy="2377440"/>
          </a:xfrm>
          <a:prstGeom prst="roundRect">
            <a:avLst/>
          </a:prstGeom>
          <a:solidFill>
            <a:srgbClr val="FCFCFA"/>
          </a:solidFill>
          <a:ln w="1270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309860" y="1211580"/>
            <a:ext cx="594360" cy="594360"/>
          </a:xfrm>
          <a:prstGeom prst="ellipse">
            <a:avLst/>
          </a:prstGeom>
          <a:noFill/>
          <a:ln w="1016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Freeform 35"/>
          <p:cNvSpPr/>
          <p:nvPr/>
        </p:nvSpPr>
        <p:spPr>
          <a:xfrm>
            <a:off x="10543032" y="1435608"/>
            <a:ext cx="128016" cy="146304"/>
          </a:xfrm>
          <a:custGeom>
            <a:avLst/>
            <a:gdLst/>
            <a:ahLst/>
            <a:cxnLst/>
            <a:rect l="l" t="t" r="r" b="b"/>
            <a:pathLst>
              <a:path w="128016" h="146304">
                <a:moveTo>
                  <a:pt x="0" y="0"/>
                </a:moveTo>
                <a:lnTo>
                  <a:pt x="128016" y="0"/>
                </a:lnTo>
                <a:lnTo>
                  <a:pt x="128016" y="73152"/>
                </a:lnTo>
                <a:lnTo>
                  <a:pt x="64008" y="146304"/>
                </a:lnTo>
                <a:lnTo>
                  <a:pt x="0" y="73152"/>
                </a:lnTo>
                <a:lnTo>
                  <a:pt x="0" y="0"/>
                </a:lnTo>
                <a:close/>
              </a:path>
            </a:pathLst>
          </a:custGeom>
          <a:no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588752" y="1481328"/>
            <a:ext cx="36576" cy="36576"/>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0579608" y="1517904"/>
            <a:ext cx="54864" cy="4572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601200" y="2011680"/>
            <a:ext cx="2011680" cy="554447"/>
          </a:xfrm>
          <a:prstGeom prst="rect">
            <a:avLst/>
          </a:prstGeom>
          <a:noFill/>
        </p:spPr>
        <p:txBody>
          <a:bodyPr wrap="square">
            <a:spAutoFit/>
          </a:bodyPr>
          <a:lstStyle/>
          <a:p>
            <a:pPr algn="ctr">
              <a:lnSpc>
                <a:spcPct val="110000"/>
              </a:lnSpc>
              <a:defRPr sz="1050" b="1">
                <a:solidFill>
                  <a:srgbClr val="1E1E1E"/>
                </a:solidFill>
                <a:latin typeface="Inter"/>
              </a:defRPr>
            </a:pPr>
            <a:r>
              <a:rPr sz="1400" dirty="0"/>
              <a:t>ENHANCED</a:t>
            </a:r>
            <a:br>
              <a:rPr sz="1400" dirty="0"/>
            </a:br>
            <a:r>
              <a:rPr sz="1400" dirty="0"/>
              <a:t>SECURITY &amp; TRUST</a:t>
            </a:r>
          </a:p>
        </p:txBody>
      </p:sp>
      <p:sp>
        <p:nvSpPr>
          <p:cNvPr id="40" name="TextBox 39"/>
          <p:cNvSpPr txBox="1"/>
          <p:nvPr/>
        </p:nvSpPr>
        <p:spPr>
          <a:xfrm>
            <a:off x="9601200" y="2606040"/>
            <a:ext cx="2011680" cy="553998"/>
          </a:xfrm>
          <a:prstGeom prst="rect">
            <a:avLst/>
          </a:prstGeom>
          <a:noFill/>
        </p:spPr>
        <p:txBody>
          <a:bodyPr wrap="square" lIns="0" tIns="0" rIns="0" bIns="0">
            <a:spAutoFit/>
          </a:bodyPr>
          <a:lstStyle/>
          <a:p>
            <a:pPr algn="ctr">
              <a:defRPr sz="900">
                <a:solidFill>
                  <a:srgbClr val="8C8C91"/>
                </a:solidFill>
                <a:latin typeface="Inter"/>
              </a:defRPr>
            </a:pPr>
            <a:r>
              <a:rPr sz="1200" dirty="0"/>
              <a:t>Built with privacy-preserving technology and zero-trust architecture.</a:t>
            </a:r>
          </a:p>
        </p:txBody>
      </p:sp>
      <p:sp>
        <p:nvSpPr>
          <p:cNvPr id="41" name="Rounded Rectangle 40"/>
          <p:cNvSpPr/>
          <p:nvPr/>
        </p:nvSpPr>
        <p:spPr>
          <a:xfrm>
            <a:off x="4754880" y="3611880"/>
            <a:ext cx="2194560" cy="2377440"/>
          </a:xfrm>
          <a:prstGeom prst="roundRect">
            <a:avLst/>
          </a:prstGeom>
          <a:solidFill>
            <a:srgbClr val="FCFCFA"/>
          </a:solidFill>
          <a:ln w="1270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5554980" y="3817620"/>
            <a:ext cx="594360" cy="594360"/>
          </a:xfrm>
          <a:prstGeom prst="ellipse">
            <a:avLst/>
          </a:prstGeom>
          <a:noFill/>
          <a:ln w="1016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5769864" y="4023360"/>
            <a:ext cx="91440" cy="91440"/>
          </a:xfrm>
          <a:prstGeom prst="ellipse">
            <a:avLst/>
          </a:prstGeom>
          <a:no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769864" y="4069080"/>
            <a:ext cx="91440" cy="91440"/>
          </a:xfrm>
          <a:prstGeom prst="ellipse">
            <a:avLst/>
          </a:prstGeom>
          <a:no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5769864" y="4114800"/>
            <a:ext cx="91440" cy="91440"/>
          </a:xfrm>
          <a:prstGeom prst="ellipse">
            <a:avLst/>
          </a:prstGeom>
          <a:no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5870448" y="4123944"/>
            <a:ext cx="73152" cy="73152"/>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879592" y="4128515"/>
            <a:ext cx="54864" cy="64008"/>
          </a:xfrm>
          <a:prstGeom prst="rect">
            <a:avLst/>
          </a:prstGeom>
          <a:noFill/>
        </p:spPr>
        <p:txBody>
          <a:bodyPr wrap="square" lIns="0" tIns="0" rIns="0" bIns="0">
            <a:spAutoFit/>
          </a:bodyPr>
          <a:lstStyle/>
          <a:p>
            <a:pPr algn="ctr">
              <a:defRPr sz="600" b="1">
                <a:solidFill>
                  <a:srgbClr val="F5F5F7"/>
                </a:solidFill>
                <a:latin typeface="Inter"/>
              </a:defRPr>
            </a:pPr>
            <a:r>
              <a:t>$</a:t>
            </a:r>
          </a:p>
        </p:txBody>
      </p:sp>
      <p:sp>
        <p:nvSpPr>
          <p:cNvPr id="48" name="TextBox 47"/>
          <p:cNvSpPr txBox="1"/>
          <p:nvPr/>
        </p:nvSpPr>
        <p:spPr>
          <a:xfrm>
            <a:off x="4846320" y="4617720"/>
            <a:ext cx="2011680" cy="554447"/>
          </a:xfrm>
          <a:prstGeom prst="rect">
            <a:avLst/>
          </a:prstGeom>
          <a:noFill/>
        </p:spPr>
        <p:txBody>
          <a:bodyPr wrap="square">
            <a:spAutoFit/>
          </a:bodyPr>
          <a:lstStyle/>
          <a:p>
            <a:pPr algn="ctr">
              <a:lnSpc>
                <a:spcPct val="110000"/>
              </a:lnSpc>
              <a:defRPr sz="1050" b="1">
                <a:solidFill>
                  <a:srgbClr val="1E1E1E"/>
                </a:solidFill>
                <a:latin typeface="Inter"/>
              </a:defRPr>
            </a:pPr>
            <a:r>
              <a:rPr sz="1400" dirty="0"/>
              <a:t>GREATER</a:t>
            </a:r>
            <a:br>
              <a:rPr sz="1400" dirty="0"/>
            </a:br>
            <a:r>
              <a:rPr sz="1400" dirty="0"/>
              <a:t>EFFICIENCY</a:t>
            </a:r>
          </a:p>
        </p:txBody>
      </p:sp>
      <p:sp>
        <p:nvSpPr>
          <p:cNvPr id="49" name="TextBox 48"/>
          <p:cNvSpPr txBox="1"/>
          <p:nvPr/>
        </p:nvSpPr>
        <p:spPr>
          <a:xfrm>
            <a:off x="4846320" y="5212080"/>
            <a:ext cx="2011680" cy="553998"/>
          </a:xfrm>
          <a:prstGeom prst="rect">
            <a:avLst/>
          </a:prstGeom>
          <a:noFill/>
        </p:spPr>
        <p:txBody>
          <a:bodyPr wrap="square" lIns="0" tIns="0" rIns="0" bIns="0">
            <a:spAutoFit/>
          </a:bodyPr>
          <a:lstStyle/>
          <a:p>
            <a:pPr algn="ctr">
              <a:defRPr sz="900">
                <a:solidFill>
                  <a:srgbClr val="8C8C91"/>
                </a:solidFill>
                <a:latin typeface="Inter"/>
              </a:defRPr>
            </a:pPr>
            <a:r>
              <a:rPr sz="1200" dirty="0"/>
              <a:t>Reduce duplication, optimize resources, and lower operational costs.</a:t>
            </a:r>
          </a:p>
        </p:txBody>
      </p:sp>
      <p:sp>
        <p:nvSpPr>
          <p:cNvPr id="50" name="Rounded Rectangle 49"/>
          <p:cNvSpPr/>
          <p:nvPr/>
        </p:nvSpPr>
        <p:spPr>
          <a:xfrm>
            <a:off x="7132320" y="3611880"/>
            <a:ext cx="2194560" cy="2377440"/>
          </a:xfrm>
          <a:prstGeom prst="roundRect">
            <a:avLst/>
          </a:prstGeom>
          <a:solidFill>
            <a:srgbClr val="FCFCFA"/>
          </a:solidFill>
          <a:ln w="1270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932420" y="3817620"/>
            <a:ext cx="594360" cy="594360"/>
          </a:xfrm>
          <a:prstGeom prst="ellipse">
            <a:avLst/>
          </a:prstGeom>
          <a:noFill/>
          <a:ln w="1016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8119872" y="4005072"/>
            <a:ext cx="219456" cy="219456"/>
          </a:xfrm>
          <a:prstGeom prst="ellipse">
            <a:avLst/>
          </a:prstGeom>
          <a:no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8174736" y="4059936"/>
            <a:ext cx="109728" cy="109728"/>
          </a:xfrm>
          <a:prstGeom prst="ellipse">
            <a:avLst/>
          </a:prstGeom>
          <a:no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 name="Connector 53"/>
          <p:cNvCxnSpPr/>
          <p:nvPr/>
        </p:nvCxnSpPr>
        <p:spPr>
          <a:xfrm flipH="1">
            <a:off x="8229600" y="4023360"/>
            <a:ext cx="91440" cy="91440"/>
          </a:xfrm>
          <a:prstGeom prst="line">
            <a:avLst/>
          </a:prstGeom>
          <a:ln w="15240">
            <a:solidFill>
              <a:srgbClr val="C66A2B"/>
            </a:solidFill>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8311896" y="4014215"/>
            <a:ext cx="27431" cy="27432"/>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223760" y="4617720"/>
            <a:ext cx="2011680" cy="554447"/>
          </a:xfrm>
          <a:prstGeom prst="rect">
            <a:avLst/>
          </a:prstGeom>
          <a:noFill/>
        </p:spPr>
        <p:txBody>
          <a:bodyPr wrap="square">
            <a:spAutoFit/>
          </a:bodyPr>
          <a:lstStyle/>
          <a:p>
            <a:pPr algn="ctr">
              <a:lnSpc>
                <a:spcPct val="110000"/>
              </a:lnSpc>
              <a:defRPr sz="1050" b="1">
                <a:solidFill>
                  <a:srgbClr val="1E1E1E"/>
                </a:solidFill>
                <a:latin typeface="Inter"/>
              </a:defRPr>
            </a:pPr>
            <a:r>
              <a:rPr sz="1400" dirty="0"/>
              <a:t>IMPACT AT</a:t>
            </a:r>
            <a:br>
              <a:rPr sz="1400" dirty="0"/>
            </a:br>
            <a:r>
              <a:rPr sz="1400" dirty="0"/>
              <a:t>SCALE</a:t>
            </a:r>
          </a:p>
        </p:txBody>
      </p:sp>
      <p:sp>
        <p:nvSpPr>
          <p:cNvPr id="57" name="TextBox 56"/>
          <p:cNvSpPr txBox="1"/>
          <p:nvPr/>
        </p:nvSpPr>
        <p:spPr>
          <a:xfrm>
            <a:off x="7223760" y="5212080"/>
            <a:ext cx="2011680" cy="553998"/>
          </a:xfrm>
          <a:prstGeom prst="rect">
            <a:avLst/>
          </a:prstGeom>
          <a:noFill/>
        </p:spPr>
        <p:txBody>
          <a:bodyPr wrap="square" lIns="0" tIns="0" rIns="0" bIns="0">
            <a:spAutoFit/>
          </a:bodyPr>
          <a:lstStyle/>
          <a:p>
            <a:pPr algn="ctr">
              <a:defRPr sz="900">
                <a:solidFill>
                  <a:srgbClr val="8C8C91"/>
                </a:solidFill>
                <a:latin typeface="Inter"/>
              </a:defRPr>
            </a:pPr>
            <a:r>
              <a:rPr sz="1200" dirty="0"/>
              <a:t>Solve bigger challenges together and create lasting value for society.</a:t>
            </a:r>
          </a:p>
        </p:txBody>
      </p:sp>
      <p:sp>
        <p:nvSpPr>
          <p:cNvPr id="58" name="Rounded Rectangle 57"/>
          <p:cNvSpPr/>
          <p:nvPr/>
        </p:nvSpPr>
        <p:spPr>
          <a:xfrm>
            <a:off x="9509760" y="3611880"/>
            <a:ext cx="2194560" cy="2377440"/>
          </a:xfrm>
          <a:prstGeom prst="roundRect">
            <a:avLst/>
          </a:prstGeom>
          <a:solidFill>
            <a:srgbClr val="FCFCFA"/>
          </a:solidFill>
          <a:ln w="1270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10309860" y="3817620"/>
            <a:ext cx="594360" cy="594360"/>
          </a:xfrm>
          <a:prstGeom prst="ellipse">
            <a:avLst/>
          </a:prstGeom>
          <a:noFill/>
          <a:ln w="1016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10515600" y="4023360"/>
            <a:ext cx="182880" cy="182880"/>
          </a:xfrm>
          <a:prstGeom prst="ellipse">
            <a:avLst/>
          </a:prstGeom>
          <a:no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1" name="Connector 60"/>
          <p:cNvCxnSpPr/>
          <p:nvPr/>
        </p:nvCxnSpPr>
        <p:spPr>
          <a:xfrm flipV="1">
            <a:off x="10497312" y="4096512"/>
            <a:ext cx="219455" cy="36575"/>
          </a:xfrm>
          <a:prstGeom prst="line">
            <a:avLst/>
          </a:prstGeom>
          <a:ln w="10160">
            <a:solidFill>
              <a:srgbClr val="1E1E1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588752" y="4005072"/>
            <a:ext cx="36576" cy="219456"/>
          </a:xfrm>
          <a:prstGeom prst="line">
            <a:avLst/>
          </a:prstGeom>
          <a:ln w="10160">
            <a:solidFill>
              <a:srgbClr val="1E1E1E"/>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10533888" y="4133088"/>
            <a:ext cx="36576" cy="36576"/>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0643616" y="4059936"/>
            <a:ext cx="36576" cy="36576"/>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01200" y="4617720"/>
            <a:ext cx="2011680" cy="554447"/>
          </a:xfrm>
          <a:prstGeom prst="rect">
            <a:avLst/>
          </a:prstGeom>
          <a:noFill/>
        </p:spPr>
        <p:txBody>
          <a:bodyPr wrap="square">
            <a:spAutoFit/>
          </a:bodyPr>
          <a:lstStyle/>
          <a:p>
            <a:pPr algn="ctr">
              <a:lnSpc>
                <a:spcPct val="110000"/>
              </a:lnSpc>
              <a:defRPr sz="1050" b="1">
                <a:solidFill>
                  <a:srgbClr val="1E1E1E"/>
                </a:solidFill>
                <a:latin typeface="Inter"/>
              </a:defRPr>
            </a:pPr>
            <a:r>
              <a:rPr sz="1400" dirty="0"/>
              <a:t>FUTURE-READY</a:t>
            </a:r>
            <a:br>
              <a:rPr sz="1400" dirty="0"/>
            </a:br>
            <a:r>
              <a:rPr sz="1400" dirty="0"/>
              <a:t>ECOSYSTEM</a:t>
            </a:r>
          </a:p>
        </p:txBody>
      </p:sp>
      <p:sp>
        <p:nvSpPr>
          <p:cNvPr id="66" name="TextBox 65"/>
          <p:cNvSpPr txBox="1"/>
          <p:nvPr/>
        </p:nvSpPr>
        <p:spPr>
          <a:xfrm>
            <a:off x="9601200" y="5212080"/>
            <a:ext cx="2011680" cy="553998"/>
          </a:xfrm>
          <a:prstGeom prst="rect">
            <a:avLst/>
          </a:prstGeom>
          <a:noFill/>
        </p:spPr>
        <p:txBody>
          <a:bodyPr wrap="square" lIns="0" tIns="0" rIns="0" bIns="0">
            <a:spAutoFit/>
          </a:bodyPr>
          <a:lstStyle/>
          <a:p>
            <a:pPr algn="ctr">
              <a:defRPr sz="900">
                <a:solidFill>
                  <a:srgbClr val="8C8C91"/>
                </a:solidFill>
                <a:latin typeface="Inter"/>
              </a:defRPr>
            </a:pPr>
            <a:r>
              <a:rPr sz="1200" dirty="0"/>
              <a:t>A scalable foundation designed to evolve with emerging technologies.</a:t>
            </a:r>
          </a:p>
        </p:txBody>
      </p:sp>
      <p:sp>
        <p:nvSpPr>
          <p:cNvPr id="67" name="Rectangle 66"/>
          <p:cNvSpPr/>
          <p:nvPr/>
        </p:nvSpPr>
        <p:spPr>
          <a:xfrm>
            <a:off x="0" y="6400800"/>
            <a:ext cx="12191695" cy="457200"/>
          </a:xfrm>
          <a:prstGeom prst="rect">
            <a:avLst/>
          </a:pr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585216" y="6483096"/>
            <a:ext cx="292608" cy="292608"/>
          </a:xfrm>
          <a:prstGeom prst="ellipse">
            <a:avLst/>
          </a:prstGeom>
          <a:solidFill>
            <a:srgbClr val="0A0B0C"/>
          </a:solid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658368" y="6556248"/>
            <a:ext cx="146304" cy="146304"/>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1097280" y="6492240"/>
            <a:ext cx="13716" cy="27432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234440" y="6492240"/>
            <a:ext cx="6400800" cy="320040"/>
          </a:xfrm>
          <a:prstGeom prst="rect">
            <a:avLst/>
          </a:prstGeom>
          <a:noFill/>
        </p:spPr>
        <p:txBody>
          <a:bodyPr wrap="none">
            <a:spAutoFit/>
          </a:bodyPr>
          <a:lstStyle/>
          <a:p>
            <a:r>
              <a:rPr sz="1050">
                <a:solidFill>
                  <a:srgbClr val="F5F5F7"/>
                </a:solidFill>
                <a:latin typeface="Inter"/>
              </a:rPr>
              <a:t>Together, we can turn independent intelligence into </a:t>
            </a:r>
            <a:r>
              <a:rPr sz="1050" b="1">
                <a:solidFill>
                  <a:srgbClr val="C66A2B"/>
                </a:solidFill>
                <a:latin typeface="Inter"/>
              </a:rPr>
              <a:t>collective impact</a:t>
            </a:r>
            <a:r>
              <a:rPr sz="1050">
                <a:solidFill>
                  <a:srgbClr val="F5F5F7"/>
                </a:solidFill>
                <a:latin typeface="Inter"/>
              </a:rPr>
              <a:t>.</a:t>
            </a:r>
          </a:p>
        </p:txBody>
      </p:sp>
      <p:sp>
        <p:nvSpPr>
          <p:cNvPr id="72" name="Rectangle 71"/>
          <p:cNvSpPr/>
          <p:nvPr/>
        </p:nvSpPr>
        <p:spPr>
          <a:xfrm>
            <a:off x="8961120" y="6492240"/>
            <a:ext cx="13715" cy="27432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144000" y="6473952"/>
            <a:ext cx="2743200" cy="365760"/>
          </a:xfrm>
          <a:prstGeom prst="rect">
            <a:avLst/>
          </a:prstGeom>
          <a:noFill/>
        </p:spPr>
        <p:txBody>
          <a:bodyPr wrap="none">
            <a:spAutoFit/>
          </a:bodyPr>
          <a:lstStyle/>
          <a:p>
            <a:pPr>
              <a:lnSpc>
                <a:spcPct val="105000"/>
              </a:lnSpc>
              <a:defRPr sz="850" b="1">
                <a:solidFill>
                  <a:srgbClr val="F5F5F7"/>
                </a:solidFill>
                <a:latin typeface="Inter"/>
              </a:defRPr>
            </a:pPr>
            <a:r>
              <a:t>CONNECTED INTELLIGENCE.</a:t>
            </a:r>
            <a:br/>
            <a:r>
              <a:t>STRONGER TOGETHER.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56032"/>
            <a:ext cx="6400800" cy="731520"/>
          </a:xfrm>
          <a:prstGeom prst="rect">
            <a:avLst/>
          </a:prstGeom>
          <a:noFill/>
        </p:spPr>
        <p:txBody>
          <a:bodyPr wrap="square" lIns="0" tIns="0" rIns="0" bIns="0">
            <a:spAutoFit/>
          </a:bodyPr>
          <a:lstStyle/>
          <a:p>
            <a:r>
              <a:rPr sz="3600" b="1">
                <a:solidFill>
                  <a:srgbClr val="1E1E1E"/>
                </a:solidFill>
                <a:latin typeface="Sora"/>
              </a:rPr>
              <a:t>LITERATURE </a:t>
            </a:r>
            <a:r>
              <a:rPr sz="3600" b="1">
                <a:solidFill>
                  <a:srgbClr val="C66A2B"/>
                </a:solidFill>
                <a:latin typeface="Sora"/>
              </a:rPr>
              <a:t>SURVEY</a:t>
            </a:r>
          </a:p>
        </p:txBody>
      </p:sp>
      <p:sp>
        <p:nvSpPr>
          <p:cNvPr id="4" name="TextBox 3"/>
          <p:cNvSpPr txBox="1"/>
          <p:nvPr/>
        </p:nvSpPr>
        <p:spPr>
          <a:xfrm>
            <a:off x="8229600" y="320040"/>
            <a:ext cx="3017520" cy="457200"/>
          </a:xfrm>
          <a:prstGeom prst="rect">
            <a:avLst/>
          </a:prstGeom>
          <a:noFill/>
        </p:spPr>
        <p:txBody>
          <a:bodyPr wrap="square">
            <a:spAutoFit/>
          </a:bodyPr>
          <a:lstStyle/>
          <a:p>
            <a:pPr algn="r">
              <a:lnSpc>
                <a:spcPct val="115000"/>
              </a:lnSpc>
              <a:defRPr sz="850" b="1">
                <a:solidFill>
                  <a:srgbClr val="78787D"/>
                </a:solidFill>
                <a:latin typeface="Inter"/>
              </a:defRPr>
            </a:pPr>
            <a:r>
              <a:t>CONNECTING INTELLIGENCE</a:t>
            </a:r>
            <a:br/>
            <a:r>
              <a:t>ACROSS ORGANIZATIONS</a:t>
            </a:r>
          </a:p>
        </p:txBody>
      </p:sp>
      <p:sp>
        <p:nvSpPr>
          <p:cNvPr id="5" name="Rectangle 4"/>
          <p:cNvSpPr/>
          <p:nvPr/>
        </p:nvSpPr>
        <p:spPr>
          <a:xfrm>
            <a:off x="11430000" y="338328"/>
            <a:ext cx="13716" cy="32004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005840"/>
            <a:ext cx="10728655" cy="411480"/>
          </a:xfrm>
          <a:prstGeom prst="rect">
            <a:avLst/>
          </a:pr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13816" y="1138428"/>
            <a:ext cx="109728" cy="146304"/>
          </a:xfrm>
          <a:prstGeom prst="rect">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41248" y="1193292"/>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41248" y="1229868"/>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1097280"/>
            <a:ext cx="2651760" cy="274320"/>
          </a:xfrm>
          <a:prstGeom prst="rect">
            <a:avLst/>
          </a:prstGeom>
          <a:noFill/>
        </p:spPr>
        <p:txBody>
          <a:bodyPr wrap="none">
            <a:spAutoFit/>
          </a:bodyPr>
          <a:lstStyle/>
          <a:p>
            <a:pPr>
              <a:defRPr sz="850" b="1">
                <a:solidFill>
                  <a:srgbClr val="C66A2B"/>
                </a:solidFill>
                <a:latin typeface="Inter"/>
              </a:defRPr>
            </a:pPr>
            <a:r>
              <a:t>EXISTING RESEARCH PAPER</a:t>
            </a:r>
          </a:p>
        </p:txBody>
      </p:sp>
      <p:sp>
        <p:nvSpPr>
          <p:cNvPr id="11" name="Oval 10"/>
          <p:cNvSpPr/>
          <p:nvPr/>
        </p:nvSpPr>
        <p:spPr>
          <a:xfrm>
            <a:off x="3840480" y="1165860"/>
            <a:ext cx="91440" cy="91440"/>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863339" y="1188720"/>
            <a:ext cx="45720" cy="45720"/>
          </a:xfrm>
          <a:prstGeom prst="ellipse">
            <a:avLst/>
          </a:prstGeom>
          <a:solidFill>
            <a:srgbClr val="0A0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69079" y="1097280"/>
            <a:ext cx="2194560" cy="274320"/>
          </a:xfrm>
          <a:prstGeom prst="rect">
            <a:avLst/>
          </a:prstGeom>
          <a:noFill/>
        </p:spPr>
        <p:txBody>
          <a:bodyPr wrap="none">
            <a:spAutoFit/>
          </a:bodyPr>
          <a:lstStyle/>
          <a:p>
            <a:pPr>
              <a:defRPr sz="850" b="1">
                <a:solidFill>
                  <a:srgbClr val="C66A2B"/>
                </a:solidFill>
                <a:latin typeface="Inter"/>
              </a:defRPr>
            </a:pPr>
            <a:r>
              <a:t>KEY CONTRIBUTION</a:t>
            </a:r>
          </a:p>
        </p:txBody>
      </p:sp>
      <p:sp>
        <p:nvSpPr>
          <p:cNvPr id="14" name="Isosceles Triangle 13"/>
          <p:cNvSpPr/>
          <p:nvPr/>
        </p:nvSpPr>
        <p:spPr>
          <a:xfrm>
            <a:off x="6382512" y="1156716"/>
            <a:ext cx="128016" cy="100584"/>
          </a:xfrm>
          <a:prstGeom prst="triangle">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41948" y="1193292"/>
            <a:ext cx="9143" cy="27432"/>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39204" y="1231696"/>
            <a:ext cx="14630" cy="14630"/>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29400" y="1097280"/>
            <a:ext cx="2194560" cy="274320"/>
          </a:xfrm>
          <a:prstGeom prst="rect">
            <a:avLst/>
          </a:prstGeom>
          <a:noFill/>
        </p:spPr>
        <p:txBody>
          <a:bodyPr wrap="none">
            <a:spAutoFit/>
          </a:bodyPr>
          <a:lstStyle/>
          <a:p>
            <a:pPr>
              <a:defRPr sz="850" b="1">
                <a:solidFill>
                  <a:srgbClr val="C66A2B"/>
                </a:solidFill>
                <a:latin typeface="Inter"/>
              </a:defRPr>
            </a:pPr>
            <a:r>
              <a:t>LIMITATION</a:t>
            </a:r>
          </a:p>
        </p:txBody>
      </p:sp>
      <p:sp>
        <p:nvSpPr>
          <p:cNvPr id="18" name="Rectangle 17"/>
          <p:cNvSpPr/>
          <p:nvPr/>
        </p:nvSpPr>
        <p:spPr>
          <a:xfrm>
            <a:off x="8961119" y="1165860"/>
            <a:ext cx="91440" cy="91440"/>
          </a:xfrm>
          <a:prstGeom prst="rect">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029700" y="1188720"/>
            <a:ext cx="45720" cy="45720"/>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983980" y="1143000"/>
            <a:ext cx="45720" cy="45720"/>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89719" y="1097280"/>
            <a:ext cx="2224735" cy="274320"/>
          </a:xfrm>
          <a:prstGeom prst="rect">
            <a:avLst/>
          </a:prstGeom>
          <a:noFill/>
        </p:spPr>
        <p:txBody>
          <a:bodyPr wrap="none">
            <a:spAutoFit/>
          </a:bodyPr>
          <a:lstStyle/>
          <a:p>
            <a:pPr>
              <a:defRPr sz="850" b="1">
                <a:solidFill>
                  <a:srgbClr val="C66A2B"/>
                </a:solidFill>
                <a:latin typeface="Inter"/>
              </a:defRPr>
            </a:pPr>
            <a:r>
              <a:t>RESEARCH GAP ADDRESSED</a:t>
            </a:r>
          </a:p>
        </p:txBody>
      </p:sp>
      <p:sp>
        <p:nvSpPr>
          <p:cNvPr id="22" name="Rectangle 21"/>
          <p:cNvSpPr/>
          <p:nvPr/>
        </p:nvSpPr>
        <p:spPr>
          <a:xfrm>
            <a:off x="731520" y="2103120"/>
            <a:ext cx="10728655" cy="13716"/>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3816" y="1508760"/>
            <a:ext cx="109728" cy="146304"/>
          </a:xfrm>
          <a:prstGeom prst="rect">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41248" y="1563624"/>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41248" y="1600200"/>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51560" y="1453896"/>
            <a:ext cx="2651760" cy="612648"/>
          </a:xfrm>
          <a:prstGeom prst="rect">
            <a:avLst/>
          </a:prstGeom>
          <a:noFill/>
        </p:spPr>
        <p:txBody>
          <a:bodyPr wrap="square" lIns="0" tIns="0" rIns="0" bIns="0">
            <a:spAutoFit/>
          </a:bodyPr>
          <a:lstStyle/>
          <a:p>
            <a:pPr>
              <a:lnSpc>
                <a:spcPts val="1100"/>
              </a:lnSpc>
              <a:defRPr sz="950" b="1">
                <a:solidFill>
                  <a:srgbClr val="1E1E1E"/>
                </a:solidFill>
                <a:latin typeface="Inter"/>
              </a:defRPr>
            </a:pPr>
            <a:r>
              <a:t>Communication-Efficient Learning</a:t>
            </a:r>
            <a:br/>
            <a:r>
              <a:t>of Deep Networks from</a:t>
            </a:r>
            <a:br/>
            <a:r>
              <a:t>Decentralized Data</a:t>
            </a:r>
          </a:p>
          <a:p>
            <a:pPr>
              <a:defRPr sz="850">
                <a:solidFill>
                  <a:srgbClr val="1E1E1E"/>
                </a:solidFill>
                <a:latin typeface="Inter"/>
              </a:defRPr>
            </a:pPr>
            <a:r>
              <a:t>McMahan et al.</a:t>
            </a:r>
          </a:p>
          <a:p>
            <a:pPr>
              <a:defRPr sz="750" i="1">
                <a:solidFill>
                  <a:srgbClr val="78787D"/>
                </a:solidFill>
                <a:latin typeface="Inter"/>
              </a:defRPr>
            </a:pPr>
            <a:r>
              <a:t>AISTATS, 2017</a:t>
            </a:r>
          </a:p>
        </p:txBody>
      </p:sp>
      <p:sp>
        <p:nvSpPr>
          <p:cNvPr id="27" name="TextBox 26"/>
          <p:cNvSpPr txBox="1"/>
          <p:nvPr/>
        </p:nvSpPr>
        <p:spPr>
          <a:xfrm>
            <a:off x="3840479" y="1453896"/>
            <a:ext cx="2377439" cy="612648"/>
          </a:xfrm>
          <a:prstGeom prst="rect">
            <a:avLst/>
          </a:prstGeom>
          <a:noFill/>
        </p:spPr>
        <p:txBody>
          <a:bodyPr wrap="square" lIns="0" tIns="0" rIns="0" bIns="0">
            <a:spAutoFit/>
          </a:bodyPr>
          <a:lstStyle/>
          <a:p>
            <a:pPr>
              <a:lnSpc>
                <a:spcPts val="1150"/>
              </a:lnSpc>
              <a:defRPr sz="850">
                <a:solidFill>
                  <a:srgbClr val="1E1E1E"/>
                </a:solidFill>
                <a:latin typeface="Inter"/>
              </a:defRPr>
            </a:pPr>
            <a:r>
              <a:t>Introduced Federated Learning, enabling collaborative model training without sharing raw data.</a:t>
            </a:r>
          </a:p>
        </p:txBody>
      </p:sp>
      <p:sp>
        <p:nvSpPr>
          <p:cNvPr id="28" name="TextBox 27"/>
          <p:cNvSpPr txBox="1"/>
          <p:nvPr/>
        </p:nvSpPr>
        <p:spPr>
          <a:xfrm>
            <a:off x="6400800" y="1453896"/>
            <a:ext cx="2377439" cy="612648"/>
          </a:xfrm>
          <a:prstGeom prst="rect">
            <a:avLst/>
          </a:prstGeom>
          <a:noFill/>
        </p:spPr>
        <p:txBody>
          <a:bodyPr wrap="square" lIns="0" tIns="0" rIns="0" bIns="0">
            <a:spAutoFit/>
          </a:bodyPr>
          <a:lstStyle/>
          <a:p>
            <a:pPr>
              <a:lnSpc>
                <a:spcPts val="1150"/>
              </a:lnSpc>
              <a:defRPr sz="850">
                <a:solidFill>
                  <a:srgbClr val="1E1E1E"/>
                </a:solidFill>
                <a:latin typeface="Inter"/>
              </a:defRPr>
            </a:pPr>
            <a:r>
              <a:t>Limited to model parameter aggregation; does not support AI-to-AI collaboration or capability sharing.</a:t>
            </a:r>
          </a:p>
        </p:txBody>
      </p:sp>
      <p:sp>
        <p:nvSpPr>
          <p:cNvPr id="29" name="TextBox 28"/>
          <p:cNvSpPr txBox="1"/>
          <p:nvPr/>
        </p:nvSpPr>
        <p:spPr>
          <a:xfrm>
            <a:off x="8961119" y="1453896"/>
            <a:ext cx="2407615" cy="612648"/>
          </a:xfrm>
          <a:prstGeom prst="rect">
            <a:avLst/>
          </a:prstGeom>
          <a:noFill/>
        </p:spPr>
        <p:txBody>
          <a:bodyPr wrap="square" lIns="0" tIns="0" rIns="0" bIns="0">
            <a:spAutoFit/>
          </a:bodyPr>
          <a:lstStyle/>
          <a:p>
            <a:pPr>
              <a:lnSpc>
                <a:spcPts val="1150"/>
              </a:lnSpc>
              <a:defRPr sz="850">
                <a:solidFill>
                  <a:srgbClr val="1E1E1E"/>
                </a:solidFill>
                <a:latin typeface="Inter"/>
              </a:defRPr>
            </a:pPr>
            <a:r>
              <a:t>Need an infrastructure enabling secure collaboration beyond distributed training.</a:t>
            </a:r>
          </a:p>
        </p:txBody>
      </p:sp>
      <p:sp>
        <p:nvSpPr>
          <p:cNvPr id="30" name="Rectangle 29"/>
          <p:cNvSpPr/>
          <p:nvPr/>
        </p:nvSpPr>
        <p:spPr>
          <a:xfrm>
            <a:off x="731520" y="2788920"/>
            <a:ext cx="10728655" cy="13716"/>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13816" y="2194560"/>
            <a:ext cx="109728" cy="146304"/>
          </a:xfrm>
          <a:prstGeom prst="rect">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41248" y="2249424"/>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41248" y="2286000"/>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51560" y="2139696"/>
            <a:ext cx="2651760" cy="612648"/>
          </a:xfrm>
          <a:prstGeom prst="rect">
            <a:avLst/>
          </a:prstGeom>
          <a:noFill/>
        </p:spPr>
        <p:txBody>
          <a:bodyPr wrap="square" lIns="0" tIns="0" rIns="0" bIns="0">
            <a:spAutoFit/>
          </a:bodyPr>
          <a:lstStyle/>
          <a:p>
            <a:pPr>
              <a:lnSpc>
                <a:spcPts val="1100"/>
              </a:lnSpc>
              <a:defRPr sz="950" b="1">
                <a:solidFill>
                  <a:srgbClr val="1E1E1E"/>
                </a:solidFill>
                <a:latin typeface="Inter"/>
              </a:defRPr>
            </a:pPr>
            <a:r>
              <a:t>A Survey on Large</a:t>
            </a:r>
            <a:br/>
            <a:r>
              <a:t>Language Models</a:t>
            </a:r>
          </a:p>
          <a:p>
            <a:pPr>
              <a:defRPr sz="850">
                <a:solidFill>
                  <a:srgbClr val="1E1E1E"/>
                </a:solidFill>
                <a:latin typeface="Inter"/>
              </a:defRPr>
            </a:pPr>
            <a:r>
              <a:t>Zhao et al.</a:t>
            </a:r>
          </a:p>
          <a:p>
            <a:pPr>
              <a:defRPr sz="750" i="1">
                <a:solidFill>
                  <a:srgbClr val="78787D"/>
                </a:solidFill>
                <a:latin typeface="Inter"/>
              </a:defRPr>
            </a:pPr>
            <a:r>
              <a:t>arXiv, 2023</a:t>
            </a:r>
          </a:p>
        </p:txBody>
      </p:sp>
      <p:sp>
        <p:nvSpPr>
          <p:cNvPr id="35" name="TextBox 34"/>
          <p:cNvSpPr txBox="1"/>
          <p:nvPr/>
        </p:nvSpPr>
        <p:spPr>
          <a:xfrm>
            <a:off x="3840479" y="2139696"/>
            <a:ext cx="2377439" cy="612648"/>
          </a:xfrm>
          <a:prstGeom prst="rect">
            <a:avLst/>
          </a:prstGeom>
          <a:noFill/>
        </p:spPr>
        <p:txBody>
          <a:bodyPr wrap="square" lIns="0" tIns="0" rIns="0" bIns="0">
            <a:spAutoFit/>
          </a:bodyPr>
          <a:lstStyle/>
          <a:p>
            <a:pPr>
              <a:lnSpc>
                <a:spcPts val="1150"/>
              </a:lnSpc>
              <a:defRPr sz="850">
                <a:solidFill>
                  <a:srgbClr val="1E1E1E"/>
                </a:solidFill>
                <a:latin typeface="Inter"/>
              </a:defRPr>
            </a:pPr>
            <a:r>
              <a:t>Comprehensive overview of LLM architectures, capabilities, and applications.</a:t>
            </a:r>
          </a:p>
        </p:txBody>
      </p:sp>
      <p:sp>
        <p:nvSpPr>
          <p:cNvPr id="36" name="TextBox 35"/>
          <p:cNvSpPr txBox="1"/>
          <p:nvPr/>
        </p:nvSpPr>
        <p:spPr>
          <a:xfrm>
            <a:off x="6400800" y="2139696"/>
            <a:ext cx="2377439" cy="612648"/>
          </a:xfrm>
          <a:prstGeom prst="rect">
            <a:avLst/>
          </a:prstGeom>
          <a:noFill/>
        </p:spPr>
        <p:txBody>
          <a:bodyPr wrap="square" lIns="0" tIns="0" rIns="0" bIns="0">
            <a:spAutoFit/>
          </a:bodyPr>
          <a:lstStyle/>
          <a:p>
            <a:pPr>
              <a:lnSpc>
                <a:spcPts val="1150"/>
              </a:lnSpc>
              <a:defRPr sz="850">
                <a:solidFill>
                  <a:srgbClr val="1E1E1E"/>
                </a:solidFill>
                <a:latin typeface="Inter"/>
              </a:defRPr>
            </a:pPr>
            <a:r>
              <a:t>Focuses on individual intelligent models rather than collaboration between independent AI systems.</a:t>
            </a:r>
          </a:p>
        </p:txBody>
      </p:sp>
      <p:sp>
        <p:nvSpPr>
          <p:cNvPr id="37" name="TextBox 36"/>
          <p:cNvSpPr txBox="1"/>
          <p:nvPr/>
        </p:nvSpPr>
        <p:spPr>
          <a:xfrm>
            <a:off x="8961119" y="2139696"/>
            <a:ext cx="2407615" cy="612648"/>
          </a:xfrm>
          <a:prstGeom prst="rect">
            <a:avLst/>
          </a:prstGeom>
          <a:noFill/>
        </p:spPr>
        <p:txBody>
          <a:bodyPr wrap="square" lIns="0" tIns="0" rIns="0" bIns="0">
            <a:spAutoFit/>
          </a:bodyPr>
          <a:lstStyle/>
          <a:p>
            <a:pPr>
              <a:lnSpc>
                <a:spcPts val="1150"/>
              </a:lnSpc>
              <a:defRPr sz="850">
                <a:solidFill>
                  <a:srgbClr val="1E1E1E"/>
                </a:solidFill>
                <a:latin typeface="Inter"/>
              </a:defRPr>
            </a:pPr>
            <a:r>
              <a:t>Enable multiple AI systems to work together across organizational boundaries.</a:t>
            </a:r>
          </a:p>
        </p:txBody>
      </p:sp>
      <p:sp>
        <p:nvSpPr>
          <p:cNvPr id="38" name="Rectangle 37"/>
          <p:cNvSpPr/>
          <p:nvPr/>
        </p:nvSpPr>
        <p:spPr>
          <a:xfrm>
            <a:off x="731520" y="3474720"/>
            <a:ext cx="10728655" cy="13716"/>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13816" y="2880360"/>
            <a:ext cx="109728" cy="146304"/>
          </a:xfrm>
          <a:prstGeom prst="rect">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41248" y="2935224"/>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41248" y="2971800"/>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51560" y="2825496"/>
            <a:ext cx="2651760" cy="612648"/>
          </a:xfrm>
          <a:prstGeom prst="rect">
            <a:avLst/>
          </a:prstGeom>
          <a:noFill/>
        </p:spPr>
        <p:txBody>
          <a:bodyPr wrap="square" lIns="0" tIns="0" rIns="0" bIns="0">
            <a:spAutoFit/>
          </a:bodyPr>
          <a:lstStyle/>
          <a:p>
            <a:pPr>
              <a:lnSpc>
                <a:spcPts val="1100"/>
              </a:lnSpc>
              <a:defRPr sz="950" b="1">
                <a:solidFill>
                  <a:srgbClr val="1E1E1E"/>
                </a:solidFill>
                <a:latin typeface="Inter"/>
              </a:defRPr>
            </a:pPr>
            <a:r>
              <a:t>AutoGen: Enabling Next-Gen</a:t>
            </a:r>
            <a:br/>
            <a:r>
              <a:t>LLM Applications via</a:t>
            </a:r>
            <a:br/>
            <a:r>
              <a:t>Multi-Agent Conversation</a:t>
            </a:r>
          </a:p>
          <a:p>
            <a:pPr>
              <a:defRPr sz="850">
                <a:solidFill>
                  <a:srgbClr val="1E1E1E"/>
                </a:solidFill>
                <a:latin typeface="Inter"/>
              </a:defRPr>
            </a:pPr>
            <a:r>
              <a:t>Wu et al. (Microsoft)</a:t>
            </a:r>
          </a:p>
          <a:p>
            <a:pPr>
              <a:defRPr sz="750" i="1">
                <a:solidFill>
                  <a:srgbClr val="78787D"/>
                </a:solidFill>
                <a:latin typeface="Inter"/>
              </a:defRPr>
            </a:pPr>
            <a:r>
              <a:t>arXiv, 2023</a:t>
            </a:r>
          </a:p>
        </p:txBody>
      </p:sp>
      <p:sp>
        <p:nvSpPr>
          <p:cNvPr id="43" name="TextBox 42"/>
          <p:cNvSpPr txBox="1"/>
          <p:nvPr/>
        </p:nvSpPr>
        <p:spPr>
          <a:xfrm>
            <a:off x="3840479" y="2825496"/>
            <a:ext cx="2377439" cy="612648"/>
          </a:xfrm>
          <a:prstGeom prst="rect">
            <a:avLst/>
          </a:prstGeom>
          <a:noFill/>
        </p:spPr>
        <p:txBody>
          <a:bodyPr wrap="square" lIns="0" tIns="0" rIns="0" bIns="0">
            <a:spAutoFit/>
          </a:bodyPr>
          <a:lstStyle/>
          <a:p>
            <a:pPr>
              <a:lnSpc>
                <a:spcPts val="1150"/>
              </a:lnSpc>
              <a:defRPr sz="850">
                <a:solidFill>
                  <a:srgbClr val="1E1E1E"/>
                </a:solidFill>
                <a:latin typeface="Inter"/>
              </a:defRPr>
            </a:pPr>
            <a:r>
              <a:t>Demonstrated collaborative problem-solving using multiple AI agents through conversational interaction.</a:t>
            </a:r>
          </a:p>
        </p:txBody>
      </p:sp>
      <p:sp>
        <p:nvSpPr>
          <p:cNvPr id="44" name="TextBox 43"/>
          <p:cNvSpPr txBox="1"/>
          <p:nvPr/>
        </p:nvSpPr>
        <p:spPr>
          <a:xfrm>
            <a:off x="6400800" y="2825496"/>
            <a:ext cx="2377439" cy="612648"/>
          </a:xfrm>
          <a:prstGeom prst="rect">
            <a:avLst/>
          </a:prstGeom>
          <a:noFill/>
        </p:spPr>
        <p:txBody>
          <a:bodyPr wrap="square" lIns="0" tIns="0" rIns="0" bIns="0">
            <a:spAutoFit/>
          </a:bodyPr>
          <a:lstStyle/>
          <a:p>
            <a:pPr>
              <a:lnSpc>
                <a:spcPts val="1150"/>
              </a:lnSpc>
              <a:defRPr sz="850">
                <a:solidFill>
                  <a:srgbClr val="1E1E1E"/>
                </a:solidFill>
                <a:latin typeface="Inter"/>
              </a:defRPr>
            </a:pPr>
            <a:r>
              <a:t>Collaboration is confined to a single application and lacks decentralized organizational support.</a:t>
            </a:r>
          </a:p>
        </p:txBody>
      </p:sp>
      <p:sp>
        <p:nvSpPr>
          <p:cNvPr id="45" name="TextBox 44"/>
          <p:cNvSpPr txBox="1"/>
          <p:nvPr/>
        </p:nvSpPr>
        <p:spPr>
          <a:xfrm>
            <a:off x="8961119" y="2825496"/>
            <a:ext cx="2407615" cy="612648"/>
          </a:xfrm>
          <a:prstGeom prst="rect">
            <a:avLst/>
          </a:prstGeom>
          <a:noFill/>
        </p:spPr>
        <p:txBody>
          <a:bodyPr wrap="square" lIns="0" tIns="0" rIns="0" bIns="0">
            <a:spAutoFit/>
          </a:bodyPr>
          <a:lstStyle/>
          <a:p>
            <a:pPr>
              <a:lnSpc>
                <a:spcPts val="1150"/>
              </a:lnSpc>
              <a:defRPr sz="850">
                <a:solidFill>
                  <a:srgbClr val="1E1E1E"/>
                </a:solidFill>
                <a:latin typeface="Inter"/>
              </a:defRPr>
            </a:pPr>
            <a:r>
              <a:t>Support collaboration between autonomous AI systems owned by different organizations.</a:t>
            </a:r>
          </a:p>
        </p:txBody>
      </p:sp>
      <p:sp>
        <p:nvSpPr>
          <p:cNvPr id="46" name="Rectangle 45"/>
          <p:cNvSpPr/>
          <p:nvPr/>
        </p:nvSpPr>
        <p:spPr>
          <a:xfrm>
            <a:off x="731520" y="4160520"/>
            <a:ext cx="10728655" cy="13716"/>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813816" y="3566160"/>
            <a:ext cx="109728" cy="146304"/>
          </a:xfrm>
          <a:prstGeom prst="rect">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41248" y="3621024"/>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841248" y="3657600"/>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051560" y="3511296"/>
            <a:ext cx="2651760" cy="612648"/>
          </a:xfrm>
          <a:prstGeom prst="rect">
            <a:avLst/>
          </a:prstGeom>
          <a:noFill/>
        </p:spPr>
        <p:txBody>
          <a:bodyPr wrap="square" lIns="0" tIns="0" rIns="0" bIns="0">
            <a:spAutoFit/>
          </a:bodyPr>
          <a:lstStyle/>
          <a:p>
            <a:pPr>
              <a:lnSpc>
                <a:spcPts val="1100"/>
              </a:lnSpc>
              <a:defRPr sz="950" b="1">
                <a:solidFill>
                  <a:srgbClr val="1E1E1E"/>
                </a:solidFill>
                <a:latin typeface="Inter"/>
              </a:defRPr>
            </a:pPr>
            <a:r>
              <a:t>Model Context Protocol</a:t>
            </a:r>
          </a:p>
          <a:p>
            <a:pPr>
              <a:defRPr sz="850">
                <a:solidFill>
                  <a:srgbClr val="1E1E1E"/>
                </a:solidFill>
                <a:latin typeface="Inter"/>
              </a:defRPr>
            </a:pPr>
            <a:r>
              <a:t>Anthropic</a:t>
            </a:r>
          </a:p>
          <a:p>
            <a:pPr>
              <a:defRPr sz="750" i="1">
                <a:solidFill>
                  <a:srgbClr val="78787D"/>
                </a:solidFill>
                <a:latin typeface="Inter"/>
              </a:defRPr>
            </a:pPr>
            <a:r>
              <a:t>2024</a:t>
            </a:r>
          </a:p>
        </p:txBody>
      </p:sp>
      <p:sp>
        <p:nvSpPr>
          <p:cNvPr id="51" name="TextBox 50"/>
          <p:cNvSpPr txBox="1"/>
          <p:nvPr/>
        </p:nvSpPr>
        <p:spPr>
          <a:xfrm>
            <a:off x="3840479" y="3511296"/>
            <a:ext cx="2377439" cy="612648"/>
          </a:xfrm>
          <a:prstGeom prst="rect">
            <a:avLst/>
          </a:prstGeom>
          <a:noFill/>
        </p:spPr>
        <p:txBody>
          <a:bodyPr wrap="square" lIns="0" tIns="0" rIns="0" bIns="0">
            <a:spAutoFit/>
          </a:bodyPr>
          <a:lstStyle/>
          <a:p>
            <a:pPr>
              <a:lnSpc>
                <a:spcPts val="1150"/>
              </a:lnSpc>
              <a:defRPr sz="850">
                <a:solidFill>
                  <a:srgbClr val="1E1E1E"/>
                </a:solidFill>
                <a:latin typeface="Inter"/>
              </a:defRPr>
            </a:pPr>
            <a:r>
              <a:t>Introduced a standardized protocol for connecting AI models with external tools and resources.</a:t>
            </a:r>
          </a:p>
        </p:txBody>
      </p:sp>
      <p:sp>
        <p:nvSpPr>
          <p:cNvPr id="52" name="TextBox 51"/>
          <p:cNvSpPr txBox="1"/>
          <p:nvPr/>
        </p:nvSpPr>
        <p:spPr>
          <a:xfrm>
            <a:off x="6400800" y="3511296"/>
            <a:ext cx="2377439" cy="612648"/>
          </a:xfrm>
          <a:prstGeom prst="rect">
            <a:avLst/>
          </a:prstGeom>
          <a:noFill/>
        </p:spPr>
        <p:txBody>
          <a:bodyPr wrap="square" lIns="0" tIns="0" rIns="0" bIns="0">
            <a:spAutoFit/>
          </a:bodyPr>
          <a:lstStyle/>
          <a:p>
            <a:pPr>
              <a:lnSpc>
                <a:spcPts val="1150"/>
              </a:lnSpc>
              <a:defRPr sz="850">
                <a:solidFill>
                  <a:srgbClr val="1E1E1E"/>
                </a:solidFill>
                <a:latin typeface="Inter"/>
              </a:defRPr>
            </a:pPr>
            <a:r>
              <a:t>Designed for model-tool interaction rather than communication among independent AI infrastructures.</a:t>
            </a:r>
          </a:p>
        </p:txBody>
      </p:sp>
      <p:sp>
        <p:nvSpPr>
          <p:cNvPr id="53" name="TextBox 52"/>
          <p:cNvSpPr txBox="1"/>
          <p:nvPr/>
        </p:nvSpPr>
        <p:spPr>
          <a:xfrm>
            <a:off x="8961119" y="3511296"/>
            <a:ext cx="2407615" cy="612648"/>
          </a:xfrm>
          <a:prstGeom prst="rect">
            <a:avLst/>
          </a:prstGeom>
          <a:noFill/>
        </p:spPr>
        <p:txBody>
          <a:bodyPr wrap="square" lIns="0" tIns="0" rIns="0" bIns="0">
            <a:spAutoFit/>
          </a:bodyPr>
          <a:lstStyle/>
          <a:p>
            <a:pPr>
              <a:lnSpc>
                <a:spcPts val="1150"/>
              </a:lnSpc>
              <a:defRPr sz="850">
                <a:solidFill>
                  <a:srgbClr val="1E1E1E"/>
                </a:solidFill>
                <a:latin typeface="Inter"/>
              </a:defRPr>
            </a:pPr>
            <a:r>
              <a:t>Extend standardized communication to AI-to-AI collaboration across organizations.</a:t>
            </a:r>
          </a:p>
        </p:txBody>
      </p:sp>
      <p:sp>
        <p:nvSpPr>
          <p:cNvPr id="54" name="Rectangle 53"/>
          <p:cNvSpPr/>
          <p:nvPr/>
        </p:nvSpPr>
        <p:spPr>
          <a:xfrm>
            <a:off x="731520" y="4846320"/>
            <a:ext cx="10728655" cy="13716"/>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813816" y="4251959"/>
            <a:ext cx="109728" cy="146304"/>
          </a:xfrm>
          <a:prstGeom prst="rect">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841248" y="4306824"/>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41248" y="4343399"/>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051560" y="4197096"/>
            <a:ext cx="2651760" cy="612648"/>
          </a:xfrm>
          <a:prstGeom prst="rect">
            <a:avLst/>
          </a:prstGeom>
          <a:noFill/>
        </p:spPr>
        <p:txBody>
          <a:bodyPr wrap="square" lIns="0" tIns="0" rIns="0" bIns="0">
            <a:spAutoFit/>
          </a:bodyPr>
          <a:lstStyle/>
          <a:p>
            <a:pPr>
              <a:lnSpc>
                <a:spcPts val="1100"/>
              </a:lnSpc>
              <a:defRPr sz="950" b="1">
                <a:solidFill>
                  <a:srgbClr val="1E1E1E"/>
                </a:solidFill>
                <a:latin typeface="Inter"/>
              </a:defRPr>
            </a:pPr>
            <a:r>
              <a:t>The Rise and Potential of Large</a:t>
            </a:r>
            <a:br/>
            <a:r>
              <a:t>Language Model Based Agents:</a:t>
            </a:r>
            <a:br/>
            <a:r>
              <a:t>A Survey</a:t>
            </a:r>
          </a:p>
          <a:p>
            <a:pPr>
              <a:defRPr sz="850">
                <a:solidFill>
                  <a:srgbClr val="1E1E1E"/>
                </a:solidFill>
                <a:latin typeface="Inter"/>
              </a:defRPr>
            </a:pPr>
            <a:r>
              <a:t>Xi et al.</a:t>
            </a:r>
          </a:p>
          <a:p>
            <a:pPr>
              <a:defRPr sz="750" i="1">
                <a:solidFill>
                  <a:srgbClr val="78787D"/>
                </a:solidFill>
                <a:latin typeface="Inter"/>
              </a:defRPr>
            </a:pPr>
            <a:r>
              <a:t>arXiv, 2023</a:t>
            </a:r>
          </a:p>
        </p:txBody>
      </p:sp>
      <p:sp>
        <p:nvSpPr>
          <p:cNvPr id="59" name="TextBox 58"/>
          <p:cNvSpPr txBox="1"/>
          <p:nvPr/>
        </p:nvSpPr>
        <p:spPr>
          <a:xfrm>
            <a:off x="3840479" y="4197096"/>
            <a:ext cx="2377439" cy="612648"/>
          </a:xfrm>
          <a:prstGeom prst="rect">
            <a:avLst/>
          </a:prstGeom>
          <a:noFill/>
        </p:spPr>
        <p:txBody>
          <a:bodyPr wrap="square" lIns="0" tIns="0" rIns="0" bIns="0">
            <a:spAutoFit/>
          </a:bodyPr>
          <a:lstStyle/>
          <a:p>
            <a:pPr>
              <a:lnSpc>
                <a:spcPts val="1150"/>
              </a:lnSpc>
              <a:defRPr sz="850">
                <a:solidFill>
                  <a:srgbClr val="1E1E1E"/>
                </a:solidFill>
                <a:latin typeface="Inter"/>
              </a:defRPr>
            </a:pPr>
            <a:r>
              <a:t>Reviews autonomous AI agents, memory, planning, reasoning, and tool usage.</a:t>
            </a:r>
          </a:p>
        </p:txBody>
      </p:sp>
      <p:sp>
        <p:nvSpPr>
          <p:cNvPr id="60" name="TextBox 59"/>
          <p:cNvSpPr txBox="1"/>
          <p:nvPr/>
        </p:nvSpPr>
        <p:spPr>
          <a:xfrm>
            <a:off x="6400800" y="4197096"/>
            <a:ext cx="2377439" cy="612648"/>
          </a:xfrm>
          <a:prstGeom prst="rect">
            <a:avLst/>
          </a:prstGeom>
          <a:noFill/>
        </p:spPr>
        <p:txBody>
          <a:bodyPr wrap="square" lIns="0" tIns="0" rIns="0" bIns="0">
            <a:spAutoFit/>
          </a:bodyPr>
          <a:lstStyle/>
          <a:p>
            <a:pPr>
              <a:lnSpc>
                <a:spcPts val="1150"/>
              </a:lnSpc>
              <a:defRPr sz="850">
                <a:solidFill>
                  <a:srgbClr val="1E1E1E"/>
                </a:solidFill>
                <a:latin typeface="Inter"/>
              </a:defRPr>
            </a:pPr>
            <a:r>
              <a:t>Primarily focuses on standalone intelligent agents without large-scale inter-organizational collaboration.</a:t>
            </a:r>
          </a:p>
        </p:txBody>
      </p:sp>
      <p:sp>
        <p:nvSpPr>
          <p:cNvPr id="61" name="TextBox 60"/>
          <p:cNvSpPr txBox="1"/>
          <p:nvPr/>
        </p:nvSpPr>
        <p:spPr>
          <a:xfrm>
            <a:off x="8961119" y="4197096"/>
            <a:ext cx="2407615" cy="612648"/>
          </a:xfrm>
          <a:prstGeom prst="rect">
            <a:avLst/>
          </a:prstGeom>
          <a:noFill/>
        </p:spPr>
        <p:txBody>
          <a:bodyPr wrap="square" lIns="0" tIns="0" rIns="0" bIns="0">
            <a:spAutoFit/>
          </a:bodyPr>
          <a:lstStyle/>
          <a:p>
            <a:pPr>
              <a:lnSpc>
                <a:spcPts val="1150"/>
              </a:lnSpc>
              <a:defRPr sz="850">
                <a:solidFill>
                  <a:srgbClr val="1E1E1E"/>
                </a:solidFill>
                <a:latin typeface="Inter"/>
              </a:defRPr>
            </a:pPr>
            <a:r>
              <a:t>Build an infrastructure where autonomous agents can securely discover and collaborate with each other.</a:t>
            </a:r>
          </a:p>
        </p:txBody>
      </p:sp>
      <p:sp>
        <p:nvSpPr>
          <p:cNvPr id="62" name="Rectangle 61"/>
          <p:cNvSpPr/>
          <p:nvPr/>
        </p:nvSpPr>
        <p:spPr>
          <a:xfrm>
            <a:off x="731520" y="5532120"/>
            <a:ext cx="10728655" cy="13716"/>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813816" y="4937759"/>
            <a:ext cx="109728" cy="146304"/>
          </a:xfrm>
          <a:prstGeom prst="rect">
            <a:avLst/>
          </a:prstGeom>
          <a:noFill/>
          <a:ln w="1270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841248" y="4992624"/>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841248" y="5029199"/>
            <a:ext cx="54864" cy="13716"/>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051560" y="4882896"/>
            <a:ext cx="2651760" cy="612648"/>
          </a:xfrm>
          <a:prstGeom prst="rect">
            <a:avLst/>
          </a:prstGeom>
          <a:noFill/>
        </p:spPr>
        <p:txBody>
          <a:bodyPr wrap="square" lIns="0" tIns="0" rIns="0" bIns="0">
            <a:spAutoFit/>
          </a:bodyPr>
          <a:lstStyle/>
          <a:p>
            <a:pPr>
              <a:lnSpc>
                <a:spcPts val="1100"/>
              </a:lnSpc>
              <a:defRPr sz="950" b="1">
                <a:solidFill>
                  <a:srgbClr val="1E1E1E"/>
                </a:solidFill>
                <a:latin typeface="Inter"/>
              </a:defRPr>
            </a:pPr>
            <a:r>
              <a:t>Multi-Agent Reinforcement Learning:</a:t>
            </a:r>
            <a:br/>
            <a:r>
              <a:t>A Selective Overview of Theories</a:t>
            </a:r>
            <a:br/>
            <a:r>
              <a:t>and Algorithms</a:t>
            </a:r>
          </a:p>
          <a:p>
            <a:pPr>
              <a:defRPr sz="850">
                <a:solidFill>
                  <a:srgbClr val="1E1E1E"/>
                </a:solidFill>
                <a:latin typeface="Inter"/>
              </a:defRPr>
            </a:pPr>
            <a:r>
              <a:t>Zhang, Yang &amp; Başar</a:t>
            </a:r>
          </a:p>
          <a:p>
            <a:pPr>
              <a:defRPr sz="750" i="1">
                <a:solidFill>
                  <a:srgbClr val="78787D"/>
                </a:solidFill>
                <a:latin typeface="Inter"/>
              </a:defRPr>
            </a:pPr>
            <a:r>
              <a:t>Handbook of Reinforcement Learning and Control, 2021</a:t>
            </a:r>
          </a:p>
        </p:txBody>
      </p:sp>
      <p:sp>
        <p:nvSpPr>
          <p:cNvPr id="67" name="TextBox 66"/>
          <p:cNvSpPr txBox="1"/>
          <p:nvPr/>
        </p:nvSpPr>
        <p:spPr>
          <a:xfrm>
            <a:off x="3840479" y="4882896"/>
            <a:ext cx="2377439" cy="612648"/>
          </a:xfrm>
          <a:prstGeom prst="rect">
            <a:avLst/>
          </a:prstGeom>
          <a:noFill/>
        </p:spPr>
        <p:txBody>
          <a:bodyPr wrap="square" lIns="0" tIns="0" rIns="0" bIns="0">
            <a:spAutoFit/>
          </a:bodyPr>
          <a:lstStyle/>
          <a:p>
            <a:pPr>
              <a:lnSpc>
                <a:spcPts val="1150"/>
              </a:lnSpc>
              <a:defRPr sz="850">
                <a:solidFill>
                  <a:srgbClr val="1E1E1E"/>
                </a:solidFill>
                <a:latin typeface="Inter"/>
              </a:defRPr>
            </a:pPr>
            <a:r>
              <a:t>Presents theories for coordination, cooperation, and communication among multiple agents.</a:t>
            </a:r>
          </a:p>
        </p:txBody>
      </p:sp>
      <p:sp>
        <p:nvSpPr>
          <p:cNvPr id="68" name="TextBox 67"/>
          <p:cNvSpPr txBox="1"/>
          <p:nvPr/>
        </p:nvSpPr>
        <p:spPr>
          <a:xfrm>
            <a:off x="6400800" y="4882896"/>
            <a:ext cx="2377439" cy="612648"/>
          </a:xfrm>
          <a:prstGeom prst="rect">
            <a:avLst/>
          </a:prstGeom>
          <a:noFill/>
        </p:spPr>
        <p:txBody>
          <a:bodyPr wrap="square" lIns="0" tIns="0" rIns="0" bIns="0">
            <a:spAutoFit/>
          </a:bodyPr>
          <a:lstStyle/>
          <a:p>
            <a:pPr>
              <a:lnSpc>
                <a:spcPts val="1150"/>
              </a:lnSpc>
              <a:defRPr sz="850">
                <a:solidFill>
                  <a:srgbClr val="1E1E1E"/>
                </a:solidFill>
                <a:latin typeface="Inter"/>
              </a:defRPr>
            </a:pPr>
            <a:r>
              <a:t>Mainly theoretical and simulation-oriented, with limited support for enterprise-scale distributed AI collaboration.</a:t>
            </a:r>
          </a:p>
        </p:txBody>
      </p:sp>
      <p:sp>
        <p:nvSpPr>
          <p:cNvPr id="69" name="TextBox 68"/>
          <p:cNvSpPr txBox="1"/>
          <p:nvPr/>
        </p:nvSpPr>
        <p:spPr>
          <a:xfrm>
            <a:off x="8961119" y="4882896"/>
            <a:ext cx="2407615" cy="612648"/>
          </a:xfrm>
          <a:prstGeom prst="rect">
            <a:avLst/>
          </a:prstGeom>
          <a:noFill/>
        </p:spPr>
        <p:txBody>
          <a:bodyPr wrap="square" lIns="0" tIns="0" rIns="0" bIns="0">
            <a:spAutoFit/>
          </a:bodyPr>
          <a:lstStyle/>
          <a:p>
            <a:pPr>
              <a:lnSpc>
                <a:spcPts val="1150"/>
              </a:lnSpc>
              <a:defRPr sz="850">
                <a:solidFill>
                  <a:srgbClr val="1E1E1E"/>
                </a:solidFill>
                <a:latin typeface="Inter"/>
              </a:defRPr>
            </a:pPr>
            <a:r>
              <a:t>Apply multi-agent coordination principles to real-world organizational AI ecosystems.</a:t>
            </a:r>
          </a:p>
        </p:txBody>
      </p:sp>
      <p:sp>
        <p:nvSpPr>
          <p:cNvPr id="70" name="Rectangle 69"/>
          <p:cNvSpPr/>
          <p:nvPr/>
        </p:nvSpPr>
        <p:spPr>
          <a:xfrm>
            <a:off x="3749039" y="1005840"/>
            <a:ext cx="4571" cy="4526280"/>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6309360" y="1005840"/>
            <a:ext cx="4571" cy="4526280"/>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8869680" y="1005840"/>
            <a:ext cx="4572" cy="4526280"/>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p:cNvSpPr/>
          <p:nvPr/>
        </p:nvSpPr>
        <p:spPr>
          <a:xfrm>
            <a:off x="731520" y="5687568"/>
            <a:ext cx="10728655" cy="868680"/>
          </a:xfrm>
          <a:prstGeom prst="roundRect">
            <a:avLst/>
          </a:prstGeom>
          <a:solidFill>
            <a:srgbClr val="F6F4EF"/>
          </a:solidFill>
          <a:ln w="1270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960120" y="5897880"/>
            <a:ext cx="457200" cy="457200"/>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1051560" y="5989320"/>
            <a:ext cx="274320" cy="274320"/>
          </a:xfrm>
          <a:prstGeom prst="ellipse">
            <a:avLst/>
          </a:prstGeom>
          <a:solidFill>
            <a:srgbClr val="1F4D3A"/>
          </a:solidFill>
          <a:ln w="1524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143000" y="6080760"/>
            <a:ext cx="91440" cy="91440"/>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536192" y="5943600"/>
            <a:ext cx="914400" cy="365760"/>
          </a:xfrm>
          <a:prstGeom prst="rect">
            <a:avLst/>
          </a:prstGeom>
          <a:noFill/>
        </p:spPr>
        <p:txBody>
          <a:bodyPr wrap="square" lIns="0" tIns="0" rIns="0" bIns="0">
            <a:spAutoFit/>
          </a:bodyPr>
          <a:lstStyle/>
          <a:p>
            <a:pPr>
              <a:lnSpc>
                <a:spcPct val="105000"/>
              </a:lnSpc>
              <a:defRPr sz="1000" b="1">
                <a:solidFill>
                  <a:srgbClr val="1F4D3A"/>
                </a:solidFill>
                <a:latin typeface="Inter"/>
              </a:defRPr>
            </a:pPr>
            <a:r>
              <a:t>RESEARCH</a:t>
            </a:r>
            <a:br/>
            <a:r>
              <a:t>GAP</a:t>
            </a:r>
          </a:p>
        </p:txBody>
      </p:sp>
      <p:sp>
        <p:nvSpPr>
          <p:cNvPr id="78" name="Rectangle 77"/>
          <p:cNvSpPr/>
          <p:nvPr/>
        </p:nvSpPr>
        <p:spPr>
          <a:xfrm>
            <a:off x="2468880" y="5806440"/>
            <a:ext cx="13715" cy="640080"/>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2633472" y="5742432"/>
            <a:ext cx="8686800" cy="777240"/>
          </a:xfrm>
          <a:prstGeom prst="rect">
            <a:avLst/>
          </a:prstGeom>
          <a:noFill/>
        </p:spPr>
        <p:txBody>
          <a:bodyPr wrap="square" lIns="0" tIns="0" rIns="0" bIns="0">
            <a:spAutoFit/>
          </a:bodyPr>
          <a:lstStyle/>
          <a:p>
            <a:pPr>
              <a:lnSpc>
                <a:spcPts val="1120"/>
              </a:lnSpc>
            </a:pPr>
            <a:r>
              <a:rPr sz="850">
                <a:solidFill>
                  <a:srgbClr val="1E1E1E"/>
                </a:solidFill>
                <a:latin typeface="Inter"/>
              </a:rPr>
              <a:t>Although existing research has significantly advanced Federated Learning, Large Language Models, Multi-Agent Systems, AI Agents, and AI communication protocols, these studies solve only specific aspects of distributed intelligence. Current approaches focus on collaborative model training, agent coordination within controlled environments, or interaction between AI models and external tools. </a:t>
            </a:r>
            <a:r>
              <a:rPr sz="850" b="1">
                <a:solidFill>
                  <a:srgbClr val="C66A2B"/>
                </a:solidFill>
                <a:latin typeface="Inter"/>
              </a:rPr>
              <a:t>No existing work provides a unified infrastructure that enables independent AI systems across different organizations to securely discover each other, communicate, share capabilities, coordinate tasks, and collaboratively solve problems while preserving privacy, autonomy, and organizational ownership.</a:t>
            </a:r>
            <a:r>
              <a:rPr sz="850">
                <a:solidFill>
                  <a:srgbClr val="1E1E1E"/>
                </a:solidFill>
                <a:latin typeface="Inter"/>
              </a:rPr>
              <a:t> This gap motivates the development of a distributed intelligence infrastructure for connecting AI ecosystems.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470000" cy="430887"/>
          </a:xfrm>
          <a:prstGeom prst="rect">
            <a:avLst/>
          </a:prstGeom>
          <a:noFill/>
        </p:spPr>
        <p:txBody>
          <a:bodyPr wrap="none">
            <a:spAutoFit/>
          </a:bodyPr>
          <a:lstStyle/>
          <a:p>
            <a:pPr>
              <a:defRPr sz="2200" b="1">
                <a:solidFill>
                  <a:srgbClr val="C66A2B"/>
                </a:solidFill>
                <a:latin typeface="Inter"/>
              </a:defRPr>
            </a:pPr>
            <a:r>
              <a:rPr dirty="0"/>
              <a:t>0</a:t>
            </a:r>
            <a:r>
              <a:rPr lang="en-IN" dirty="0"/>
              <a:t>6</a:t>
            </a:r>
            <a:endParaRPr dirty="0"/>
          </a:p>
        </p:txBody>
      </p:sp>
      <p:sp>
        <p:nvSpPr>
          <p:cNvPr id="3" name="Rectangle 2"/>
          <p:cNvSpPr/>
          <p:nvPr/>
        </p:nvSpPr>
        <p:spPr>
          <a:xfrm>
            <a:off x="1325880" y="384048"/>
            <a:ext cx="9144" cy="329184"/>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63040" y="365760"/>
            <a:ext cx="2743200" cy="457200"/>
          </a:xfrm>
          <a:prstGeom prst="rect">
            <a:avLst/>
          </a:prstGeom>
          <a:noFill/>
        </p:spPr>
        <p:txBody>
          <a:bodyPr wrap="square">
            <a:spAutoFit/>
          </a:bodyPr>
          <a:lstStyle/>
          <a:p>
            <a:pPr>
              <a:lnSpc>
                <a:spcPct val="115000"/>
              </a:lnSpc>
              <a:defRPr sz="850" b="1">
                <a:solidFill>
                  <a:srgbClr val="78787D"/>
                </a:solidFill>
                <a:latin typeface="Inter"/>
              </a:defRPr>
            </a:pPr>
            <a:r>
              <a:t>CONNECTING INTELLIGENCE</a:t>
            </a:r>
            <a:br/>
            <a:r>
              <a:t>ACROSS ORGANIZATIONS</a:t>
            </a:r>
          </a:p>
        </p:txBody>
      </p:sp>
      <p:sp>
        <p:nvSpPr>
          <p:cNvPr id="5" name="Rectangle 4"/>
          <p:cNvSpPr/>
          <p:nvPr/>
        </p:nvSpPr>
        <p:spPr>
          <a:xfrm>
            <a:off x="9418320" y="384048"/>
            <a:ext cx="13715" cy="329184"/>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555480" y="384048"/>
            <a:ext cx="2103120" cy="365760"/>
          </a:xfrm>
          <a:prstGeom prst="rect">
            <a:avLst/>
          </a:prstGeom>
          <a:noFill/>
        </p:spPr>
        <p:txBody>
          <a:bodyPr wrap="none">
            <a:spAutoFit/>
          </a:bodyPr>
          <a:lstStyle/>
          <a:p>
            <a:pPr>
              <a:defRPr sz="1000" b="1">
                <a:solidFill>
                  <a:srgbClr val="1E1E1E"/>
                </a:solidFill>
                <a:latin typeface="Inter"/>
              </a:defRPr>
            </a:pPr>
            <a:r>
              <a:t>IMPLEMENTATION PLAN</a:t>
            </a:r>
          </a:p>
        </p:txBody>
      </p:sp>
      <p:sp>
        <p:nvSpPr>
          <p:cNvPr id="7" name="TextBox 6"/>
          <p:cNvSpPr txBox="1"/>
          <p:nvPr/>
        </p:nvSpPr>
        <p:spPr>
          <a:xfrm>
            <a:off x="1848002" y="1133858"/>
            <a:ext cx="8465515" cy="923330"/>
          </a:xfrm>
          <a:prstGeom prst="rect">
            <a:avLst/>
          </a:prstGeom>
          <a:noFill/>
        </p:spPr>
        <p:txBody>
          <a:bodyPr wrap="square" lIns="0" tIns="0" rIns="0" bIns="0">
            <a:spAutoFit/>
          </a:bodyPr>
          <a:lstStyle/>
          <a:p>
            <a:pPr algn="ctr"/>
            <a:r>
              <a:rPr sz="6000" b="1" dirty="0">
                <a:solidFill>
                  <a:srgbClr val="1E1E1E"/>
                </a:solidFill>
                <a:latin typeface="Sora"/>
              </a:rPr>
              <a:t>IMPLEMENTATION </a:t>
            </a:r>
            <a:r>
              <a:rPr sz="6000" b="1" dirty="0">
                <a:solidFill>
                  <a:srgbClr val="C66A2B"/>
                </a:solidFill>
                <a:latin typeface="Sora"/>
              </a:rPr>
              <a:t>PLAN</a:t>
            </a:r>
          </a:p>
        </p:txBody>
      </p:sp>
      <p:sp>
        <p:nvSpPr>
          <p:cNvPr id="9" name="Rectangle 8"/>
          <p:cNvSpPr/>
          <p:nvPr/>
        </p:nvSpPr>
        <p:spPr>
          <a:xfrm>
            <a:off x="1097280" y="2697480"/>
            <a:ext cx="9997135" cy="1828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28700" y="2441238"/>
            <a:ext cx="502920" cy="502920"/>
          </a:xfrm>
          <a:prstGeom prst="ellipse">
            <a:avLst/>
          </a:prstGeom>
          <a:solidFill>
            <a:srgbClr val="0A0B0C"/>
          </a:solidFill>
          <a:ln w="1905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2610402"/>
            <a:ext cx="365760" cy="274320"/>
          </a:xfrm>
          <a:prstGeom prst="rect">
            <a:avLst/>
          </a:prstGeom>
          <a:noFill/>
        </p:spPr>
        <p:txBody>
          <a:bodyPr wrap="square" lIns="0" tIns="0" rIns="0" bIns="0">
            <a:spAutoFit/>
          </a:bodyPr>
          <a:lstStyle/>
          <a:p>
            <a:pPr algn="ctr">
              <a:defRPr sz="1150" b="1">
                <a:solidFill>
                  <a:srgbClr val="FFFFFF"/>
                </a:solidFill>
                <a:latin typeface="Inter"/>
              </a:defRPr>
            </a:pPr>
            <a:r>
              <a:rPr dirty="0"/>
              <a:t>0</a:t>
            </a:r>
            <a:r>
              <a:rPr lang="en-IN" dirty="0"/>
              <a:t>1</a:t>
            </a:r>
            <a:endParaRPr dirty="0"/>
          </a:p>
        </p:txBody>
      </p:sp>
      <p:sp>
        <p:nvSpPr>
          <p:cNvPr id="12" name="Rectangle 11"/>
          <p:cNvSpPr/>
          <p:nvPr/>
        </p:nvSpPr>
        <p:spPr>
          <a:xfrm>
            <a:off x="1274673" y="3021882"/>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274673" y="3104177"/>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274673" y="3186473"/>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274673" y="3268769"/>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274673" y="3351065"/>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274673" y="3433361"/>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4320" y="3643674"/>
            <a:ext cx="2011680" cy="323165"/>
          </a:xfrm>
          <a:prstGeom prst="rect">
            <a:avLst/>
          </a:prstGeom>
          <a:noFill/>
        </p:spPr>
        <p:txBody>
          <a:bodyPr wrap="square" lIns="0" tIns="0" rIns="0" bIns="0">
            <a:spAutoFit/>
          </a:bodyPr>
          <a:lstStyle/>
          <a:p>
            <a:pPr algn="ctr">
              <a:defRPr sz="1050" b="1">
                <a:solidFill>
                  <a:srgbClr val="1E1E1E"/>
                </a:solidFill>
                <a:latin typeface="Inter"/>
              </a:defRPr>
            </a:pPr>
            <a:r>
              <a:t>RESEARCH &amp;</a:t>
            </a:r>
            <a:br/>
            <a:r>
              <a:t>ANALYSIS</a:t>
            </a:r>
          </a:p>
        </p:txBody>
      </p:sp>
      <p:sp>
        <p:nvSpPr>
          <p:cNvPr id="20" name="TextBox 19"/>
          <p:cNvSpPr txBox="1"/>
          <p:nvPr/>
        </p:nvSpPr>
        <p:spPr>
          <a:xfrm>
            <a:off x="201168" y="4512895"/>
            <a:ext cx="2359152" cy="666849"/>
          </a:xfrm>
          <a:prstGeom prst="rect">
            <a:avLst/>
          </a:prstGeom>
          <a:noFill/>
        </p:spPr>
        <p:txBody>
          <a:bodyPr wrap="square" lIns="0" tIns="0" rIns="0" bIns="0">
            <a:spAutoFit/>
          </a:bodyPr>
          <a:lstStyle/>
          <a:p>
            <a:pPr>
              <a:lnSpc>
                <a:spcPts val="1200"/>
              </a:lnSpc>
              <a:spcAft>
                <a:spcPts val="800"/>
              </a:spcAft>
            </a:pPr>
            <a:r>
              <a:rPr sz="1000" b="1" dirty="0">
                <a:solidFill>
                  <a:srgbClr val="C66A2B"/>
                </a:solidFill>
                <a:latin typeface="Inter"/>
              </a:rPr>
              <a:t>•   </a:t>
            </a:r>
            <a:r>
              <a:rPr sz="950" dirty="0">
                <a:solidFill>
                  <a:srgbClr val="1E1E1E"/>
                </a:solidFill>
                <a:latin typeface="Inter"/>
              </a:rPr>
              <a:t>Identify AI collaboration</a:t>
            </a:r>
            <a:r>
              <a:rPr lang="en-IN" sz="950" dirty="0">
                <a:solidFill>
                  <a:srgbClr val="1E1E1E"/>
                </a:solidFill>
                <a:latin typeface="Inter"/>
              </a:rPr>
              <a:t> </a:t>
            </a:r>
            <a:r>
              <a:rPr sz="950" dirty="0">
                <a:solidFill>
                  <a:srgbClr val="1E1E1E"/>
                </a:solidFill>
                <a:latin typeface="Inter"/>
              </a:rPr>
              <a:t>challenges</a:t>
            </a:r>
          </a:p>
          <a:p>
            <a:pPr>
              <a:lnSpc>
                <a:spcPts val="1200"/>
              </a:lnSpc>
              <a:spcAft>
                <a:spcPts val="800"/>
              </a:spcAft>
            </a:pPr>
            <a:r>
              <a:rPr sz="1000" b="1" dirty="0">
                <a:solidFill>
                  <a:srgbClr val="C66A2B"/>
                </a:solidFill>
                <a:latin typeface="Inter"/>
              </a:rPr>
              <a:t>•   </a:t>
            </a:r>
            <a:r>
              <a:rPr sz="950" dirty="0">
                <a:solidFill>
                  <a:srgbClr val="1E1E1E"/>
                </a:solidFill>
                <a:latin typeface="Inter"/>
              </a:rPr>
              <a:t>Study existing approaches</a:t>
            </a:r>
          </a:p>
          <a:p>
            <a:pPr>
              <a:lnSpc>
                <a:spcPts val="1200"/>
              </a:lnSpc>
              <a:spcAft>
                <a:spcPts val="800"/>
              </a:spcAft>
            </a:pPr>
            <a:r>
              <a:rPr sz="1000" b="1" dirty="0">
                <a:solidFill>
                  <a:srgbClr val="C66A2B"/>
                </a:solidFill>
                <a:latin typeface="Inter"/>
              </a:rPr>
              <a:t>•   </a:t>
            </a:r>
            <a:r>
              <a:rPr sz="950" dirty="0">
                <a:solidFill>
                  <a:srgbClr val="1E1E1E"/>
                </a:solidFill>
                <a:latin typeface="Inter"/>
              </a:rPr>
              <a:t>Define project objectives</a:t>
            </a:r>
            <a:r>
              <a:rPr lang="en-IN" sz="950" dirty="0">
                <a:solidFill>
                  <a:srgbClr val="1E1E1E"/>
                </a:solidFill>
                <a:latin typeface="Inter"/>
              </a:rPr>
              <a:t> </a:t>
            </a:r>
            <a:r>
              <a:rPr sz="950" dirty="0">
                <a:solidFill>
                  <a:srgbClr val="1E1E1E"/>
                </a:solidFill>
                <a:latin typeface="Inter"/>
              </a:rPr>
              <a:t>and</a:t>
            </a:r>
            <a:r>
              <a:rPr lang="en-IN" sz="950" dirty="0">
                <a:solidFill>
                  <a:srgbClr val="1E1E1E"/>
                </a:solidFill>
                <a:latin typeface="Inter"/>
              </a:rPr>
              <a:t> </a:t>
            </a:r>
            <a:r>
              <a:rPr sz="950" dirty="0">
                <a:solidFill>
                  <a:srgbClr val="1E1E1E"/>
                </a:solidFill>
                <a:latin typeface="Inter"/>
              </a:rPr>
              <a:t>requirements</a:t>
            </a:r>
          </a:p>
        </p:txBody>
      </p:sp>
      <p:sp>
        <p:nvSpPr>
          <p:cNvPr id="21" name="Oval 20"/>
          <p:cNvSpPr/>
          <p:nvPr/>
        </p:nvSpPr>
        <p:spPr>
          <a:xfrm>
            <a:off x="3371392" y="2441238"/>
            <a:ext cx="502920" cy="502920"/>
          </a:xfrm>
          <a:prstGeom prst="ellipse">
            <a:avLst/>
          </a:prstGeom>
          <a:solidFill>
            <a:srgbClr val="0A0B0C"/>
          </a:solidFill>
          <a:ln w="1905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34485" y="2603244"/>
            <a:ext cx="365760" cy="274320"/>
          </a:xfrm>
          <a:prstGeom prst="rect">
            <a:avLst/>
          </a:prstGeom>
          <a:noFill/>
        </p:spPr>
        <p:txBody>
          <a:bodyPr wrap="square" lIns="0" tIns="0" rIns="0" bIns="0">
            <a:spAutoFit/>
          </a:bodyPr>
          <a:lstStyle/>
          <a:p>
            <a:pPr algn="ctr">
              <a:defRPr sz="1150" b="1">
                <a:solidFill>
                  <a:srgbClr val="FFFFFF"/>
                </a:solidFill>
                <a:latin typeface="Inter"/>
              </a:defRPr>
            </a:pPr>
            <a:r>
              <a:rPr dirty="0"/>
              <a:t>02</a:t>
            </a:r>
          </a:p>
        </p:txBody>
      </p:sp>
      <p:sp>
        <p:nvSpPr>
          <p:cNvPr id="23" name="Rectangle 22"/>
          <p:cNvSpPr/>
          <p:nvPr/>
        </p:nvSpPr>
        <p:spPr>
          <a:xfrm>
            <a:off x="3617365" y="3021882"/>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17365" y="3104177"/>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617365" y="3186473"/>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617365" y="3268769"/>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617365" y="3351065"/>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617365" y="3433361"/>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617012" y="3643674"/>
            <a:ext cx="2011680" cy="323165"/>
          </a:xfrm>
          <a:prstGeom prst="rect">
            <a:avLst/>
          </a:prstGeom>
          <a:noFill/>
        </p:spPr>
        <p:txBody>
          <a:bodyPr wrap="square" lIns="0" tIns="0" rIns="0" bIns="0">
            <a:spAutoFit/>
          </a:bodyPr>
          <a:lstStyle/>
          <a:p>
            <a:pPr algn="ctr">
              <a:defRPr sz="1050" b="1">
                <a:solidFill>
                  <a:srgbClr val="1E1E1E"/>
                </a:solidFill>
                <a:latin typeface="Inter"/>
              </a:defRPr>
            </a:pPr>
            <a:r>
              <a:t>SYSTEM</a:t>
            </a:r>
            <a:br/>
            <a:r>
              <a:t>DESIGN</a:t>
            </a:r>
          </a:p>
        </p:txBody>
      </p:sp>
      <p:sp>
        <p:nvSpPr>
          <p:cNvPr id="31" name="TextBox 30"/>
          <p:cNvSpPr txBox="1"/>
          <p:nvPr/>
        </p:nvSpPr>
        <p:spPr>
          <a:xfrm>
            <a:off x="2788920" y="4512895"/>
            <a:ext cx="2103120" cy="666849"/>
          </a:xfrm>
          <a:prstGeom prst="rect">
            <a:avLst/>
          </a:prstGeom>
          <a:noFill/>
        </p:spPr>
        <p:txBody>
          <a:bodyPr wrap="square" lIns="0" tIns="0" rIns="0" bIns="0">
            <a:spAutoFit/>
          </a:bodyPr>
          <a:lstStyle/>
          <a:p>
            <a:pPr>
              <a:lnSpc>
                <a:spcPts val="1200"/>
              </a:lnSpc>
              <a:spcAft>
                <a:spcPts val="800"/>
              </a:spcAft>
            </a:pPr>
            <a:r>
              <a:rPr sz="1000" b="1" dirty="0">
                <a:solidFill>
                  <a:srgbClr val="C66A2B"/>
                </a:solidFill>
                <a:latin typeface="Inter"/>
              </a:rPr>
              <a:t>•   </a:t>
            </a:r>
            <a:r>
              <a:rPr sz="950" dirty="0">
                <a:solidFill>
                  <a:srgbClr val="1E1E1E"/>
                </a:solidFill>
                <a:latin typeface="Inter"/>
              </a:rPr>
              <a:t>Design distributed</a:t>
            </a:r>
            <a:r>
              <a:rPr lang="en-IN" sz="950" dirty="0">
                <a:solidFill>
                  <a:srgbClr val="1E1E1E"/>
                </a:solidFill>
                <a:latin typeface="Inter"/>
              </a:rPr>
              <a:t> </a:t>
            </a:r>
            <a:r>
              <a:rPr sz="950" dirty="0">
                <a:solidFill>
                  <a:srgbClr val="1E1E1E"/>
                </a:solidFill>
                <a:latin typeface="Inter"/>
              </a:rPr>
              <a:t>architecture</a:t>
            </a:r>
          </a:p>
          <a:p>
            <a:pPr>
              <a:lnSpc>
                <a:spcPts val="1200"/>
              </a:lnSpc>
              <a:spcAft>
                <a:spcPts val="800"/>
              </a:spcAft>
            </a:pPr>
            <a:r>
              <a:rPr sz="1000" b="1" dirty="0">
                <a:solidFill>
                  <a:srgbClr val="C66A2B"/>
                </a:solidFill>
                <a:latin typeface="Inter"/>
              </a:rPr>
              <a:t>•   </a:t>
            </a:r>
            <a:r>
              <a:rPr sz="950" dirty="0">
                <a:solidFill>
                  <a:srgbClr val="1E1E1E"/>
                </a:solidFill>
                <a:latin typeface="Inter"/>
              </a:rPr>
              <a:t>Define secure</a:t>
            </a:r>
            <a:r>
              <a:rPr lang="en-IN" sz="950" dirty="0">
                <a:solidFill>
                  <a:srgbClr val="1E1E1E"/>
                </a:solidFill>
                <a:latin typeface="Inter"/>
              </a:rPr>
              <a:t> </a:t>
            </a:r>
            <a:r>
              <a:rPr sz="950" dirty="0">
                <a:solidFill>
                  <a:srgbClr val="1E1E1E"/>
                </a:solidFill>
                <a:latin typeface="Inter"/>
              </a:rPr>
              <a:t>communication</a:t>
            </a:r>
          </a:p>
          <a:p>
            <a:pPr>
              <a:lnSpc>
                <a:spcPts val="1200"/>
              </a:lnSpc>
              <a:spcAft>
                <a:spcPts val="800"/>
              </a:spcAft>
            </a:pPr>
            <a:r>
              <a:rPr sz="1000" b="1" dirty="0">
                <a:solidFill>
                  <a:srgbClr val="C66A2B"/>
                </a:solidFill>
                <a:latin typeface="Inter"/>
              </a:rPr>
              <a:t>•   </a:t>
            </a:r>
            <a:r>
              <a:rPr sz="950" dirty="0">
                <a:solidFill>
                  <a:srgbClr val="1E1E1E"/>
                </a:solidFill>
                <a:latin typeface="Inter"/>
              </a:rPr>
              <a:t>Plan collaboration</a:t>
            </a:r>
            <a:r>
              <a:rPr lang="en-IN" sz="950" dirty="0">
                <a:solidFill>
                  <a:srgbClr val="1E1E1E"/>
                </a:solidFill>
                <a:latin typeface="Inter"/>
              </a:rPr>
              <a:t> </a:t>
            </a:r>
            <a:r>
              <a:rPr sz="950" dirty="0">
                <a:solidFill>
                  <a:srgbClr val="1E1E1E"/>
                </a:solidFill>
                <a:latin typeface="Inter"/>
              </a:rPr>
              <a:t>mechanisms</a:t>
            </a:r>
          </a:p>
        </p:txBody>
      </p:sp>
      <p:sp>
        <p:nvSpPr>
          <p:cNvPr id="32" name="Oval 31"/>
          <p:cNvSpPr/>
          <p:nvPr/>
        </p:nvSpPr>
        <p:spPr>
          <a:xfrm>
            <a:off x="5708597" y="2436666"/>
            <a:ext cx="502920" cy="502920"/>
          </a:xfrm>
          <a:prstGeom prst="ellipse">
            <a:avLst/>
          </a:prstGeom>
          <a:solidFill>
            <a:srgbClr val="0A0B0C"/>
          </a:solidFill>
          <a:ln w="1905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771690" y="2603333"/>
            <a:ext cx="365760" cy="274320"/>
          </a:xfrm>
          <a:prstGeom prst="rect">
            <a:avLst/>
          </a:prstGeom>
          <a:noFill/>
        </p:spPr>
        <p:txBody>
          <a:bodyPr wrap="square" lIns="0" tIns="0" rIns="0" bIns="0">
            <a:spAutoFit/>
          </a:bodyPr>
          <a:lstStyle/>
          <a:p>
            <a:pPr algn="ctr">
              <a:defRPr sz="1150" b="1">
                <a:solidFill>
                  <a:srgbClr val="FFFFFF"/>
                </a:solidFill>
                <a:latin typeface="Inter"/>
              </a:defRPr>
            </a:pPr>
            <a:r>
              <a:rPr dirty="0"/>
              <a:t>03</a:t>
            </a:r>
          </a:p>
        </p:txBody>
      </p:sp>
      <p:sp>
        <p:nvSpPr>
          <p:cNvPr id="34" name="Rectangle 33"/>
          <p:cNvSpPr/>
          <p:nvPr/>
        </p:nvSpPr>
        <p:spPr>
          <a:xfrm>
            <a:off x="5954570" y="3017310"/>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954570" y="3099605"/>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954570" y="3181901"/>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954570" y="3264197"/>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954570" y="3346493"/>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954570" y="3428789"/>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954217" y="3639102"/>
            <a:ext cx="2011680" cy="323165"/>
          </a:xfrm>
          <a:prstGeom prst="rect">
            <a:avLst/>
          </a:prstGeom>
          <a:noFill/>
        </p:spPr>
        <p:txBody>
          <a:bodyPr wrap="square" lIns="0" tIns="0" rIns="0" bIns="0">
            <a:spAutoFit/>
          </a:bodyPr>
          <a:lstStyle/>
          <a:p>
            <a:pPr algn="ctr">
              <a:defRPr sz="1050" b="1">
                <a:solidFill>
                  <a:srgbClr val="1E1E1E"/>
                </a:solidFill>
                <a:latin typeface="Inter"/>
              </a:defRPr>
            </a:pPr>
            <a:r>
              <a:rPr dirty="0"/>
              <a:t>PROTOTYPE</a:t>
            </a:r>
            <a:br>
              <a:rPr dirty="0"/>
            </a:br>
            <a:r>
              <a:rPr dirty="0"/>
              <a:t>DEVELOPMENT</a:t>
            </a:r>
          </a:p>
        </p:txBody>
      </p:sp>
      <p:sp>
        <p:nvSpPr>
          <p:cNvPr id="42" name="TextBox 41"/>
          <p:cNvSpPr txBox="1"/>
          <p:nvPr/>
        </p:nvSpPr>
        <p:spPr>
          <a:xfrm>
            <a:off x="5120640" y="4512895"/>
            <a:ext cx="2103120" cy="666849"/>
          </a:xfrm>
          <a:prstGeom prst="rect">
            <a:avLst/>
          </a:prstGeom>
          <a:noFill/>
        </p:spPr>
        <p:txBody>
          <a:bodyPr wrap="square" lIns="0" tIns="0" rIns="0" bIns="0">
            <a:spAutoFit/>
          </a:bodyPr>
          <a:lstStyle/>
          <a:p>
            <a:pPr>
              <a:lnSpc>
                <a:spcPts val="1200"/>
              </a:lnSpc>
              <a:spcAft>
                <a:spcPts val="800"/>
              </a:spcAft>
            </a:pPr>
            <a:r>
              <a:rPr sz="1000" b="1" dirty="0">
                <a:solidFill>
                  <a:srgbClr val="C66A2B"/>
                </a:solidFill>
                <a:latin typeface="Inter"/>
              </a:rPr>
              <a:t>•   </a:t>
            </a:r>
            <a:r>
              <a:rPr sz="950" dirty="0">
                <a:solidFill>
                  <a:srgbClr val="1E1E1E"/>
                </a:solidFill>
                <a:latin typeface="Inter"/>
              </a:rPr>
              <a:t>Develop a proof</a:t>
            </a:r>
            <a:r>
              <a:rPr lang="en-IN" sz="950" dirty="0">
                <a:solidFill>
                  <a:srgbClr val="1E1E1E"/>
                </a:solidFill>
                <a:latin typeface="Inter"/>
              </a:rPr>
              <a:t> </a:t>
            </a:r>
            <a:r>
              <a:rPr sz="950" dirty="0">
                <a:solidFill>
                  <a:srgbClr val="1E1E1E"/>
                </a:solidFill>
                <a:latin typeface="Inter"/>
              </a:rPr>
              <a:t>of concept</a:t>
            </a:r>
          </a:p>
          <a:p>
            <a:pPr>
              <a:lnSpc>
                <a:spcPts val="1200"/>
              </a:lnSpc>
              <a:spcAft>
                <a:spcPts val="800"/>
              </a:spcAft>
            </a:pPr>
            <a:r>
              <a:rPr sz="1000" b="1" dirty="0">
                <a:solidFill>
                  <a:srgbClr val="C66A2B"/>
                </a:solidFill>
                <a:latin typeface="Inter"/>
              </a:rPr>
              <a:t>•   </a:t>
            </a:r>
            <a:r>
              <a:rPr sz="950" dirty="0">
                <a:solidFill>
                  <a:srgbClr val="1E1E1E"/>
                </a:solidFill>
                <a:latin typeface="Inter"/>
              </a:rPr>
              <a:t>Connect multiple</a:t>
            </a:r>
            <a:r>
              <a:rPr lang="en-IN" sz="950" dirty="0">
                <a:solidFill>
                  <a:srgbClr val="1E1E1E"/>
                </a:solidFill>
                <a:latin typeface="Inter"/>
              </a:rPr>
              <a:t> </a:t>
            </a:r>
            <a:r>
              <a:rPr sz="950" dirty="0">
                <a:solidFill>
                  <a:srgbClr val="1E1E1E"/>
                </a:solidFill>
                <a:latin typeface="Inter"/>
              </a:rPr>
              <a:t>AI nodes</a:t>
            </a:r>
          </a:p>
          <a:p>
            <a:pPr>
              <a:lnSpc>
                <a:spcPts val="1200"/>
              </a:lnSpc>
              <a:spcAft>
                <a:spcPts val="800"/>
              </a:spcAft>
            </a:pPr>
            <a:r>
              <a:rPr sz="1000" b="1" dirty="0">
                <a:solidFill>
                  <a:srgbClr val="C66A2B"/>
                </a:solidFill>
                <a:latin typeface="Inter"/>
              </a:rPr>
              <a:t>•   </a:t>
            </a:r>
            <a:r>
              <a:rPr sz="950" dirty="0">
                <a:solidFill>
                  <a:srgbClr val="1E1E1E"/>
                </a:solidFill>
                <a:latin typeface="Inter"/>
              </a:rPr>
              <a:t>Demonstrate secure</a:t>
            </a:r>
            <a:r>
              <a:rPr lang="en-IN" sz="950" dirty="0">
                <a:solidFill>
                  <a:srgbClr val="1E1E1E"/>
                </a:solidFill>
                <a:latin typeface="Inter"/>
              </a:rPr>
              <a:t> </a:t>
            </a:r>
            <a:r>
              <a:rPr sz="950" dirty="0">
                <a:solidFill>
                  <a:srgbClr val="1E1E1E"/>
                </a:solidFill>
                <a:latin typeface="Inter"/>
              </a:rPr>
              <a:t>collaboration</a:t>
            </a:r>
          </a:p>
        </p:txBody>
      </p:sp>
      <p:sp>
        <p:nvSpPr>
          <p:cNvPr id="43" name="Oval 42"/>
          <p:cNvSpPr/>
          <p:nvPr/>
        </p:nvSpPr>
        <p:spPr>
          <a:xfrm>
            <a:off x="8045802" y="2436666"/>
            <a:ext cx="502920" cy="502920"/>
          </a:xfrm>
          <a:prstGeom prst="ellipse">
            <a:avLst/>
          </a:prstGeom>
          <a:solidFill>
            <a:srgbClr val="0A0B0C"/>
          </a:solidFill>
          <a:ln w="1905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114382" y="2595481"/>
            <a:ext cx="365760" cy="274320"/>
          </a:xfrm>
          <a:prstGeom prst="rect">
            <a:avLst/>
          </a:prstGeom>
          <a:noFill/>
        </p:spPr>
        <p:txBody>
          <a:bodyPr wrap="square" lIns="0" tIns="0" rIns="0" bIns="0">
            <a:spAutoFit/>
          </a:bodyPr>
          <a:lstStyle/>
          <a:p>
            <a:pPr algn="ctr">
              <a:defRPr sz="1150" b="1">
                <a:solidFill>
                  <a:srgbClr val="FFFFFF"/>
                </a:solidFill>
                <a:latin typeface="Inter"/>
              </a:defRPr>
            </a:pPr>
            <a:r>
              <a:rPr dirty="0"/>
              <a:t>04</a:t>
            </a:r>
          </a:p>
        </p:txBody>
      </p:sp>
      <p:sp>
        <p:nvSpPr>
          <p:cNvPr id="45" name="Rectangle 44"/>
          <p:cNvSpPr/>
          <p:nvPr/>
        </p:nvSpPr>
        <p:spPr>
          <a:xfrm>
            <a:off x="8291775" y="3017310"/>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291775" y="3099605"/>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8291775" y="3181901"/>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291775" y="3264197"/>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8291775" y="3346493"/>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8291775" y="3428789"/>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291422" y="3639102"/>
            <a:ext cx="2011680" cy="323165"/>
          </a:xfrm>
          <a:prstGeom prst="rect">
            <a:avLst/>
          </a:prstGeom>
          <a:noFill/>
        </p:spPr>
        <p:txBody>
          <a:bodyPr wrap="square" lIns="0" tIns="0" rIns="0" bIns="0">
            <a:spAutoFit/>
          </a:bodyPr>
          <a:lstStyle/>
          <a:p>
            <a:pPr algn="ctr">
              <a:defRPr sz="1050" b="1">
                <a:solidFill>
                  <a:srgbClr val="1E1E1E"/>
                </a:solidFill>
                <a:latin typeface="Inter"/>
              </a:defRPr>
            </a:pPr>
            <a:r>
              <a:rPr dirty="0"/>
              <a:t>TESTING &amp;</a:t>
            </a:r>
            <a:br>
              <a:rPr dirty="0"/>
            </a:br>
            <a:r>
              <a:rPr dirty="0"/>
              <a:t>VALIDATION</a:t>
            </a:r>
          </a:p>
        </p:txBody>
      </p:sp>
      <p:sp>
        <p:nvSpPr>
          <p:cNvPr id="53" name="TextBox 52"/>
          <p:cNvSpPr txBox="1"/>
          <p:nvPr/>
        </p:nvSpPr>
        <p:spPr>
          <a:xfrm>
            <a:off x="7452360" y="4512895"/>
            <a:ext cx="2103120" cy="666849"/>
          </a:xfrm>
          <a:prstGeom prst="rect">
            <a:avLst/>
          </a:prstGeom>
          <a:noFill/>
        </p:spPr>
        <p:txBody>
          <a:bodyPr wrap="square" lIns="0" tIns="0" rIns="0" bIns="0">
            <a:spAutoFit/>
          </a:bodyPr>
          <a:lstStyle/>
          <a:p>
            <a:pPr>
              <a:lnSpc>
                <a:spcPts val="1200"/>
              </a:lnSpc>
              <a:spcAft>
                <a:spcPts val="800"/>
              </a:spcAft>
            </a:pPr>
            <a:r>
              <a:rPr sz="1000" b="1" dirty="0">
                <a:solidFill>
                  <a:srgbClr val="C66A2B"/>
                </a:solidFill>
                <a:latin typeface="Inter"/>
              </a:rPr>
              <a:t>•   </a:t>
            </a:r>
            <a:r>
              <a:rPr sz="950" dirty="0">
                <a:solidFill>
                  <a:srgbClr val="1E1E1E"/>
                </a:solidFill>
                <a:latin typeface="Inter"/>
              </a:rPr>
              <a:t>Test communication</a:t>
            </a:r>
            <a:r>
              <a:rPr lang="en-IN" sz="950" dirty="0">
                <a:solidFill>
                  <a:srgbClr val="1E1E1E"/>
                </a:solidFill>
                <a:latin typeface="Inter"/>
              </a:rPr>
              <a:t> </a:t>
            </a:r>
            <a:r>
              <a:rPr sz="950" dirty="0">
                <a:solidFill>
                  <a:srgbClr val="1E1E1E"/>
                </a:solidFill>
                <a:latin typeface="Inter"/>
              </a:rPr>
              <a:t>reliability</a:t>
            </a:r>
          </a:p>
          <a:p>
            <a:pPr>
              <a:lnSpc>
                <a:spcPts val="1200"/>
              </a:lnSpc>
              <a:spcAft>
                <a:spcPts val="800"/>
              </a:spcAft>
            </a:pPr>
            <a:r>
              <a:rPr sz="1000" b="1" dirty="0">
                <a:solidFill>
                  <a:srgbClr val="C66A2B"/>
                </a:solidFill>
                <a:latin typeface="Inter"/>
              </a:rPr>
              <a:t>•   </a:t>
            </a:r>
            <a:r>
              <a:rPr sz="950" dirty="0">
                <a:solidFill>
                  <a:srgbClr val="1E1E1E"/>
                </a:solidFill>
                <a:latin typeface="Inter"/>
              </a:rPr>
              <a:t>Evaluate system</a:t>
            </a:r>
            <a:r>
              <a:rPr lang="en-IN" sz="950" dirty="0">
                <a:solidFill>
                  <a:srgbClr val="1E1E1E"/>
                </a:solidFill>
                <a:latin typeface="Inter"/>
              </a:rPr>
              <a:t> </a:t>
            </a:r>
            <a:r>
              <a:rPr sz="950" dirty="0">
                <a:solidFill>
                  <a:srgbClr val="1E1E1E"/>
                </a:solidFill>
                <a:latin typeface="Inter"/>
              </a:rPr>
              <a:t>performance</a:t>
            </a:r>
          </a:p>
          <a:p>
            <a:pPr>
              <a:lnSpc>
                <a:spcPts val="1200"/>
              </a:lnSpc>
              <a:spcAft>
                <a:spcPts val="800"/>
              </a:spcAft>
            </a:pPr>
            <a:r>
              <a:rPr sz="1000" b="1" dirty="0">
                <a:solidFill>
                  <a:srgbClr val="C66A2B"/>
                </a:solidFill>
                <a:latin typeface="Inter"/>
              </a:rPr>
              <a:t>•   </a:t>
            </a:r>
            <a:r>
              <a:rPr sz="950" dirty="0">
                <a:solidFill>
                  <a:srgbClr val="1E1E1E"/>
                </a:solidFill>
                <a:latin typeface="Inter"/>
              </a:rPr>
              <a:t>Verify privacy</a:t>
            </a:r>
            <a:r>
              <a:rPr lang="en-IN" sz="950" dirty="0">
                <a:solidFill>
                  <a:srgbClr val="1E1E1E"/>
                </a:solidFill>
                <a:latin typeface="Inter"/>
              </a:rPr>
              <a:t> a</a:t>
            </a:r>
            <a:r>
              <a:rPr sz="950" dirty="0" err="1">
                <a:solidFill>
                  <a:srgbClr val="1E1E1E"/>
                </a:solidFill>
                <a:latin typeface="Inter"/>
              </a:rPr>
              <a:t>nd</a:t>
            </a:r>
            <a:r>
              <a:rPr sz="950" dirty="0">
                <a:solidFill>
                  <a:srgbClr val="1E1E1E"/>
                </a:solidFill>
                <a:latin typeface="Inter"/>
              </a:rPr>
              <a:t> security</a:t>
            </a:r>
          </a:p>
        </p:txBody>
      </p:sp>
      <p:sp>
        <p:nvSpPr>
          <p:cNvPr id="54" name="Oval 53"/>
          <p:cNvSpPr/>
          <p:nvPr/>
        </p:nvSpPr>
        <p:spPr>
          <a:xfrm>
            <a:off x="10591495" y="2423160"/>
            <a:ext cx="502920" cy="502920"/>
          </a:xfrm>
          <a:prstGeom prst="ellipse">
            <a:avLst/>
          </a:prstGeom>
          <a:solidFill>
            <a:srgbClr val="0A0B0C"/>
          </a:solidFill>
          <a:ln w="1905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660075" y="2572621"/>
            <a:ext cx="365760" cy="274320"/>
          </a:xfrm>
          <a:prstGeom prst="rect">
            <a:avLst/>
          </a:prstGeom>
          <a:noFill/>
        </p:spPr>
        <p:txBody>
          <a:bodyPr wrap="square" lIns="0" tIns="0" rIns="0" bIns="0">
            <a:spAutoFit/>
          </a:bodyPr>
          <a:lstStyle/>
          <a:p>
            <a:pPr algn="ctr">
              <a:defRPr sz="1150" b="1">
                <a:solidFill>
                  <a:srgbClr val="FFFFFF"/>
                </a:solidFill>
                <a:latin typeface="Inter"/>
              </a:defRPr>
            </a:pPr>
            <a:r>
              <a:rPr dirty="0"/>
              <a:t>05</a:t>
            </a:r>
          </a:p>
        </p:txBody>
      </p:sp>
      <p:sp>
        <p:nvSpPr>
          <p:cNvPr id="56" name="Rectangle 55"/>
          <p:cNvSpPr/>
          <p:nvPr/>
        </p:nvSpPr>
        <p:spPr>
          <a:xfrm>
            <a:off x="10837468" y="3003804"/>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10837468" y="3086099"/>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10837468" y="3168395"/>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10837468" y="3250691"/>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10837468" y="3332987"/>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10837468" y="3415283"/>
            <a:ext cx="10972" cy="4571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837115" y="3625596"/>
            <a:ext cx="2011680" cy="323165"/>
          </a:xfrm>
          <a:prstGeom prst="rect">
            <a:avLst/>
          </a:prstGeom>
          <a:noFill/>
        </p:spPr>
        <p:txBody>
          <a:bodyPr wrap="square" lIns="0" tIns="0" rIns="0" bIns="0">
            <a:spAutoFit/>
          </a:bodyPr>
          <a:lstStyle/>
          <a:p>
            <a:pPr algn="ctr">
              <a:defRPr sz="1050" b="1">
                <a:solidFill>
                  <a:srgbClr val="1E1E1E"/>
                </a:solidFill>
                <a:latin typeface="Inter"/>
              </a:defRPr>
            </a:pPr>
            <a:r>
              <a:t>FUTURE</a:t>
            </a:r>
            <a:br/>
            <a:r>
              <a:t>EXPANSION</a:t>
            </a:r>
          </a:p>
        </p:txBody>
      </p:sp>
      <p:sp>
        <p:nvSpPr>
          <p:cNvPr id="64" name="TextBox 63"/>
          <p:cNvSpPr txBox="1"/>
          <p:nvPr/>
        </p:nvSpPr>
        <p:spPr>
          <a:xfrm>
            <a:off x="9966959" y="4512897"/>
            <a:ext cx="2103120" cy="666849"/>
          </a:xfrm>
          <a:prstGeom prst="rect">
            <a:avLst/>
          </a:prstGeom>
          <a:noFill/>
        </p:spPr>
        <p:txBody>
          <a:bodyPr wrap="square" lIns="0" tIns="0" rIns="0" bIns="0">
            <a:spAutoFit/>
          </a:bodyPr>
          <a:lstStyle/>
          <a:p>
            <a:pPr>
              <a:lnSpc>
                <a:spcPts val="1200"/>
              </a:lnSpc>
              <a:spcAft>
                <a:spcPts val="800"/>
              </a:spcAft>
            </a:pPr>
            <a:r>
              <a:rPr sz="1000" b="1" dirty="0">
                <a:solidFill>
                  <a:srgbClr val="C66A2B"/>
                </a:solidFill>
                <a:latin typeface="Inter"/>
              </a:rPr>
              <a:t>•   </a:t>
            </a:r>
            <a:r>
              <a:rPr sz="950" dirty="0">
                <a:solidFill>
                  <a:srgbClr val="1E1E1E"/>
                </a:solidFill>
                <a:latin typeface="Inter"/>
              </a:rPr>
              <a:t>Support more</a:t>
            </a:r>
            <a:r>
              <a:rPr lang="en-IN" sz="950" dirty="0">
                <a:solidFill>
                  <a:srgbClr val="1E1E1E"/>
                </a:solidFill>
                <a:latin typeface="Inter"/>
              </a:rPr>
              <a:t> </a:t>
            </a:r>
            <a:r>
              <a:rPr sz="950" dirty="0">
                <a:solidFill>
                  <a:srgbClr val="1E1E1E"/>
                </a:solidFill>
                <a:latin typeface="Inter"/>
              </a:rPr>
              <a:t>organizations</a:t>
            </a:r>
          </a:p>
          <a:p>
            <a:pPr>
              <a:lnSpc>
                <a:spcPts val="1200"/>
              </a:lnSpc>
              <a:spcAft>
                <a:spcPts val="800"/>
              </a:spcAft>
            </a:pPr>
            <a:r>
              <a:rPr sz="1000" b="1" dirty="0">
                <a:solidFill>
                  <a:srgbClr val="C66A2B"/>
                </a:solidFill>
                <a:latin typeface="Inter"/>
              </a:rPr>
              <a:t>•   </a:t>
            </a:r>
            <a:r>
              <a:rPr sz="950" dirty="0">
                <a:solidFill>
                  <a:srgbClr val="1E1E1E"/>
                </a:solidFill>
                <a:latin typeface="Inter"/>
              </a:rPr>
              <a:t>Improve scalability</a:t>
            </a:r>
            <a:r>
              <a:rPr lang="en-IN" sz="950" dirty="0">
                <a:solidFill>
                  <a:srgbClr val="1E1E1E"/>
                </a:solidFill>
                <a:latin typeface="Inter"/>
              </a:rPr>
              <a:t> </a:t>
            </a:r>
            <a:r>
              <a:rPr sz="950" dirty="0">
                <a:solidFill>
                  <a:srgbClr val="1E1E1E"/>
                </a:solidFill>
                <a:latin typeface="Inter"/>
              </a:rPr>
              <a:t>and efficiency</a:t>
            </a:r>
          </a:p>
          <a:p>
            <a:pPr>
              <a:lnSpc>
                <a:spcPts val="1200"/>
              </a:lnSpc>
              <a:spcAft>
                <a:spcPts val="800"/>
              </a:spcAft>
            </a:pPr>
            <a:r>
              <a:rPr sz="1000" b="1" dirty="0">
                <a:solidFill>
                  <a:srgbClr val="C66A2B"/>
                </a:solidFill>
                <a:latin typeface="Inter"/>
              </a:rPr>
              <a:t>•   </a:t>
            </a:r>
            <a:r>
              <a:rPr sz="950" dirty="0">
                <a:solidFill>
                  <a:srgbClr val="1E1E1E"/>
                </a:solidFill>
                <a:latin typeface="Inter"/>
              </a:rPr>
              <a:t>Enable broader</a:t>
            </a:r>
            <a:r>
              <a:rPr lang="en-IN" sz="950" dirty="0">
                <a:solidFill>
                  <a:srgbClr val="1E1E1E"/>
                </a:solidFill>
                <a:latin typeface="Inter"/>
              </a:rPr>
              <a:t> </a:t>
            </a:r>
            <a:r>
              <a:rPr sz="950" dirty="0" err="1">
                <a:solidFill>
                  <a:srgbClr val="1E1E1E"/>
                </a:solidFill>
                <a:latin typeface="Inter"/>
              </a:rPr>
              <a:t>i</a:t>
            </a:r>
            <a:r>
              <a:rPr lang="en-IN" sz="950" dirty="0">
                <a:solidFill>
                  <a:srgbClr val="1E1E1E"/>
                </a:solidFill>
                <a:latin typeface="Inter"/>
              </a:rPr>
              <a:t>n</a:t>
            </a:r>
            <a:r>
              <a:rPr sz="950" dirty="0" err="1">
                <a:solidFill>
                  <a:srgbClr val="1E1E1E"/>
                </a:solidFill>
                <a:latin typeface="Inter"/>
              </a:rPr>
              <a:t>telligent</a:t>
            </a:r>
            <a:r>
              <a:rPr sz="950" dirty="0">
                <a:solidFill>
                  <a:srgbClr val="1E1E1E"/>
                </a:solidFill>
                <a:latin typeface="Inter"/>
              </a:rPr>
              <a:t> collaboration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470000" cy="430887"/>
          </a:xfrm>
          <a:prstGeom prst="rect">
            <a:avLst/>
          </a:prstGeom>
          <a:noFill/>
        </p:spPr>
        <p:txBody>
          <a:bodyPr wrap="none">
            <a:spAutoFit/>
          </a:bodyPr>
          <a:lstStyle/>
          <a:p>
            <a:pPr>
              <a:defRPr sz="2200" b="1">
                <a:solidFill>
                  <a:srgbClr val="C66A2B"/>
                </a:solidFill>
                <a:latin typeface="Inter"/>
              </a:defRPr>
            </a:pPr>
            <a:r>
              <a:rPr dirty="0"/>
              <a:t>0</a:t>
            </a:r>
            <a:r>
              <a:rPr lang="en-IN" dirty="0"/>
              <a:t>7</a:t>
            </a:r>
            <a:endParaRPr dirty="0"/>
          </a:p>
        </p:txBody>
      </p:sp>
      <p:sp>
        <p:nvSpPr>
          <p:cNvPr id="3" name="Rectangle 2"/>
          <p:cNvSpPr/>
          <p:nvPr/>
        </p:nvSpPr>
        <p:spPr>
          <a:xfrm>
            <a:off x="1325880" y="384048"/>
            <a:ext cx="9144" cy="329184"/>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63040" y="365760"/>
            <a:ext cx="2743200" cy="457200"/>
          </a:xfrm>
          <a:prstGeom prst="rect">
            <a:avLst/>
          </a:prstGeom>
          <a:noFill/>
        </p:spPr>
        <p:txBody>
          <a:bodyPr wrap="square">
            <a:spAutoFit/>
          </a:bodyPr>
          <a:lstStyle/>
          <a:p>
            <a:pPr>
              <a:lnSpc>
                <a:spcPct val="115000"/>
              </a:lnSpc>
              <a:defRPr sz="850" b="1">
                <a:solidFill>
                  <a:srgbClr val="78787D"/>
                </a:solidFill>
                <a:latin typeface="Inter"/>
              </a:defRPr>
            </a:pPr>
            <a:r>
              <a:t>CONNECTING INTELLIGENCE</a:t>
            </a:r>
            <a:br/>
            <a:r>
              <a:t>ACROSS ORGANIZATIONS</a:t>
            </a:r>
          </a:p>
        </p:txBody>
      </p:sp>
      <p:sp>
        <p:nvSpPr>
          <p:cNvPr id="5" name="Rectangle 4"/>
          <p:cNvSpPr/>
          <p:nvPr/>
        </p:nvSpPr>
        <p:spPr>
          <a:xfrm>
            <a:off x="10058400" y="384048"/>
            <a:ext cx="13716" cy="329184"/>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195560" y="384048"/>
            <a:ext cx="1828800" cy="365760"/>
          </a:xfrm>
          <a:prstGeom prst="rect">
            <a:avLst/>
          </a:prstGeom>
          <a:noFill/>
        </p:spPr>
        <p:txBody>
          <a:bodyPr wrap="none">
            <a:spAutoFit/>
          </a:bodyPr>
          <a:lstStyle/>
          <a:p>
            <a:pPr>
              <a:defRPr sz="1000" b="1">
                <a:solidFill>
                  <a:srgbClr val="1E1E1E"/>
                </a:solidFill>
                <a:latin typeface="Inter"/>
              </a:defRPr>
            </a:pPr>
            <a:r>
              <a:t>EXPECTED IMPACT</a:t>
            </a:r>
          </a:p>
        </p:txBody>
      </p:sp>
      <p:sp>
        <p:nvSpPr>
          <p:cNvPr id="7" name="TextBox 6"/>
          <p:cNvSpPr txBox="1"/>
          <p:nvPr/>
        </p:nvSpPr>
        <p:spPr>
          <a:xfrm>
            <a:off x="2743200" y="914400"/>
            <a:ext cx="6705295" cy="914400"/>
          </a:xfrm>
          <a:prstGeom prst="rect">
            <a:avLst/>
          </a:prstGeom>
          <a:noFill/>
        </p:spPr>
        <p:txBody>
          <a:bodyPr wrap="square" lIns="0" tIns="0" rIns="0" bIns="0">
            <a:spAutoFit/>
          </a:bodyPr>
          <a:lstStyle/>
          <a:p>
            <a:pPr algn="ctr">
              <a:defRPr sz="4400" b="1">
                <a:solidFill>
                  <a:srgbClr val="1F4D3A"/>
                </a:solidFill>
                <a:latin typeface="Sora"/>
              </a:defRPr>
            </a:pPr>
            <a:r>
              <a:t>EXPECTED IMPACT</a:t>
            </a:r>
          </a:p>
        </p:txBody>
      </p:sp>
      <p:sp>
        <p:nvSpPr>
          <p:cNvPr id="8" name="Rectangle 7"/>
          <p:cNvSpPr/>
          <p:nvPr/>
        </p:nvSpPr>
        <p:spPr>
          <a:xfrm>
            <a:off x="5577840" y="1691640"/>
            <a:ext cx="1005840" cy="18288"/>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0" y="1874519"/>
            <a:ext cx="7619695" cy="640080"/>
          </a:xfrm>
          <a:prstGeom prst="rect">
            <a:avLst/>
          </a:prstGeom>
          <a:noFill/>
        </p:spPr>
        <p:txBody>
          <a:bodyPr wrap="square" lIns="0" tIns="0" rIns="0" bIns="0">
            <a:spAutoFit/>
          </a:bodyPr>
          <a:lstStyle/>
          <a:p>
            <a:pPr algn="ctr">
              <a:lnSpc>
                <a:spcPct val="125000"/>
              </a:lnSpc>
              <a:defRPr sz="1300">
                <a:solidFill>
                  <a:srgbClr val="1E1E1E"/>
                </a:solidFill>
                <a:latin typeface="Inter"/>
              </a:defRPr>
            </a:pPr>
            <a:r>
              <a:t>Building a connected intelligence infrastructure will create value</a:t>
            </a:r>
            <a:br/>
            <a:r>
              <a:t>for organizations, industries, and society at large.</a:t>
            </a:r>
          </a:p>
        </p:txBody>
      </p:sp>
      <p:sp>
        <p:nvSpPr>
          <p:cNvPr id="10" name="Oval 9"/>
          <p:cNvSpPr/>
          <p:nvPr/>
        </p:nvSpPr>
        <p:spPr>
          <a:xfrm>
            <a:off x="1161288" y="2990088"/>
            <a:ext cx="694944" cy="694944"/>
          </a:xfrm>
          <a:prstGeom prst="ellipse">
            <a:avLst/>
          </a:prstGeom>
          <a:noFill/>
          <a:ln w="10160">
            <a:solidFill>
              <a:srgbClr val="1F4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106424" y="2935224"/>
            <a:ext cx="804672" cy="804672"/>
          </a:xfrm>
          <a:prstGeom prst="ellipse">
            <a:avLst/>
          </a:prstGeom>
          <a:noFill/>
          <a:ln w="635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819655" y="3090672"/>
            <a:ext cx="36576" cy="36576"/>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61288" y="3547872"/>
            <a:ext cx="36576" cy="36576"/>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eeform 13"/>
          <p:cNvSpPr/>
          <p:nvPr/>
        </p:nvSpPr>
        <p:spPr>
          <a:xfrm>
            <a:off x="1453895" y="3273552"/>
            <a:ext cx="109729" cy="128016"/>
          </a:xfrm>
          <a:custGeom>
            <a:avLst/>
            <a:gdLst/>
            <a:ahLst/>
            <a:cxnLst/>
            <a:rect l="l" t="t" r="r" b="b"/>
            <a:pathLst>
              <a:path w="109729" h="128016">
                <a:moveTo>
                  <a:pt x="0" y="0"/>
                </a:moveTo>
                <a:lnTo>
                  <a:pt x="109729" y="0"/>
                </a:lnTo>
                <a:lnTo>
                  <a:pt x="109729" y="64008"/>
                </a:lnTo>
                <a:lnTo>
                  <a:pt x="54865" y="128016"/>
                </a:lnTo>
                <a:lnTo>
                  <a:pt x="0" y="64008"/>
                </a:lnTo>
                <a:lnTo>
                  <a:pt x="0" y="0"/>
                </a:lnTo>
                <a:close/>
              </a:path>
            </a:pathLst>
          </a:custGeom>
          <a:noFill/>
          <a:ln w="12700">
            <a:solidFill>
              <a:srgbClr val="1F4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490472" y="3337560"/>
            <a:ext cx="13716" cy="13716"/>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504188" y="3351276"/>
            <a:ext cx="22859" cy="13716"/>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325880" y="3886200"/>
            <a:ext cx="365759" cy="13715"/>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114800"/>
            <a:ext cx="1737360" cy="594360"/>
          </a:xfrm>
          <a:prstGeom prst="rect">
            <a:avLst/>
          </a:prstGeom>
          <a:noFill/>
        </p:spPr>
        <p:txBody>
          <a:bodyPr wrap="square" lIns="0" tIns="0" rIns="0" bIns="0">
            <a:spAutoFit/>
          </a:bodyPr>
          <a:lstStyle/>
          <a:p>
            <a:pPr algn="ctr">
              <a:lnSpc>
                <a:spcPct val="115000"/>
              </a:lnSpc>
              <a:defRPr sz="1050" b="1">
                <a:solidFill>
                  <a:srgbClr val="1F4D3A"/>
                </a:solidFill>
                <a:latin typeface="Inter"/>
              </a:defRPr>
            </a:pPr>
            <a:r>
              <a:t>SECURE</a:t>
            </a:r>
            <a:br/>
            <a:r>
              <a:t>COLLABORATION</a:t>
            </a:r>
          </a:p>
        </p:txBody>
      </p:sp>
      <p:sp>
        <p:nvSpPr>
          <p:cNvPr id="19" name="TextBox 18"/>
          <p:cNvSpPr txBox="1"/>
          <p:nvPr/>
        </p:nvSpPr>
        <p:spPr>
          <a:xfrm>
            <a:off x="640080" y="4846320"/>
            <a:ext cx="1737360" cy="822960"/>
          </a:xfrm>
          <a:prstGeom prst="rect">
            <a:avLst/>
          </a:prstGeom>
          <a:noFill/>
        </p:spPr>
        <p:txBody>
          <a:bodyPr wrap="square" lIns="0" tIns="0" rIns="0" bIns="0">
            <a:spAutoFit/>
          </a:bodyPr>
          <a:lstStyle/>
          <a:p>
            <a:pPr algn="ctr">
              <a:lnSpc>
                <a:spcPct val="125000"/>
              </a:lnSpc>
              <a:defRPr sz="900">
                <a:solidFill>
                  <a:srgbClr val="1E1E1E"/>
                </a:solidFill>
                <a:latin typeface="Inter"/>
              </a:defRPr>
            </a:pPr>
            <a:r>
              <a:t>Organizations can share and collaborate without compromising privacy or control.</a:t>
            </a:r>
          </a:p>
        </p:txBody>
      </p:sp>
      <p:sp>
        <p:nvSpPr>
          <p:cNvPr id="20" name="Oval 19"/>
          <p:cNvSpPr/>
          <p:nvPr/>
        </p:nvSpPr>
        <p:spPr>
          <a:xfrm>
            <a:off x="2944368" y="2990088"/>
            <a:ext cx="694944" cy="694944"/>
          </a:xfrm>
          <a:prstGeom prst="ellipse">
            <a:avLst/>
          </a:prstGeom>
          <a:noFill/>
          <a:ln w="10160">
            <a:solidFill>
              <a:srgbClr val="1F4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889504" y="2935224"/>
            <a:ext cx="804672" cy="804672"/>
          </a:xfrm>
          <a:prstGeom prst="ellipse">
            <a:avLst/>
          </a:prstGeom>
          <a:noFill/>
          <a:ln w="635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3602736" y="3090672"/>
            <a:ext cx="36576" cy="36576"/>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944368" y="3547872"/>
            <a:ext cx="36576" cy="36576"/>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232404" y="3259836"/>
            <a:ext cx="118872" cy="118872"/>
          </a:xfrm>
          <a:prstGeom prst="ellipse">
            <a:avLst/>
          </a:prstGeom>
          <a:noFill/>
          <a:ln w="12700">
            <a:solidFill>
              <a:srgbClr val="1F4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59836" y="3383279"/>
            <a:ext cx="64008" cy="9144"/>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73552" y="3410712"/>
            <a:ext cx="36576" cy="9143"/>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7" name="Connector 26"/>
          <p:cNvCxnSpPr/>
          <p:nvPr/>
        </p:nvCxnSpPr>
        <p:spPr>
          <a:xfrm>
            <a:off x="3364992" y="3319272"/>
            <a:ext cx="36576" cy="0"/>
          </a:xfrm>
          <a:prstGeom prst="line">
            <a:avLst/>
          </a:prstGeom>
          <a:ln w="10160">
            <a:solidFill>
              <a:srgbClr val="1F4D3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343566" y="3370998"/>
            <a:ext cx="25863" cy="25863"/>
          </a:xfrm>
          <a:prstGeom prst="line">
            <a:avLst/>
          </a:prstGeom>
          <a:ln w="10160">
            <a:solidFill>
              <a:srgbClr val="1F4D3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291840" y="3392424"/>
            <a:ext cx="0" cy="36576"/>
          </a:xfrm>
          <a:prstGeom prst="line">
            <a:avLst/>
          </a:prstGeom>
          <a:ln w="10160">
            <a:solidFill>
              <a:srgbClr val="1F4D3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3214250" y="3370998"/>
            <a:ext cx="25863" cy="25863"/>
          </a:xfrm>
          <a:prstGeom prst="line">
            <a:avLst/>
          </a:prstGeom>
          <a:ln w="10160">
            <a:solidFill>
              <a:srgbClr val="1F4D3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3182112" y="3319272"/>
            <a:ext cx="36576" cy="0"/>
          </a:xfrm>
          <a:prstGeom prst="line">
            <a:avLst/>
          </a:prstGeom>
          <a:ln w="10160">
            <a:solidFill>
              <a:srgbClr val="1F4D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3214250" y="3241682"/>
            <a:ext cx="25863" cy="25863"/>
          </a:xfrm>
          <a:prstGeom prst="line">
            <a:avLst/>
          </a:prstGeom>
          <a:ln w="10160">
            <a:solidFill>
              <a:srgbClr val="1F4D3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291840" y="3209544"/>
            <a:ext cx="0" cy="36576"/>
          </a:xfrm>
          <a:prstGeom prst="line">
            <a:avLst/>
          </a:prstGeom>
          <a:ln w="10160">
            <a:solidFill>
              <a:srgbClr val="1F4D3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343566" y="3241682"/>
            <a:ext cx="25863" cy="25863"/>
          </a:xfrm>
          <a:prstGeom prst="line">
            <a:avLst/>
          </a:prstGeom>
          <a:ln w="10160">
            <a:solidFill>
              <a:srgbClr val="1F4D3A"/>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3108960" y="3886200"/>
            <a:ext cx="365760" cy="13715"/>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423160" y="4114800"/>
            <a:ext cx="1737360" cy="594360"/>
          </a:xfrm>
          <a:prstGeom prst="rect">
            <a:avLst/>
          </a:prstGeom>
          <a:noFill/>
        </p:spPr>
        <p:txBody>
          <a:bodyPr wrap="square" lIns="0" tIns="0" rIns="0" bIns="0">
            <a:spAutoFit/>
          </a:bodyPr>
          <a:lstStyle/>
          <a:p>
            <a:pPr algn="ctr">
              <a:lnSpc>
                <a:spcPct val="115000"/>
              </a:lnSpc>
              <a:defRPr sz="1050" b="1">
                <a:solidFill>
                  <a:srgbClr val="1F4D3A"/>
                </a:solidFill>
                <a:latin typeface="Inter"/>
              </a:defRPr>
            </a:pPr>
            <a:r>
              <a:t>FASTER</a:t>
            </a:r>
            <a:br/>
            <a:r>
              <a:t>INNOVATION</a:t>
            </a:r>
          </a:p>
        </p:txBody>
      </p:sp>
      <p:sp>
        <p:nvSpPr>
          <p:cNvPr id="37" name="TextBox 36"/>
          <p:cNvSpPr txBox="1"/>
          <p:nvPr/>
        </p:nvSpPr>
        <p:spPr>
          <a:xfrm>
            <a:off x="2423160" y="4846320"/>
            <a:ext cx="1737360" cy="822960"/>
          </a:xfrm>
          <a:prstGeom prst="rect">
            <a:avLst/>
          </a:prstGeom>
          <a:noFill/>
        </p:spPr>
        <p:txBody>
          <a:bodyPr wrap="square" lIns="0" tIns="0" rIns="0" bIns="0">
            <a:spAutoFit/>
          </a:bodyPr>
          <a:lstStyle/>
          <a:p>
            <a:pPr algn="ctr">
              <a:lnSpc>
                <a:spcPct val="125000"/>
              </a:lnSpc>
              <a:defRPr sz="900">
                <a:solidFill>
                  <a:srgbClr val="1E1E1E"/>
                </a:solidFill>
                <a:latin typeface="Inter"/>
              </a:defRPr>
            </a:pPr>
            <a:r>
              <a:t>Combine diverse intelligence and expertise to solve complex problems faster.</a:t>
            </a:r>
          </a:p>
        </p:txBody>
      </p:sp>
      <p:sp>
        <p:nvSpPr>
          <p:cNvPr id="38" name="Oval 37"/>
          <p:cNvSpPr/>
          <p:nvPr/>
        </p:nvSpPr>
        <p:spPr>
          <a:xfrm>
            <a:off x="4727448" y="2990088"/>
            <a:ext cx="694944" cy="694944"/>
          </a:xfrm>
          <a:prstGeom prst="ellipse">
            <a:avLst/>
          </a:prstGeom>
          <a:noFill/>
          <a:ln w="10160">
            <a:solidFill>
              <a:srgbClr val="1F4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4672583" y="2935224"/>
            <a:ext cx="804672" cy="804672"/>
          </a:xfrm>
          <a:prstGeom prst="ellipse">
            <a:avLst/>
          </a:prstGeom>
          <a:noFill/>
          <a:ln w="635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5385816" y="3090672"/>
            <a:ext cx="36576" cy="36576"/>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727448" y="3547872"/>
            <a:ext cx="36576" cy="36576"/>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5047488" y="3273552"/>
            <a:ext cx="54864" cy="54864"/>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5020056" y="3346703"/>
            <a:ext cx="109728" cy="54864"/>
          </a:xfrm>
          <a:prstGeom prst="round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4997196" y="3323844"/>
            <a:ext cx="45720" cy="45720"/>
          </a:xfrm>
          <a:prstGeom prst="ellipse">
            <a:avLst/>
          </a:prstGeom>
          <a:solidFill>
            <a:srgbClr val="787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4974336" y="3383279"/>
            <a:ext cx="91440" cy="45720"/>
          </a:xfrm>
          <a:prstGeom prst="roundRect">
            <a:avLst/>
          </a:prstGeom>
          <a:solidFill>
            <a:srgbClr val="787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5106923" y="3323844"/>
            <a:ext cx="45720" cy="45720"/>
          </a:xfrm>
          <a:prstGeom prst="ellipse">
            <a:avLst/>
          </a:prstGeom>
          <a:solidFill>
            <a:srgbClr val="787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5084064" y="3383279"/>
            <a:ext cx="91440" cy="45720"/>
          </a:xfrm>
          <a:prstGeom prst="roundRect">
            <a:avLst/>
          </a:prstGeom>
          <a:solidFill>
            <a:srgbClr val="787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892040" y="3886200"/>
            <a:ext cx="365760" cy="13715"/>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206240" y="4114800"/>
            <a:ext cx="1737360" cy="594360"/>
          </a:xfrm>
          <a:prstGeom prst="rect">
            <a:avLst/>
          </a:prstGeom>
          <a:noFill/>
        </p:spPr>
        <p:txBody>
          <a:bodyPr wrap="square" lIns="0" tIns="0" rIns="0" bIns="0">
            <a:spAutoFit/>
          </a:bodyPr>
          <a:lstStyle/>
          <a:p>
            <a:pPr algn="ctr">
              <a:lnSpc>
                <a:spcPct val="115000"/>
              </a:lnSpc>
              <a:defRPr sz="1050" b="1">
                <a:solidFill>
                  <a:srgbClr val="1F4D3A"/>
                </a:solidFill>
                <a:latin typeface="Inter"/>
              </a:defRPr>
            </a:pPr>
            <a:r>
              <a:t>STRONGER</a:t>
            </a:r>
            <a:br/>
            <a:r>
              <a:t>ECOSYSTEM</a:t>
            </a:r>
          </a:p>
        </p:txBody>
      </p:sp>
      <p:sp>
        <p:nvSpPr>
          <p:cNvPr id="50" name="TextBox 49"/>
          <p:cNvSpPr txBox="1"/>
          <p:nvPr/>
        </p:nvSpPr>
        <p:spPr>
          <a:xfrm>
            <a:off x="4206240" y="4846320"/>
            <a:ext cx="1737360" cy="822960"/>
          </a:xfrm>
          <a:prstGeom prst="rect">
            <a:avLst/>
          </a:prstGeom>
          <a:noFill/>
        </p:spPr>
        <p:txBody>
          <a:bodyPr wrap="square" lIns="0" tIns="0" rIns="0" bIns="0">
            <a:spAutoFit/>
          </a:bodyPr>
          <a:lstStyle/>
          <a:p>
            <a:pPr algn="ctr">
              <a:lnSpc>
                <a:spcPct val="125000"/>
              </a:lnSpc>
              <a:defRPr sz="900">
                <a:solidFill>
                  <a:srgbClr val="1E1E1E"/>
                </a:solidFill>
                <a:latin typeface="Inter"/>
              </a:defRPr>
            </a:pPr>
            <a:r>
              <a:t>Build a trusted network of organizations working together toward common goals.</a:t>
            </a:r>
          </a:p>
        </p:txBody>
      </p:sp>
      <p:sp>
        <p:nvSpPr>
          <p:cNvPr id="51" name="Oval 50"/>
          <p:cNvSpPr/>
          <p:nvPr/>
        </p:nvSpPr>
        <p:spPr>
          <a:xfrm>
            <a:off x="6510527" y="2990088"/>
            <a:ext cx="694944" cy="694944"/>
          </a:xfrm>
          <a:prstGeom prst="ellipse">
            <a:avLst/>
          </a:prstGeom>
          <a:noFill/>
          <a:ln w="10160">
            <a:solidFill>
              <a:srgbClr val="1F4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455663" y="2935224"/>
            <a:ext cx="804672" cy="804672"/>
          </a:xfrm>
          <a:prstGeom prst="ellipse">
            <a:avLst/>
          </a:prstGeom>
          <a:noFill/>
          <a:ln w="635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7168896" y="3090672"/>
            <a:ext cx="36576" cy="36576"/>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510527" y="3547872"/>
            <a:ext cx="36576" cy="36576"/>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793991" y="3364991"/>
            <a:ext cx="27432" cy="54864"/>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6848855" y="3328416"/>
            <a:ext cx="27431" cy="91439"/>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6903719" y="3291840"/>
            <a:ext cx="27432" cy="128015"/>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8" name="Connector 57"/>
          <p:cNvCxnSpPr/>
          <p:nvPr/>
        </p:nvCxnSpPr>
        <p:spPr>
          <a:xfrm flipV="1">
            <a:off x="6784847" y="3273552"/>
            <a:ext cx="146304" cy="109727"/>
          </a:xfrm>
          <a:prstGeom prst="line">
            <a:avLst/>
          </a:prstGeom>
          <a:ln w="15240">
            <a:solidFill>
              <a:srgbClr val="C66A2B"/>
            </a:solidFill>
          </a:ln>
        </p:spPr>
        <p:style>
          <a:lnRef idx="2">
            <a:schemeClr val="accent1"/>
          </a:lnRef>
          <a:fillRef idx="0">
            <a:schemeClr val="accent1"/>
          </a:fillRef>
          <a:effectRef idx="1">
            <a:schemeClr val="accent1"/>
          </a:effectRef>
          <a:fontRef idx="minor">
            <a:schemeClr val="tx1"/>
          </a:fontRef>
        </p:style>
      </p:cxnSp>
      <p:sp>
        <p:nvSpPr>
          <p:cNvPr id="59" name="Isosceles Triangle 58"/>
          <p:cNvSpPr/>
          <p:nvPr/>
        </p:nvSpPr>
        <p:spPr>
          <a:xfrm>
            <a:off x="6894575" y="3246120"/>
            <a:ext cx="54864" cy="54864"/>
          </a:xfrm>
          <a:prstGeom prst="triangl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6675119" y="3886200"/>
            <a:ext cx="365760" cy="13715"/>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989319" y="4114800"/>
            <a:ext cx="1737360" cy="594360"/>
          </a:xfrm>
          <a:prstGeom prst="rect">
            <a:avLst/>
          </a:prstGeom>
          <a:noFill/>
        </p:spPr>
        <p:txBody>
          <a:bodyPr wrap="square" lIns="0" tIns="0" rIns="0" bIns="0">
            <a:spAutoFit/>
          </a:bodyPr>
          <a:lstStyle/>
          <a:p>
            <a:pPr algn="ctr">
              <a:lnSpc>
                <a:spcPct val="115000"/>
              </a:lnSpc>
              <a:defRPr sz="1050" b="1">
                <a:solidFill>
                  <a:srgbClr val="1F4D3A"/>
                </a:solidFill>
                <a:latin typeface="Inter"/>
              </a:defRPr>
            </a:pPr>
            <a:r>
              <a:t>GREATER</a:t>
            </a:r>
            <a:br/>
            <a:r>
              <a:t>EFFICIENCY</a:t>
            </a:r>
          </a:p>
        </p:txBody>
      </p:sp>
      <p:sp>
        <p:nvSpPr>
          <p:cNvPr id="62" name="TextBox 61"/>
          <p:cNvSpPr txBox="1"/>
          <p:nvPr/>
        </p:nvSpPr>
        <p:spPr>
          <a:xfrm>
            <a:off x="5989319" y="4846320"/>
            <a:ext cx="1737360" cy="822960"/>
          </a:xfrm>
          <a:prstGeom prst="rect">
            <a:avLst/>
          </a:prstGeom>
          <a:noFill/>
        </p:spPr>
        <p:txBody>
          <a:bodyPr wrap="square" lIns="0" tIns="0" rIns="0" bIns="0">
            <a:spAutoFit/>
          </a:bodyPr>
          <a:lstStyle/>
          <a:p>
            <a:pPr algn="ctr">
              <a:lnSpc>
                <a:spcPct val="125000"/>
              </a:lnSpc>
              <a:defRPr sz="900">
                <a:solidFill>
                  <a:srgbClr val="1E1E1E"/>
                </a:solidFill>
                <a:latin typeface="Inter"/>
              </a:defRPr>
            </a:pPr>
            <a:r>
              <a:t>Reduce duplication of efforts and optimize the use of resources.</a:t>
            </a:r>
          </a:p>
        </p:txBody>
      </p:sp>
      <p:sp>
        <p:nvSpPr>
          <p:cNvPr id="63" name="Oval 62"/>
          <p:cNvSpPr/>
          <p:nvPr/>
        </p:nvSpPr>
        <p:spPr>
          <a:xfrm>
            <a:off x="8293607" y="2990088"/>
            <a:ext cx="694944" cy="694944"/>
          </a:xfrm>
          <a:prstGeom prst="ellipse">
            <a:avLst/>
          </a:prstGeom>
          <a:noFill/>
          <a:ln w="10160">
            <a:solidFill>
              <a:srgbClr val="1F4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8238744" y="2935224"/>
            <a:ext cx="804672" cy="804672"/>
          </a:xfrm>
          <a:prstGeom prst="ellipse">
            <a:avLst/>
          </a:prstGeom>
          <a:noFill/>
          <a:ln w="635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8951976" y="3090672"/>
            <a:ext cx="36576" cy="36576"/>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8293608" y="3547872"/>
            <a:ext cx="36576" cy="36576"/>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8609076" y="3282696"/>
            <a:ext cx="64008" cy="64008"/>
          </a:xfrm>
          <a:prstGeom prst="ellipse">
            <a:avLst/>
          </a:prstGeom>
          <a:noFill/>
          <a:ln w="12700">
            <a:solidFill>
              <a:srgbClr val="1F4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p:cNvSpPr/>
          <p:nvPr/>
        </p:nvSpPr>
        <p:spPr>
          <a:xfrm>
            <a:off x="8595359" y="3328416"/>
            <a:ext cx="91440" cy="73152"/>
          </a:xfrm>
          <a:prstGeom prst="round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8631936" y="3346704"/>
            <a:ext cx="18288" cy="18288"/>
          </a:xfrm>
          <a:prstGeom prst="ellipse">
            <a:avLst/>
          </a:prstGeom>
          <a:solidFill>
            <a:srgbClr val="FCF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8458200" y="3886200"/>
            <a:ext cx="365759" cy="13715"/>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772400" y="4114800"/>
            <a:ext cx="1737360" cy="594360"/>
          </a:xfrm>
          <a:prstGeom prst="rect">
            <a:avLst/>
          </a:prstGeom>
          <a:noFill/>
        </p:spPr>
        <p:txBody>
          <a:bodyPr wrap="square" lIns="0" tIns="0" rIns="0" bIns="0">
            <a:spAutoFit/>
          </a:bodyPr>
          <a:lstStyle/>
          <a:p>
            <a:pPr algn="ctr">
              <a:lnSpc>
                <a:spcPct val="115000"/>
              </a:lnSpc>
              <a:defRPr sz="1050" b="1">
                <a:solidFill>
                  <a:srgbClr val="1F4D3A"/>
                </a:solidFill>
                <a:latin typeface="Inter"/>
              </a:defRPr>
            </a:pPr>
            <a:r>
              <a:t>PRIVACY &amp;</a:t>
            </a:r>
            <a:br/>
            <a:r>
              <a:t>TRUST</a:t>
            </a:r>
          </a:p>
        </p:txBody>
      </p:sp>
      <p:sp>
        <p:nvSpPr>
          <p:cNvPr id="72" name="TextBox 71"/>
          <p:cNvSpPr txBox="1"/>
          <p:nvPr/>
        </p:nvSpPr>
        <p:spPr>
          <a:xfrm>
            <a:off x="7772400" y="4846320"/>
            <a:ext cx="1737360" cy="822960"/>
          </a:xfrm>
          <a:prstGeom prst="rect">
            <a:avLst/>
          </a:prstGeom>
          <a:noFill/>
        </p:spPr>
        <p:txBody>
          <a:bodyPr wrap="square" lIns="0" tIns="0" rIns="0" bIns="0">
            <a:spAutoFit/>
          </a:bodyPr>
          <a:lstStyle/>
          <a:p>
            <a:pPr algn="ctr">
              <a:lnSpc>
                <a:spcPct val="125000"/>
              </a:lnSpc>
              <a:defRPr sz="900">
                <a:solidFill>
                  <a:srgbClr val="1E1E1E"/>
                </a:solidFill>
                <a:latin typeface="Inter"/>
              </a:defRPr>
            </a:pPr>
            <a:r>
              <a:t>Ensure transparency, accountability, and data protection at every step.</a:t>
            </a:r>
          </a:p>
        </p:txBody>
      </p:sp>
      <p:sp>
        <p:nvSpPr>
          <p:cNvPr id="73" name="Oval 72"/>
          <p:cNvSpPr/>
          <p:nvPr/>
        </p:nvSpPr>
        <p:spPr>
          <a:xfrm>
            <a:off x="10076688" y="2990088"/>
            <a:ext cx="694944" cy="694944"/>
          </a:xfrm>
          <a:prstGeom prst="ellipse">
            <a:avLst/>
          </a:prstGeom>
          <a:noFill/>
          <a:ln w="10160">
            <a:solidFill>
              <a:srgbClr val="1F4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10021824" y="2935224"/>
            <a:ext cx="804672" cy="804672"/>
          </a:xfrm>
          <a:prstGeom prst="ellipse">
            <a:avLst/>
          </a:prstGeom>
          <a:noFill/>
          <a:ln w="6350">
            <a:solidFill>
              <a:srgbClr val="DC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10735056" y="3090672"/>
            <a:ext cx="36576" cy="36576"/>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0076688" y="3547872"/>
            <a:ext cx="36576" cy="36576"/>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10355580" y="3268979"/>
            <a:ext cx="137160" cy="137160"/>
          </a:xfrm>
          <a:prstGeom prst="ellipse">
            <a:avLst/>
          </a:prstGeom>
          <a:noFill/>
          <a:ln w="12700">
            <a:solidFill>
              <a:srgbClr val="1F4D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10373868" y="3296412"/>
            <a:ext cx="45720" cy="45720"/>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10428732" y="3332988"/>
            <a:ext cx="45720" cy="45720"/>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10241280" y="3886200"/>
            <a:ext cx="365759" cy="13715"/>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9555480" y="4114800"/>
            <a:ext cx="1737360" cy="594360"/>
          </a:xfrm>
          <a:prstGeom prst="rect">
            <a:avLst/>
          </a:prstGeom>
          <a:noFill/>
        </p:spPr>
        <p:txBody>
          <a:bodyPr wrap="square" lIns="0" tIns="0" rIns="0" bIns="0">
            <a:spAutoFit/>
          </a:bodyPr>
          <a:lstStyle/>
          <a:p>
            <a:pPr algn="ctr">
              <a:lnSpc>
                <a:spcPct val="115000"/>
              </a:lnSpc>
              <a:defRPr sz="1050" b="1">
                <a:solidFill>
                  <a:srgbClr val="1F4D3A"/>
                </a:solidFill>
                <a:latin typeface="Inter"/>
              </a:defRPr>
            </a:pPr>
            <a:r>
              <a:t>SOCIETAL</a:t>
            </a:r>
            <a:br/>
            <a:r>
              <a:t>IMPACT</a:t>
            </a:r>
          </a:p>
        </p:txBody>
      </p:sp>
      <p:sp>
        <p:nvSpPr>
          <p:cNvPr id="82" name="TextBox 81"/>
          <p:cNvSpPr txBox="1"/>
          <p:nvPr/>
        </p:nvSpPr>
        <p:spPr>
          <a:xfrm>
            <a:off x="9555480" y="4846320"/>
            <a:ext cx="1737360" cy="822960"/>
          </a:xfrm>
          <a:prstGeom prst="rect">
            <a:avLst/>
          </a:prstGeom>
          <a:noFill/>
        </p:spPr>
        <p:txBody>
          <a:bodyPr wrap="square" lIns="0" tIns="0" rIns="0" bIns="0">
            <a:spAutoFit/>
          </a:bodyPr>
          <a:lstStyle/>
          <a:p>
            <a:pPr algn="ctr">
              <a:lnSpc>
                <a:spcPct val="125000"/>
              </a:lnSpc>
              <a:defRPr sz="900">
                <a:solidFill>
                  <a:srgbClr val="1E1E1E"/>
                </a:solidFill>
                <a:latin typeface="Inter"/>
              </a:defRPr>
            </a:pPr>
            <a:r>
              <a:t>Drive inclusive growth and create positive impact across industries and communities.</a:t>
            </a:r>
          </a:p>
        </p:txBody>
      </p:sp>
      <p:sp>
        <p:nvSpPr>
          <p:cNvPr id="83" name="Rounded Rectangle 82"/>
          <p:cNvSpPr/>
          <p:nvPr/>
        </p:nvSpPr>
        <p:spPr>
          <a:xfrm>
            <a:off x="731520" y="5760720"/>
            <a:ext cx="10728655" cy="822960"/>
          </a:xfrm>
          <a:prstGeom prst="round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960120" y="5943600"/>
            <a:ext cx="457200" cy="457200"/>
          </a:xfrm>
          <a:prstGeom prst="ellipse">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1051560" y="6035040"/>
            <a:ext cx="274320" cy="274320"/>
          </a:xfrm>
          <a:prstGeom prst="ellipse">
            <a:avLst/>
          </a:prstGeom>
          <a:solidFill>
            <a:srgbClr val="1F4D3A"/>
          </a:solidFill>
          <a:ln w="15240">
            <a:solidFill>
              <a:srgbClr val="C66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1143000" y="6126480"/>
            <a:ext cx="91440" cy="91440"/>
          </a:xfrm>
          <a:prstGeom prst="ellipse">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1645920" y="5897880"/>
            <a:ext cx="13715" cy="548639"/>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1828800" y="5897880"/>
            <a:ext cx="9144000" cy="548640"/>
          </a:xfrm>
          <a:prstGeom prst="rect">
            <a:avLst/>
          </a:prstGeom>
          <a:noFill/>
        </p:spPr>
        <p:txBody>
          <a:bodyPr wrap="square" lIns="0" tIns="0" rIns="0" bIns="0">
            <a:spAutoFit/>
          </a:bodyPr>
          <a:lstStyle/>
          <a:p>
            <a:r>
              <a:rPr sz="1300">
                <a:solidFill>
                  <a:srgbClr val="1E1E1E"/>
                </a:solidFill>
                <a:latin typeface="Libre Baskerville"/>
              </a:rPr>
              <a:t>A connected intelligence ecosystem leads to a smarter, more collaborative, and </a:t>
            </a:r>
            <a:r>
              <a:rPr sz="1300" b="1">
                <a:solidFill>
                  <a:srgbClr val="1F4D3A"/>
                </a:solidFill>
                <a:latin typeface="Libre Baskerville"/>
              </a:rPr>
              <a:t>sustainable future</a:t>
            </a:r>
            <a:r>
              <a:rPr sz="1300">
                <a:solidFill>
                  <a:srgbClr val="1E1E1E"/>
                </a:solidFill>
                <a:latin typeface="Libre Baskerville"/>
              </a:rPr>
              <a:t> for everyone.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470000" cy="430887"/>
          </a:xfrm>
          <a:prstGeom prst="rect">
            <a:avLst/>
          </a:prstGeom>
          <a:noFill/>
        </p:spPr>
        <p:txBody>
          <a:bodyPr wrap="none">
            <a:spAutoFit/>
          </a:bodyPr>
          <a:lstStyle/>
          <a:p>
            <a:pPr>
              <a:defRPr sz="2200" b="1">
                <a:solidFill>
                  <a:srgbClr val="C66A2B"/>
                </a:solidFill>
                <a:latin typeface="Inter"/>
              </a:defRPr>
            </a:pPr>
            <a:r>
              <a:rPr dirty="0"/>
              <a:t>0</a:t>
            </a:r>
            <a:r>
              <a:rPr lang="en-IN" dirty="0"/>
              <a:t>8</a:t>
            </a:r>
            <a:endParaRPr dirty="0"/>
          </a:p>
        </p:txBody>
      </p:sp>
      <p:sp>
        <p:nvSpPr>
          <p:cNvPr id="4" name="Rectangle 3"/>
          <p:cNvSpPr/>
          <p:nvPr/>
        </p:nvSpPr>
        <p:spPr>
          <a:xfrm>
            <a:off x="1325880" y="384048"/>
            <a:ext cx="9144" cy="329184"/>
          </a:xfrm>
          <a:prstGeom prst="rect">
            <a:avLst/>
          </a:prstGeom>
          <a:solidFill>
            <a:srgbClr val="DCD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45920" y="320040"/>
            <a:ext cx="2743200" cy="457200"/>
          </a:xfrm>
          <a:prstGeom prst="rect">
            <a:avLst/>
          </a:prstGeom>
          <a:noFill/>
        </p:spPr>
        <p:txBody>
          <a:bodyPr wrap="square">
            <a:spAutoFit/>
          </a:bodyPr>
          <a:lstStyle/>
          <a:p>
            <a:pPr>
              <a:lnSpc>
                <a:spcPct val="115000"/>
              </a:lnSpc>
              <a:defRPr sz="850" b="1">
                <a:solidFill>
                  <a:srgbClr val="78787D"/>
                </a:solidFill>
                <a:latin typeface="Inter"/>
              </a:defRPr>
            </a:pPr>
            <a:r>
              <a:rPr dirty="0"/>
              <a:t>CONNECTING INTELLIGENCE</a:t>
            </a:r>
            <a:br>
              <a:rPr dirty="0"/>
            </a:br>
            <a:r>
              <a:rPr dirty="0"/>
              <a:t>ACROSS ORGANIZATIONS</a:t>
            </a:r>
          </a:p>
        </p:txBody>
      </p:sp>
      <p:sp>
        <p:nvSpPr>
          <p:cNvPr id="6" name="Rectangle 5"/>
          <p:cNvSpPr/>
          <p:nvPr/>
        </p:nvSpPr>
        <p:spPr>
          <a:xfrm>
            <a:off x="10241280" y="384048"/>
            <a:ext cx="13716" cy="329184"/>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78440" y="384048"/>
            <a:ext cx="1371600" cy="365760"/>
          </a:xfrm>
          <a:prstGeom prst="rect">
            <a:avLst/>
          </a:prstGeom>
          <a:noFill/>
        </p:spPr>
        <p:txBody>
          <a:bodyPr wrap="none">
            <a:spAutoFit/>
          </a:bodyPr>
          <a:lstStyle/>
          <a:p>
            <a:pPr>
              <a:defRPr sz="1000" b="1">
                <a:solidFill>
                  <a:srgbClr val="1E1E1E"/>
                </a:solidFill>
                <a:latin typeface="Inter"/>
              </a:defRPr>
            </a:pPr>
            <a:r>
              <a:t>CONCLUSION</a:t>
            </a:r>
          </a:p>
        </p:txBody>
      </p:sp>
      <p:sp>
        <p:nvSpPr>
          <p:cNvPr id="8" name="TextBox 7"/>
          <p:cNvSpPr txBox="1"/>
          <p:nvPr/>
        </p:nvSpPr>
        <p:spPr>
          <a:xfrm>
            <a:off x="2743200" y="1737360"/>
            <a:ext cx="6705295" cy="1097280"/>
          </a:xfrm>
          <a:prstGeom prst="rect">
            <a:avLst/>
          </a:prstGeom>
          <a:noFill/>
        </p:spPr>
        <p:txBody>
          <a:bodyPr wrap="square" lIns="0" tIns="0" rIns="0" bIns="0">
            <a:spAutoFit/>
          </a:bodyPr>
          <a:lstStyle/>
          <a:p>
            <a:pPr algn="ctr"/>
            <a:r>
              <a:rPr sz="7200" b="1" dirty="0">
                <a:solidFill>
                  <a:srgbClr val="1E1E1E"/>
                </a:solidFill>
                <a:latin typeface="Bebas Neue" panose="020F0502020204030204" pitchFamily="34" charset="0"/>
              </a:rPr>
              <a:t>CONCLU</a:t>
            </a:r>
            <a:r>
              <a:rPr sz="7200" b="1" dirty="0">
                <a:solidFill>
                  <a:srgbClr val="C66A2B"/>
                </a:solidFill>
                <a:latin typeface="Bebas Neue" panose="020F0502020204030204" pitchFamily="34" charset="0"/>
              </a:rPr>
              <a:t>SION</a:t>
            </a:r>
          </a:p>
        </p:txBody>
      </p:sp>
      <p:sp>
        <p:nvSpPr>
          <p:cNvPr id="9" name="Rectangle 8"/>
          <p:cNvSpPr/>
          <p:nvPr/>
        </p:nvSpPr>
        <p:spPr>
          <a:xfrm>
            <a:off x="5449823" y="2816352"/>
            <a:ext cx="1005840" cy="18288"/>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286000" y="3017520"/>
            <a:ext cx="7619695" cy="1371600"/>
          </a:xfrm>
          <a:prstGeom prst="rect">
            <a:avLst/>
          </a:prstGeom>
          <a:noFill/>
        </p:spPr>
        <p:txBody>
          <a:bodyPr wrap="square" lIns="0" tIns="0" rIns="0" bIns="0">
            <a:spAutoFit/>
          </a:bodyPr>
          <a:lstStyle/>
          <a:p>
            <a:pPr algn="ctr">
              <a:lnSpc>
                <a:spcPct val="135000"/>
              </a:lnSpc>
              <a:defRPr sz="1350">
                <a:solidFill>
                  <a:srgbClr val="1E1E1E"/>
                </a:solidFill>
                <a:latin typeface="Inter"/>
              </a:defRPr>
            </a:pPr>
            <a:r>
              <a:rPr dirty="0"/>
              <a:t>Our vision is to build a future where intelligence</a:t>
            </a:r>
            <a:br>
              <a:rPr dirty="0"/>
            </a:br>
            <a:r>
              <a:rPr dirty="0"/>
              <a:t>is not isolated within organizations, but connected</a:t>
            </a:r>
            <a:br>
              <a:rPr dirty="0"/>
            </a:br>
            <a:r>
              <a:rPr dirty="0"/>
              <a:t>across them to create a more collaborative,</a:t>
            </a:r>
            <a:br>
              <a:rPr dirty="0"/>
            </a:br>
            <a:r>
              <a:rPr dirty="0"/>
              <a:t>secure, and intelligent world.</a:t>
            </a:r>
          </a:p>
        </p:txBody>
      </p:sp>
      <p:sp>
        <p:nvSpPr>
          <p:cNvPr id="11" name="Rounded Rectangle 10"/>
          <p:cNvSpPr/>
          <p:nvPr/>
        </p:nvSpPr>
        <p:spPr>
          <a:xfrm>
            <a:off x="1645920" y="5029200"/>
            <a:ext cx="8899855" cy="1371600"/>
          </a:xfrm>
          <a:prstGeom prst="roundRect">
            <a:avLst/>
          </a:prstGeom>
          <a:solidFill>
            <a:srgbClr val="10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20240" y="5166360"/>
            <a:ext cx="8351215" cy="612796"/>
          </a:xfrm>
          <a:prstGeom prst="rect">
            <a:avLst/>
          </a:prstGeom>
          <a:noFill/>
        </p:spPr>
        <p:txBody>
          <a:bodyPr wrap="square" lIns="0" tIns="0" rIns="0" bIns="0">
            <a:spAutoFit/>
          </a:bodyPr>
          <a:lstStyle/>
          <a:p>
            <a:pPr algn="ctr">
              <a:lnSpc>
                <a:spcPct val="150000"/>
              </a:lnSpc>
            </a:pPr>
            <a:r>
              <a:rPr sz="1400" b="1" dirty="0">
                <a:solidFill>
                  <a:srgbClr val="C66A2B"/>
                </a:solidFill>
                <a:latin typeface="Libre Baskerville"/>
              </a:rPr>
              <a:t>“   </a:t>
            </a:r>
            <a:r>
              <a:rPr sz="1400" dirty="0">
                <a:solidFill>
                  <a:srgbClr val="FFFFFF"/>
                </a:solidFill>
                <a:latin typeface="Inter"/>
              </a:rPr>
              <a:t>The future of Artificial Intelligence is not defined by the intelligence
of individual systems, but by their ability to </a:t>
            </a:r>
            <a:r>
              <a:rPr sz="1400" b="1" dirty="0">
                <a:solidFill>
                  <a:srgbClr val="C66A2B"/>
                </a:solidFill>
                <a:latin typeface="Inter"/>
              </a:rPr>
              <a:t>collaborate.</a:t>
            </a:r>
            <a:r>
              <a:rPr sz="1400" b="1" dirty="0">
                <a:solidFill>
                  <a:srgbClr val="C66A2B"/>
                </a:solidFill>
                <a:latin typeface="Libre Baskerville"/>
              </a:rPr>
              <a:t>   ”</a:t>
            </a:r>
          </a:p>
        </p:txBody>
      </p:sp>
      <p:sp>
        <p:nvSpPr>
          <p:cNvPr id="13" name="Rectangle 12"/>
          <p:cNvSpPr/>
          <p:nvPr/>
        </p:nvSpPr>
        <p:spPr>
          <a:xfrm>
            <a:off x="5724144" y="5870448"/>
            <a:ext cx="731519" cy="13715"/>
          </a:xfrm>
          <a:prstGeom prst="rect">
            <a:avLst/>
          </a:prstGeom>
          <a:solidFill>
            <a:srgbClr val="C66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0" y="5961888"/>
            <a:ext cx="4876495" cy="320040"/>
          </a:xfrm>
          <a:prstGeom prst="rect">
            <a:avLst/>
          </a:prstGeom>
          <a:noFill/>
        </p:spPr>
        <p:txBody>
          <a:bodyPr wrap="square" lIns="0" tIns="0" rIns="0" bIns="0">
            <a:spAutoFit/>
          </a:bodyPr>
          <a:lstStyle/>
          <a:p>
            <a:pPr algn="ctr">
              <a:defRPr sz="950" b="1">
                <a:solidFill>
                  <a:srgbClr val="C66A2B"/>
                </a:solidFill>
                <a:latin typeface="Inter"/>
              </a:defRPr>
            </a:pPr>
            <a:r>
              <a:t>CONNECT. COLLABORATE. CREATE IMPACT.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D0AEC-236F-E2C5-08A4-9B64BC9970F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B029BE6-F163-BD18-FC91-727B2612FE2A}"/>
              </a:ext>
            </a:extLst>
          </p:cNvPr>
          <p:cNvSpPr txBox="1"/>
          <p:nvPr/>
        </p:nvSpPr>
        <p:spPr>
          <a:xfrm>
            <a:off x="2743200" y="2880360"/>
            <a:ext cx="6705295" cy="1097280"/>
          </a:xfrm>
          <a:prstGeom prst="rect">
            <a:avLst/>
          </a:prstGeom>
          <a:noFill/>
        </p:spPr>
        <p:txBody>
          <a:bodyPr wrap="square" lIns="0" tIns="0" rIns="0" bIns="0">
            <a:spAutoFit/>
          </a:bodyPr>
          <a:lstStyle/>
          <a:p>
            <a:pPr algn="ctr"/>
            <a:r>
              <a:rPr lang="en-IN" sz="7200" b="1" dirty="0">
                <a:solidFill>
                  <a:srgbClr val="1E1E1E"/>
                </a:solidFill>
                <a:latin typeface="Bebas Neue" panose="020F0502020204030204" pitchFamily="34" charset="0"/>
              </a:rPr>
              <a:t>THANK </a:t>
            </a:r>
            <a:r>
              <a:rPr lang="en-IN" sz="7200" b="1" dirty="0">
                <a:solidFill>
                  <a:srgbClr val="C66A2B"/>
                </a:solidFill>
                <a:latin typeface="Bebas Neue" panose="020F0502020204030204" pitchFamily="34" charset="0"/>
              </a:rPr>
              <a:t>YOU!</a:t>
            </a:r>
            <a:endParaRPr sz="7200" b="1" dirty="0">
              <a:solidFill>
                <a:srgbClr val="C66A2B"/>
              </a:solidFill>
              <a:latin typeface="Bebas Neue" panose="020F0502020204030204" pitchFamily="34" charset="0"/>
            </a:endParaRPr>
          </a:p>
        </p:txBody>
      </p:sp>
    </p:spTree>
    <p:extLst>
      <p:ext uri="{BB962C8B-B14F-4D97-AF65-F5344CB8AC3E}">
        <p14:creationId xmlns:p14="http://schemas.microsoft.com/office/powerpoint/2010/main" val="2731606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143</TotalTime>
  <Words>1261</Words>
  <Application>Microsoft Office PowerPoint</Application>
  <PresentationFormat>Widescreen</PresentationFormat>
  <Paragraphs>165</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Bebas Neue</vt:lpstr>
      <vt:lpstr>Calibri</vt:lpstr>
      <vt:lpstr>Inter</vt:lpstr>
      <vt:lpstr>Libre Baskerville</vt:lpstr>
      <vt:lpstr>Sora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GOKUL S</cp:lastModifiedBy>
  <cp:revision>7</cp:revision>
  <dcterms:created xsi:type="dcterms:W3CDTF">2013-01-27T09:14:16Z</dcterms:created>
  <dcterms:modified xsi:type="dcterms:W3CDTF">2026-08-04T18:57:32Z</dcterms:modified>
  <cp:category/>
</cp:coreProperties>
</file>