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TextBox 1"/>
          <p:cNvSpPr txBox="1"/>
          <p:nvPr/>
        </p:nvSpPr>
        <p:spPr>
          <a:xfrm>
            <a:off x="731520" y="256032"/>
            <a:ext cx="6400800" cy="731520"/>
          </a:xfrm>
          <a:prstGeom prst="rect">
            <a:avLst/>
          </a:prstGeom>
          <a:noFill/>
        </p:spPr>
        <p:txBody>
          <a:bodyPr wrap="square" lIns="0" rIns="0" tIns="0" bIns="0">
            <a:spAutoFit/>
          </a:bodyPr>
          <a:lstStyle/>
          <a:p>
            <a:r>
              <a:rPr sz="3600" b="1">
                <a:solidFill>
                  <a:srgbClr val="1E1E1E"/>
                </a:solidFill>
                <a:latin typeface="Sora"/>
              </a:rPr>
              <a:t>LITERATURE </a:t>
            </a:r>
            <a:r>
              <a:rPr sz="3600" b="1">
                <a:solidFill>
                  <a:srgbClr val="C66A2B"/>
                </a:solidFill>
                <a:latin typeface="Sora"/>
              </a:rPr>
              <a:t>SURVEY</a:t>
            </a:r>
          </a:p>
        </p:txBody>
      </p:sp>
      <p:sp>
        <p:nvSpPr>
          <p:cNvPr id="3" name="Rectangle 2"/>
          <p:cNvSpPr/>
          <p:nvPr/>
        </p:nvSpPr>
        <p:spPr>
          <a:xfrm>
            <a:off x="731520" y="868680"/>
            <a:ext cx="457200" cy="18288"/>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320040"/>
            <a:ext cx="3017520" cy="457200"/>
          </a:xfrm>
          <a:prstGeom prst="rect">
            <a:avLst/>
          </a:prstGeom>
          <a:noFill/>
        </p:spPr>
        <p:txBody>
          <a:bodyPr wrap="square">
            <a:spAutoFit/>
          </a:bodyPr>
          <a:lstStyle/>
          <a:p>
            <a:pPr algn="r">
              <a:lnSpc>
                <a:spcPct val="115000"/>
              </a:lnSpc>
              <a:defRPr sz="850" b="1">
                <a:solidFill>
                  <a:srgbClr val="78787D"/>
                </a:solidFill>
                <a:latin typeface="Inter"/>
              </a:defRPr>
            </a:pPr>
            <a:r>
              <a:t>CONNECTING INTELLIGENCE</a:t>
            </a:r>
            <a:br/>
            <a:r>
              <a:t>ACROSS ORGANIZATIONS</a:t>
            </a:r>
          </a:p>
        </p:txBody>
      </p:sp>
      <p:sp>
        <p:nvSpPr>
          <p:cNvPr id="5" name="Rectangle 4"/>
          <p:cNvSpPr/>
          <p:nvPr/>
        </p:nvSpPr>
        <p:spPr>
          <a:xfrm>
            <a:off x="11430000" y="338328"/>
            <a:ext cx="13716" cy="3200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005840"/>
            <a:ext cx="10728655" cy="411480"/>
          </a:xfrm>
          <a:prstGeom prst="rect">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138428"/>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193292"/>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1248" y="1229868"/>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097280"/>
            <a:ext cx="2651760" cy="274320"/>
          </a:xfrm>
          <a:prstGeom prst="rect">
            <a:avLst/>
          </a:prstGeom>
          <a:noFill/>
        </p:spPr>
        <p:txBody>
          <a:bodyPr wrap="none">
            <a:spAutoFit/>
          </a:bodyPr>
          <a:lstStyle/>
          <a:p>
            <a:pPr>
              <a:defRPr sz="850" b="1">
                <a:solidFill>
                  <a:srgbClr val="C66A2B"/>
                </a:solidFill>
                <a:latin typeface="Inter"/>
              </a:defRPr>
            </a:pPr>
            <a:r>
              <a:t>EXISTING RESEARCH PAPER</a:t>
            </a:r>
          </a:p>
        </p:txBody>
      </p:sp>
      <p:sp>
        <p:nvSpPr>
          <p:cNvPr id="11" name="Oval 10"/>
          <p:cNvSpPr/>
          <p:nvPr/>
        </p:nvSpPr>
        <p:spPr>
          <a:xfrm>
            <a:off x="3840480" y="1165860"/>
            <a:ext cx="91440" cy="9144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863339" y="1188720"/>
            <a:ext cx="45720" cy="4572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69079" y="1097280"/>
            <a:ext cx="2194560" cy="274320"/>
          </a:xfrm>
          <a:prstGeom prst="rect">
            <a:avLst/>
          </a:prstGeom>
          <a:noFill/>
        </p:spPr>
        <p:txBody>
          <a:bodyPr wrap="none">
            <a:spAutoFit/>
          </a:bodyPr>
          <a:lstStyle/>
          <a:p>
            <a:pPr>
              <a:defRPr sz="850" b="1">
                <a:solidFill>
                  <a:srgbClr val="C66A2B"/>
                </a:solidFill>
                <a:latin typeface="Inter"/>
              </a:defRPr>
            </a:pPr>
            <a:r>
              <a:t>KEY CONTRIBUTION</a:t>
            </a:r>
          </a:p>
        </p:txBody>
      </p:sp>
      <p:sp>
        <p:nvSpPr>
          <p:cNvPr id="14" name="Isosceles Triangle 13"/>
          <p:cNvSpPr/>
          <p:nvPr/>
        </p:nvSpPr>
        <p:spPr>
          <a:xfrm>
            <a:off x="6382512" y="1156716"/>
            <a:ext cx="128016" cy="100584"/>
          </a:xfrm>
          <a:prstGeom prst="triangle">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1948" y="1193292"/>
            <a:ext cx="9143" cy="27432"/>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39204" y="1231696"/>
            <a:ext cx="14630" cy="1463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097280"/>
            <a:ext cx="2194560" cy="274320"/>
          </a:xfrm>
          <a:prstGeom prst="rect">
            <a:avLst/>
          </a:prstGeom>
          <a:noFill/>
        </p:spPr>
        <p:txBody>
          <a:bodyPr wrap="none">
            <a:spAutoFit/>
          </a:bodyPr>
          <a:lstStyle/>
          <a:p>
            <a:pPr>
              <a:defRPr sz="850" b="1">
                <a:solidFill>
                  <a:srgbClr val="C66A2B"/>
                </a:solidFill>
                <a:latin typeface="Inter"/>
              </a:defRPr>
            </a:pPr>
            <a:r>
              <a:t>LIMITATION</a:t>
            </a:r>
          </a:p>
        </p:txBody>
      </p:sp>
      <p:sp>
        <p:nvSpPr>
          <p:cNvPr id="18" name="Rectangle 17"/>
          <p:cNvSpPr/>
          <p:nvPr/>
        </p:nvSpPr>
        <p:spPr>
          <a:xfrm>
            <a:off x="8961119" y="1165860"/>
            <a:ext cx="91440" cy="91440"/>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029700" y="1188720"/>
            <a:ext cx="45720" cy="4572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83980" y="1143000"/>
            <a:ext cx="45720" cy="4572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19" y="1097280"/>
            <a:ext cx="2224735" cy="274320"/>
          </a:xfrm>
          <a:prstGeom prst="rect">
            <a:avLst/>
          </a:prstGeom>
          <a:noFill/>
        </p:spPr>
        <p:txBody>
          <a:bodyPr wrap="none">
            <a:spAutoFit/>
          </a:bodyPr>
          <a:lstStyle/>
          <a:p>
            <a:pPr>
              <a:defRPr sz="850" b="1">
                <a:solidFill>
                  <a:srgbClr val="C66A2B"/>
                </a:solidFill>
                <a:latin typeface="Inter"/>
              </a:defRPr>
            </a:pPr>
            <a:r>
              <a:t>RESEARCH GAP ADDRESSED</a:t>
            </a:r>
          </a:p>
        </p:txBody>
      </p:sp>
      <p:sp>
        <p:nvSpPr>
          <p:cNvPr id="22" name="Rectangle 21"/>
          <p:cNvSpPr/>
          <p:nvPr/>
        </p:nvSpPr>
        <p:spPr>
          <a:xfrm>
            <a:off x="731520" y="21031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6" y="1508760"/>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15636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1600200"/>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1453896"/>
            <a:ext cx="2651760" cy="612648"/>
          </a:xfrm>
          <a:prstGeom prst="rect">
            <a:avLst/>
          </a:prstGeom>
          <a:noFill/>
        </p:spPr>
        <p:txBody>
          <a:bodyPr wrap="square" lIns="0" rIns="0" tIns="0" bIns="0">
            <a:spAutoFit/>
          </a:bodyPr>
          <a:lstStyle/>
          <a:p>
            <a:pPr>
              <a:lnSpc>
                <a:spcPts val="1100"/>
              </a:lnSpc>
              <a:defRPr sz="950" b="1">
                <a:solidFill>
                  <a:srgbClr val="1E1E1E"/>
                </a:solidFill>
                <a:latin typeface="Inter"/>
              </a:defRPr>
            </a:pPr>
            <a:r>
              <a:t>Communication-Efficient Learning</a:t>
            </a:r>
            <a:br/>
            <a:r>
              <a:t>of Deep Networks from</a:t>
            </a:r>
            <a:br/>
            <a:r>
              <a:t>Decentralized Data</a:t>
            </a:r>
          </a:p>
          <a:p>
            <a:pPr>
              <a:defRPr sz="850">
                <a:solidFill>
                  <a:srgbClr val="1E1E1E"/>
                </a:solidFill>
                <a:latin typeface="Inter"/>
              </a:defRPr>
            </a:pPr>
            <a:r>
              <a:t>McMahan et al.</a:t>
            </a:r>
          </a:p>
          <a:p>
            <a:pPr>
              <a:defRPr sz="750" i="1">
                <a:solidFill>
                  <a:srgbClr val="78787D"/>
                </a:solidFill>
                <a:latin typeface="Inter"/>
              </a:defRPr>
            </a:pPr>
            <a:r>
              <a:t>AISTATS, 2017</a:t>
            </a:r>
          </a:p>
        </p:txBody>
      </p:sp>
      <p:sp>
        <p:nvSpPr>
          <p:cNvPr id="27" name="TextBox 26"/>
          <p:cNvSpPr txBox="1"/>
          <p:nvPr/>
        </p:nvSpPr>
        <p:spPr>
          <a:xfrm>
            <a:off x="3840479" y="14538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Introduced Federated Learning, enabling collaborative model training without sharing raw data.</a:t>
            </a:r>
          </a:p>
        </p:txBody>
      </p:sp>
      <p:sp>
        <p:nvSpPr>
          <p:cNvPr id="28" name="TextBox 27"/>
          <p:cNvSpPr txBox="1"/>
          <p:nvPr/>
        </p:nvSpPr>
        <p:spPr>
          <a:xfrm>
            <a:off x="6400800" y="14538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Limited to model parameter aggregation; does not support AI-to-AI collaboration or capability sharing.</a:t>
            </a:r>
          </a:p>
        </p:txBody>
      </p:sp>
      <p:sp>
        <p:nvSpPr>
          <p:cNvPr id="29" name="TextBox 28"/>
          <p:cNvSpPr txBox="1"/>
          <p:nvPr/>
        </p:nvSpPr>
        <p:spPr>
          <a:xfrm>
            <a:off x="8961119" y="1453896"/>
            <a:ext cx="2407615" cy="612648"/>
          </a:xfrm>
          <a:prstGeom prst="rect">
            <a:avLst/>
          </a:prstGeom>
          <a:noFill/>
        </p:spPr>
        <p:txBody>
          <a:bodyPr wrap="square" lIns="0" rIns="0" tIns="0" bIns="0">
            <a:spAutoFit/>
          </a:bodyPr>
          <a:lstStyle/>
          <a:p>
            <a:pPr>
              <a:lnSpc>
                <a:spcPts val="1150"/>
              </a:lnSpc>
              <a:defRPr sz="850">
                <a:solidFill>
                  <a:srgbClr val="1E1E1E"/>
                </a:solidFill>
                <a:latin typeface="Inter"/>
              </a:defRPr>
            </a:pPr>
            <a:r>
              <a:t>Need an infrastructure enabling secure collaboration beyond distributed training.</a:t>
            </a:r>
          </a:p>
        </p:txBody>
      </p:sp>
      <p:sp>
        <p:nvSpPr>
          <p:cNvPr id="30" name="Rectangle 29"/>
          <p:cNvSpPr/>
          <p:nvPr/>
        </p:nvSpPr>
        <p:spPr>
          <a:xfrm>
            <a:off x="731520" y="27889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 y="2194560"/>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41248" y="22494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2286000"/>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2139696"/>
            <a:ext cx="2651760" cy="612648"/>
          </a:xfrm>
          <a:prstGeom prst="rect">
            <a:avLst/>
          </a:prstGeom>
          <a:noFill/>
        </p:spPr>
        <p:txBody>
          <a:bodyPr wrap="square" lIns="0" rIns="0" tIns="0" bIns="0">
            <a:spAutoFit/>
          </a:bodyPr>
          <a:lstStyle/>
          <a:p>
            <a:pPr>
              <a:lnSpc>
                <a:spcPts val="1100"/>
              </a:lnSpc>
              <a:defRPr sz="950" b="1">
                <a:solidFill>
                  <a:srgbClr val="1E1E1E"/>
                </a:solidFill>
                <a:latin typeface="Inter"/>
              </a:defRPr>
            </a:pPr>
            <a:r>
              <a:t>A Survey on Large</a:t>
            </a:r>
            <a:br/>
            <a:r>
              <a:t>Language Models</a:t>
            </a:r>
          </a:p>
          <a:p>
            <a:pPr>
              <a:defRPr sz="850">
                <a:solidFill>
                  <a:srgbClr val="1E1E1E"/>
                </a:solidFill>
                <a:latin typeface="Inter"/>
              </a:defRPr>
            </a:pPr>
            <a:r>
              <a:t>Zhao et al.</a:t>
            </a:r>
          </a:p>
          <a:p>
            <a:pPr>
              <a:defRPr sz="750" i="1">
                <a:solidFill>
                  <a:srgbClr val="78787D"/>
                </a:solidFill>
                <a:latin typeface="Inter"/>
              </a:defRPr>
            </a:pPr>
            <a:r>
              <a:t>arXiv, 2023</a:t>
            </a:r>
          </a:p>
        </p:txBody>
      </p:sp>
      <p:sp>
        <p:nvSpPr>
          <p:cNvPr id="35" name="TextBox 34"/>
          <p:cNvSpPr txBox="1"/>
          <p:nvPr/>
        </p:nvSpPr>
        <p:spPr>
          <a:xfrm>
            <a:off x="3840479" y="21396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Comprehensive overview of LLM architectures, capabilities, and applications.</a:t>
            </a:r>
          </a:p>
        </p:txBody>
      </p:sp>
      <p:sp>
        <p:nvSpPr>
          <p:cNvPr id="36" name="TextBox 35"/>
          <p:cNvSpPr txBox="1"/>
          <p:nvPr/>
        </p:nvSpPr>
        <p:spPr>
          <a:xfrm>
            <a:off x="6400800" y="21396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Focuses on individual intelligent models rather than collaboration between independent AI systems.</a:t>
            </a:r>
          </a:p>
        </p:txBody>
      </p:sp>
      <p:sp>
        <p:nvSpPr>
          <p:cNvPr id="37" name="TextBox 36"/>
          <p:cNvSpPr txBox="1"/>
          <p:nvPr/>
        </p:nvSpPr>
        <p:spPr>
          <a:xfrm>
            <a:off x="8961119" y="2139696"/>
            <a:ext cx="2407615" cy="612648"/>
          </a:xfrm>
          <a:prstGeom prst="rect">
            <a:avLst/>
          </a:prstGeom>
          <a:noFill/>
        </p:spPr>
        <p:txBody>
          <a:bodyPr wrap="square" lIns="0" rIns="0" tIns="0" bIns="0">
            <a:spAutoFit/>
          </a:bodyPr>
          <a:lstStyle/>
          <a:p>
            <a:pPr>
              <a:lnSpc>
                <a:spcPts val="1150"/>
              </a:lnSpc>
              <a:defRPr sz="850">
                <a:solidFill>
                  <a:srgbClr val="1E1E1E"/>
                </a:solidFill>
                <a:latin typeface="Inter"/>
              </a:defRPr>
            </a:pPr>
            <a:r>
              <a:t>Enable multiple AI systems to work together across organizational boundaries.</a:t>
            </a:r>
          </a:p>
        </p:txBody>
      </p:sp>
      <p:sp>
        <p:nvSpPr>
          <p:cNvPr id="38" name="Rectangle 37"/>
          <p:cNvSpPr/>
          <p:nvPr/>
        </p:nvSpPr>
        <p:spPr>
          <a:xfrm>
            <a:off x="731520" y="34747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3816" y="2880360"/>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 y="29352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 y="2971800"/>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2825496"/>
            <a:ext cx="2651760" cy="612648"/>
          </a:xfrm>
          <a:prstGeom prst="rect">
            <a:avLst/>
          </a:prstGeom>
          <a:noFill/>
        </p:spPr>
        <p:txBody>
          <a:bodyPr wrap="square" lIns="0" rIns="0" tIns="0" bIns="0">
            <a:spAutoFit/>
          </a:bodyPr>
          <a:lstStyle/>
          <a:p>
            <a:pPr>
              <a:lnSpc>
                <a:spcPts val="1100"/>
              </a:lnSpc>
              <a:defRPr sz="950" b="1">
                <a:solidFill>
                  <a:srgbClr val="1E1E1E"/>
                </a:solidFill>
                <a:latin typeface="Inter"/>
              </a:defRPr>
            </a:pPr>
            <a:r>
              <a:t>AutoGen: Enabling Next-Gen</a:t>
            </a:r>
            <a:br/>
            <a:r>
              <a:t>LLM Applications via</a:t>
            </a:r>
            <a:br/>
            <a:r>
              <a:t>Multi-Agent Conversation</a:t>
            </a:r>
          </a:p>
          <a:p>
            <a:pPr>
              <a:defRPr sz="850">
                <a:solidFill>
                  <a:srgbClr val="1E1E1E"/>
                </a:solidFill>
                <a:latin typeface="Inter"/>
              </a:defRPr>
            </a:pPr>
            <a:r>
              <a:t>Wu et al. (Microsoft)</a:t>
            </a:r>
          </a:p>
          <a:p>
            <a:pPr>
              <a:defRPr sz="750" i="1">
                <a:solidFill>
                  <a:srgbClr val="78787D"/>
                </a:solidFill>
                <a:latin typeface="Inter"/>
              </a:defRPr>
            </a:pPr>
            <a:r>
              <a:t>arXiv, 2023</a:t>
            </a:r>
          </a:p>
        </p:txBody>
      </p:sp>
      <p:sp>
        <p:nvSpPr>
          <p:cNvPr id="43" name="TextBox 42"/>
          <p:cNvSpPr txBox="1"/>
          <p:nvPr/>
        </p:nvSpPr>
        <p:spPr>
          <a:xfrm>
            <a:off x="3840479" y="28254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Demonstrated collaborative problem-solving using multiple AI agents through conversational interaction.</a:t>
            </a:r>
          </a:p>
        </p:txBody>
      </p:sp>
      <p:sp>
        <p:nvSpPr>
          <p:cNvPr id="44" name="TextBox 43"/>
          <p:cNvSpPr txBox="1"/>
          <p:nvPr/>
        </p:nvSpPr>
        <p:spPr>
          <a:xfrm>
            <a:off x="6400800" y="28254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Collaboration is confined to a single application and lacks decentralized organizational support.</a:t>
            </a:r>
          </a:p>
        </p:txBody>
      </p:sp>
      <p:sp>
        <p:nvSpPr>
          <p:cNvPr id="45" name="TextBox 44"/>
          <p:cNvSpPr txBox="1"/>
          <p:nvPr/>
        </p:nvSpPr>
        <p:spPr>
          <a:xfrm>
            <a:off x="8961119" y="2825496"/>
            <a:ext cx="2407615" cy="612648"/>
          </a:xfrm>
          <a:prstGeom prst="rect">
            <a:avLst/>
          </a:prstGeom>
          <a:noFill/>
        </p:spPr>
        <p:txBody>
          <a:bodyPr wrap="square" lIns="0" rIns="0" tIns="0" bIns="0">
            <a:spAutoFit/>
          </a:bodyPr>
          <a:lstStyle/>
          <a:p>
            <a:pPr>
              <a:lnSpc>
                <a:spcPts val="1150"/>
              </a:lnSpc>
              <a:defRPr sz="850">
                <a:solidFill>
                  <a:srgbClr val="1E1E1E"/>
                </a:solidFill>
                <a:latin typeface="Inter"/>
              </a:defRPr>
            </a:pPr>
            <a:r>
              <a:t>Support collaboration between autonomous AI systems owned by different organizations.</a:t>
            </a:r>
          </a:p>
        </p:txBody>
      </p:sp>
      <p:sp>
        <p:nvSpPr>
          <p:cNvPr id="46" name="Rectangle 45"/>
          <p:cNvSpPr/>
          <p:nvPr/>
        </p:nvSpPr>
        <p:spPr>
          <a:xfrm>
            <a:off x="731520" y="41605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3816" y="3566160"/>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41248" y="36210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41248" y="3657600"/>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3511296"/>
            <a:ext cx="2651760" cy="612648"/>
          </a:xfrm>
          <a:prstGeom prst="rect">
            <a:avLst/>
          </a:prstGeom>
          <a:noFill/>
        </p:spPr>
        <p:txBody>
          <a:bodyPr wrap="square" lIns="0" rIns="0" tIns="0" bIns="0">
            <a:spAutoFit/>
          </a:bodyPr>
          <a:lstStyle/>
          <a:p>
            <a:pPr>
              <a:lnSpc>
                <a:spcPts val="1100"/>
              </a:lnSpc>
              <a:defRPr sz="950" b="1">
                <a:solidFill>
                  <a:srgbClr val="1E1E1E"/>
                </a:solidFill>
                <a:latin typeface="Inter"/>
              </a:defRPr>
            </a:pPr>
            <a:r>
              <a:t>Model Context Protocol</a:t>
            </a:r>
          </a:p>
          <a:p>
            <a:pPr>
              <a:defRPr sz="850">
                <a:solidFill>
                  <a:srgbClr val="1E1E1E"/>
                </a:solidFill>
                <a:latin typeface="Inter"/>
              </a:defRPr>
            </a:pPr>
            <a:r>
              <a:t>Anthropic</a:t>
            </a:r>
          </a:p>
          <a:p>
            <a:pPr>
              <a:defRPr sz="750" i="1">
                <a:solidFill>
                  <a:srgbClr val="78787D"/>
                </a:solidFill>
                <a:latin typeface="Inter"/>
              </a:defRPr>
            </a:pPr>
            <a:r>
              <a:t>2024</a:t>
            </a:r>
          </a:p>
        </p:txBody>
      </p:sp>
      <p:sp>
        <p:nvSpPr>
          <p:cNvPr id="51" name="TextBox 50"/>
          <p:cNvSpPr txBox="1"/>
          <p:nvPr/>
        </p:nvSpPr>
        <p:spPr>
          <a:xfrm>
            <a:off x="3840479" y="35112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Introduced a standardized protocol for connecting AI models with external tools and resources.</a:t>
            </a:r>
          </a:p>
        </p:txBody>
      </p:sp>
      <p:sp>
        <p:nvSpPr>
          <p:cNvPr id="52" name="TextBox 51"/>
          <p:cNvSpPr txBox="1"/>
          <p:nvPr/>
        </p:nvSpPr>
        <p:spPr>
          <a:xfrm>
            <a:off x="6400800" y="35112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Designed for model-tool interaction rather than communication among independent AI infrastructures.</a:t>
            </a:r>
          </a:p>
        </p:txBody>
      </p:sp>
      <p:sp>
        <p:nvSpPr>
          <p:cNvPr id="53" name="TextBox 52"/>
          <p:cNvSpPr txBox="1"/>
          <p:nvPr/>
        </p:nvSpPr>
        <p:spPr>
          <a:xfrm>
            <a:off x="8961119" y="3511296"/>
            <a:ext cx="2407615" cy="612648"/>
          </a:xfrm>
          <a:prstGeom prst="rect">
            <a:avLst/>
          </a:prstGeom>
          <a:noFill/>
        </p:spPr>
        <p:txBody>
          <a:bodyPr wrap="square" lIns="0" rIns="0" tIns="0" bIns="0">
            <a:spAutoFit/>
          </a:bodyPr>
          <a:lstStyle/>
          <a:p>
            <a:pPr>
              <a:lnSpc>
                <a:spcPts val="1150"/>
              </a:lnSpc>
              <a:defRPr sz="850">
                <a:solidFill>
                  <a:srgbClr val="1E1E1E"/>
                </a:solidFill>
                <a:latin typeface="Inter"/>
              </a:defRPr>
            </a:pPr>
            <a:r>
              <a:t>Extend standardized communication to AI-to-AI collaboration across organizations.</a:t>
            </a:r>
          </a:p>
        </p:txBody>
      </p:sp>
      <p:sp>
        <p:nvSpPr>
          <p:cNvPr id="54" name="Rectangle 53"/>
          <p:cNvSpPr/>
          <p:nvPr/>
        </p:nvSpPr>
        <p:spPr>
          <a:xfrm>
            <a:off x="731520" y="48463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13816" y="4251959"/>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1248" y="43068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41248" y="4343399"/>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51560" y="4197096"/>
            <a:ext cx="2651760" cy="612648"/>
          </a:xfrm>
          <a:prstGeom prst="rect">
            <a:avLst/>
          </a:prstGeom>
          <a:noFill/>
        </p:spPr>
        <p:txBody>
          <a:bodyPr wrap="square" lIns="0" rIns="0" tIns="0" bIns="0">
            <a:spAutoFit/>
          </a:bodyPr>
          <a:lstStyle/>
          <a:p>
            <a:pPr>
              <a:lnSpc>
                <a:spcPts val="1100"/>
              </a:lnSpc>
              <a:defRPr sz="950" b="1">
                <a:solidFill>
                  <a:srgbClr val="1E1E1E"/>
                </a:solidFill>
                <a:latin typeface="Inter"/>
              </a:defRPr>
            </a:pPr>
            <a:r>
              <a:t>The Rise and Potential of Large</a:t>
            </a:r>
            <a:br/>
            <a:r>
              <a:t>Language Model Based Agents:</a:t>
            </a:r>
            <a:br/>
            <a:r>
              <a:t>A Survey</a:t>
            </a:r>
          </a:p>
          <a:p>
            <a:pPr>
              <a:defRPr sz="850">
                <a:solidFill>
                  <a:srgbClr val="1E1E1E"/>
                </a:solidFill>
                <a:latin typeface="Inter"/>
              </a:defRPr>
            </a:pPr>
            <a:r>
              <a:t>Xi et al.</a:t>
            </a:r>
          </a:p>
          <a:p>
            <a:pPr>
              <a:defRPr sz="750" i="1">
                <a:solidFill>
                  <a:srgbClr val="78787D"/>
                </a:solidFill>
                <a:latin typeface="Inter"/>
              </a:defRPr>
            </a:pPr>
            <a:r>
              <a:t>arXiv, 2023</a:t>
            </a:r>
          </a:p>
        </p:txBody>
      </p:sp>
      <p:sp>
        <p:nvSpPr>
          <p:cNvPr id="59" name="TextBox 58"/>
          <p:cNvSpPr txBox="1"/>
          <p:nvPr/>
        </p:nvSpPr>
        <p:spPr>
          <a:xfrm>
            <a:off x="3840479" y="41970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Reviews autonomous AI agents, memory, planning, reasoning, and tool usage.</a:t>
            </a:r>
          </a:p>
        </p:txBody>
      </p:sp>
      <p:sp>
        <p:nvSpPr>
          <p:cNvPr id="60" name="TextBox 59"/>
          <p:cNvSpPr txBox="1"/>
          <p:nvPr/>
        </p:nvSpPr>
        <p:spPr>
          <a:xfrm>
            <a:off x="6400800" y="41970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Primarily focuses on standalone intelligent agents without large-scale inter-organizational collaboration.</a:t>
            </a:r>
          </a:p>
        </p:txBody>
      </p:sp>
      <p:sp>
        <p:nvSpPr>
          <p:cNvPr id="61" name="TextBox 60"/>
          <p:cNvSpPr txBox="1"/>
          <p:nvPr/>
        </p:nvSpPr>
        <p:spPr>
          <a:xfrm>
            <a:off x="8961119" y="4197096"/>
            <a:ext cx="2407615" cy="612648"/>
          </a:xfrm>
          <a:prstGeom prst="rect">
            <a:avLst/>
          </a:prstGeom>
          <a:noFill/>
        </p:spPr>
        <p:txBody>
          <a:bodyPr wrap="square" lIns="0" rIns="0" tIns="0" bIns="0">
            <a:spAutoFit/>
          </a:bodyPr>
          <a:lstStyle/>
          <a:p>
            <a:pPr>
              <a:lnSpc>
                <a:spcPts val="1150"/>
              </a:lnSpc>
              <a:defRPr sz="850">
                <a:solidFill>
                  <a:srgbClr val="1E1E1E"/>
                </a:solidFill>
                <a:latin typeface="Inter"/>
              </a:defRPr>
            </a:pPr>
            <a:r>
              <a:t>Build an infrastructure where autonomous agents can securely discover and collaborate with each other.</a:t>
            </a:r>
          </a:p>
        </p:txBody>
      </p:sp>
      <p:sp>
        <p:nvSpPr>
          <p:cNvPr id="62" name="Rectangle 61"/>
          <p:cNvSpPr/>
          <p:nvPr/>
        </p:nvSpPr>
        <p:spPr>
          <a:xfrm>
            <a:off x="731520" y="55321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13816" y="4937759"/>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41248" y="49926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41248" y="5029199"/>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51560" y="4882896"/>
            <a:ext cx="2651760" cy="612648"/>
          </a:xfrm>
          <a:prstGeom prst="rect">
            <a:avLst/>
          </a:prstGeom>
          <a:noFill/>
        </p:spPr>
        <p:txBody>
          <a:bodyPr wrap="square" lIns="0" rIns="0" tIns="0" bIns="0">
            <a:spAutoFit/>
          </a:bodyPr>
          <a:lstStyle/>
          <a:p>
            <a:pPr>
              <a:lnSpc>
                <a:spcPts val="1100"/>
              </a:lnSpc>
              <a:defRPr sz="950" b="1">
                <a:solidFill>
                  <a:srgbClr val="1E1E1E"/>
                </a:solidFill>
                <a:latin typeface="Inter"/>
              </a:defRPr>
            </a:pPr>
            <a:r>
              <a:t>Multi-Agent Reinforcement Learning:</a:t>
            </a:r>
            <a:br/>
            <a:r>
              <a:t>A Selective Overview of Theories</a:t>
            </a:r>
            <a:br/>
            <a:r>
              <a:t>and Algorithms</a:t>
            </a:r>
          </a:p>
          <a:p>
            <a:pPr>
              <a:defRPr sz="850">
                <a:solidFill>
                  <a:srgbClr val="1E1E1E"/>
                </a:solidFill>
                <a:latin typeface="Inter"/>
              </a:defRPr>
            </a:pPr>
            <a:r>
              <a:t>Zhang, Yang &amp; Başar</a:t>
            </a:r>
          </a:p>
          <a:p>
            <a:pPr>
              <a:defRPr sz="750" i="1">
                <a:solidFill>
                  <a:srgbClr val="78787D"/>
                </a:solidFill>
                <a:latin typeface="Inter"/>
              </a:defRPr>
            </a:pPr>
            <a:r>
              <a:t>Handbook of Reinforcement Learning and Control, 2021</a:t>
            </a:r>
          </a:p>
        </p:txBody>
      </p:sp>
      <p:sp>
        <p:nvSpPr>
          <p:cNvPr id="67" name="TextBox 66"/>
          <p:cNvSpPr txBox="1"/>
          <p:nvPr/>
        </p:nvSpPr>
        <p:spPr>
          <a:xfrm>
            <a:off x="3840479" y="48828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Presents theories for coordination, cooperation, and communication among multiple agents.</a:t>
            </a:r>
          </a:p>
        </p:txBody>
      </p:sp>
      <p:sp>
        <p:nvSpPr>
          <p:cNvPr id="68" name="TextBox 67"/>
          <p:cNvSpPr txBox="1"/>
          <p:nvPr/>
        </p:nvSpPr>
        <p:spPr>
          <a:xfrm>
            <a:off x="6400800" y="4882896"/>
            <a:ext cx="2377439" cy="612648"/>
          </a:xfrm>
          <a:prstGeom prst="rect">
            <a:avLst/>
          </a:prstGeom>
          <a:noFill/>
        </p:spPr>
        <p:txBody>
          <a:bodyPr wrap="square" lIns="0" rIns="0" tIns="0" bIns="0">
            <a:spAutoFit/>
          </a:bodyPr>
          <a:lstStyle/>
          <a:p>
            <a:pPr>
              <a:lnSpc>
                <a:spcPts val="1150"/>
              </a:lnSpc>
              <a:defRPr sz="850">
                <a:solidFill>
                  <a:srgbClr val="1E1E1E"/>
                </a:solidFill>
                <a:latin typeface="Inter"/>
              </a:defRPr>
            </a:pPr>
            <a:r>
              <a:t>Mainly theoretical and simulation-oriented, with limited support for enterprise-scale distributed AI collaboration.</a:t>
            </a:r>
          </a:p>
        </p:txBody>
      </p:sp>
      <p:sp>
        <p:nvSpPr>
          <p:cNvPr id="69" name="TextBox 68"/>
          <p:cNvSpPr txBox="1"/>
          <p:nvPr/>
        </p:nvSpPr>
        <p:spPr>
          <a:xfrm>
            <a:off x="8961119" y="4882896"/>
            <a:ext cx="2407615" cy="612648"/>
          </a:xfrm>
          <a:prstGeom prst="rect">
            <a:avLst/>
          </a:prstGeom>
          <a:noFill/>
        </p:spPr>
        <p:txBody>
          <a:bodyPr wrap="square" lIns="0" rIns="0" tIns="0" bIns="0">
            <a:spAutoFit/>
          </a:bodyPr>
          <a:lstStyle/>
          <a:p>
            <a:pPr>
              <a:lnSpc>
                <a:spcPts val="1150"/>
              </a:lnSpc>
              <a:defRPr sz="850">
                <a:solidFill>
                  <a:srgbClr val="1E1E1E"/>
                </a:solidFill>
                <a:latin typeface="Inter"/>
              </a:defRPr>
            </a:pPr>
            <a:r>
              <a:t>Apply multi-agent coordination principles to real-world organizational AI ecosystems.</a:t>
            </a:r>
          </a:p>
        </p:txBody>
      </p:sp>
      <p:sp>
        <p:nvSpPr>
          <p:cNvPr id="70" name="Rectangle 69"/>
          <p:cNvSpPr/>
          <p:nvPr/>
        </p:nvSpPr>
        <p:spPr>
          <a:xfrm>
            <a:off x="3749039" y="1005840"/>
            <a:ext cx="4571" cy="4526280"/>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309360" y="1005840"/>
            <a:ext cx="4571" cy="4526280"/>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869680" y="1005840"/>
            <a:ext cx="4572" cy="4526280"/>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731520" y="5687568"/>
            <a:ext cx="10728655" cy="868680"/>
          </a:xfrm>
          <a:prstGeom prst="roundRect">
            <a:avLst/>
          </a:prstGeom>
          <a:solidFill>
            <a:srgbClr val="F6F4EF"/>
          </a:solidFill>
          <a:ln w="1270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60120" y="5897880"/>
            <a:ext cx="457200" cy="457200"/>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051560" y="5989320"/>
            <a:ext cx="274320" cy="274320"/>
          </a:xfrm>
          <a:prstGeom prst="ellipse">
            <a:avLst/>
          </a:prstGeom>
          <a:solidFill>
            <a:srgbClr val="1F4D3A"/>
          </a:solidFill>
          <a:ln w="1524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43000" y="6080760"/>
            <a:ext cx="91440" cy="9144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36192" y="5943600"/>
            <a:ext cx="914400" cy="365760"/>
          </a:xfrm>
          <a:prstGeom prst="rect">
            <a:avLst/>
          </a:prstGeom>
          <a:noFill/>
        </p:spPr>
        <p:txBody>
          <a:bodyPr wrap="square" lIns="0" rIns="0" tIns="0" bIns="0">
            <a:spAutoFit/>
          </a:bodyPr>
          <a:lstStyle/>
          <a:p>
            <a:pPr>
              <a:lnSpc>
                <a:spcPct val="105000"/>
              </a:lnSpc>
              <a:defRPr sz="1000" b="1">
                <a:solidFill>
                  <a:srgbClr val="1F4D3A"/>
                </a:solidFill>
                <a:latin typeface="Inter"/>
              </a:defRPr>
            </a:pPr>
            <a:r>
              <a:t>RESEARCH</a:t>
            </a:r>
            <a:br/>
            <a:r>
              <a:t>GAP</a:t>
            </a:r>
          </a:p>
        </p:txBody>
      </p:sp>
      <p:sp>
        <p:nvSpPr>
          <p:cNvPr id="78" name="Rectangle 77"/>
          <p:cNvSpPr/>
          <p:nvPr/>
        </p:nvSpPr>
        <p:spPr>
          <a:xfrm>
            <a:off x="2468880" y="5806440"/>
            <a:ext cx="13715" cy="64008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633472" y="5742432"/>
            <a:ext cx="8686800" cy="777240"/>
          </a:xfrm>
          <a:prstGeom prst="rect">
            <a:avLst/>
          </a:prstGeom>
          <a:noFill/>
        </p:spPr>
        <p:txBody>
          <a:bodyPr wrap="square" lIns="0" rIns="0" tIns="0" bIns="0">
            <a:spAutoFit/>
          </a:bodyPr>
          <a:lstStyle/>
          <a:p>
            <a:pPr>
              <a:lnSpc>
                <a:spcPts val="1120"/>
              </a:lnSpc>
            </a:pPr>
            <a:r>
              <a:rPr sz="850">
                <a:solidFill>
                  <a:srgbClr val="1E1E1E"/>
                </a:solidFill>
                <a:latin typeface="Inter"/>
              </a:rPr>
              <a:t>Although existing research has significantly advanced Federated Learning, Large Language Models, Multi-Agent Systems, AI Agents, and AI communication protocols, these studies solve only specific aspects of distributed intelligence. Current approaches focus on collaborative model training, agent coordination within controlled environments, or interaction between AI models and external tools. </a:t>
            </a:r>
            <a:r>
              <a:rPr sz="850" b="1">
                <a:solidFill>
                  <a:srgbClr val="C66A2B"/>
                </a:solidFill>
                <a:latin typeface="Inter"/>
              </a:rPr>
              <a:t>No existing work provides a unified infrastructure that enables independent AI systems across different organizations to securely discover each other, communicate, share capabilities, coordinate tasks, and collaboratively solve problems while preserving privacy, autonomy, and organizational ownership.</a:t>
            </a:r>
            <a:r>
              <a:rPr sz="850">
                <a:solidFill>
                  <a:srgbClr val="1E1E1E"/>
                </a:solidFill>
                <a:latin typeface="Inter"/>
              </a:rPr>
              <a:t> This gap motivates the development of a distributed intelligence infrastructure for connecting AI ecosystems.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