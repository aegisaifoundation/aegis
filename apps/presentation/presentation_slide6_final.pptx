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66A2B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1325880" y="384048"/>
            <a:ext cx="9144" cy="329184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850" b="1">
                <a:solidFill>
                  <a:srgbClr val="78787D"/>
                </a:solidFill>
                <a:latin typeface="Inter"/>
              </a:defRPr>
            </a:pPr>
            <a:r>
              <a:t>CONNECTING INTELLIGENCE</a:t>
            </a:r>
            <a:br/>
            <a:r>
              <a:t>ACROSS ORGANIZATIONS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384048"/>
            <a:ext cx="13715" cy="329184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55480" y="3840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1E1E"/>
                </a:solidFill>
                <a:latin typeface="Inter"/>
              </a:defRPr>
            </a:pPr>
            <a:r>
              <a:t>IMPLEMENTATION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097280"/>
            <a:ext cx="670529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1E1E1E"/>
                </a:solidFill>
                <a:latin typeface="Sora"/>
              </a:rPr>
              <a:t>IMPLEMENTATION </a:t>
            </a:r>
            <a:r>
              <a:rPr sz="4400" b="1">
                <a:solidFill>
                  <a:srgbClr val="C66A2B"/>
                </a:solidFill>
                <a:latin typeface="Sora"/>
              </a:rPr>
              <a:t>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2011680"/>
            <a:ext cx="1005840" cy="18288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697480"/>
            <a:ext cx="9997135" cy="182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1580" y="2455164"/>
            <a:ext cx="502920" cy="502920"/>
          </a:xfrm>
          <a:prstGeom prst="ellipse">
            <a:avLst/>
          </a:prstGeom>
          <a:solidFill>
            <a:srgbClr val="0A0B0C"/>
          </a:solidFill>
          <a:ln w="1905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5694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57553" y="3035808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57553" y="3118103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57553" y="3200399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57553" y="3282695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57553" y="3364991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57553" y="3447287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E1E1E"/>
                </a:solidFill>
                <a:latin typeface="Inter"/>
              </a:defRPr>
            </a:pPr>
            <a:r>
              <a:t>RESEARCH &amp;</a:t>
            </a:r>
            <a:br/>
            <a:r>
              <a:t>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4343400"/>
            <a:ext cx="365759" cy="13715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57200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Identify AI collaboration
challenges</a:t>
            </a: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Study existing approaches</a:t>
            </a: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Define project objectives
and requirements</a:t>
            </a:r>
          </a:p>
        </p:txBody>
      </p:sp>
      <p:sp>
        <p:nvSpPr>
          <p:cNvPr id="21" name="Oval 20"/>
          <p:cNvSpPr/>
          <p:nvPr/>
        </p:nvSpPr>
        <p:spPr>
          <a:xfrm>
            <a:off x="3543300" y="2455164"/>
            <a:ext cx="502920" cy="502920"/>
          </a:xfrm>
          <a:prstGeom prst="ellipse">
            <a:avLst/>
          </a:prstGeom>
          <a:solidFill>
            <a:srgbClr val="0A0B0C"/>
          </a:solidFill>
          <a:ln w="1905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5694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89273" y="3035808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89273" y="3118103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89273" y="3200399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89273" y="3282695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89273" y="3364991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89273" y="3447287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3657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E1E1E"/>
                </a:solidFill>
                <a:latin typeface="Inter"/>
              </a:defRPr>
            </a:pPr>
            <a:r>
              <a:t>SYSTEM</a:t>
            </a:r>
            <a:br/>
            <a:r>
              <a:t>DESIGN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4343400"/>
            <a:ext cx="365760" cy="13715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57200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Design distributed
architecture</a:t>
            </a: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Define secure
communication</a:t>
            </a: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Plan collaboration
mechanisms</a:t>
            </a:r>
          </a:p>
        </p:txBody>
      </p:sp>
      <p:sp>
        <p:nvSpPr>
          <p:cNvPr id="32" name="Oval 31"/>
          <p:cNvSpPr/>
          <p:nvPr/>
        </p:nvSpPr>
        <p:spPr>
          <a:xfrm>
            <a:off x="5875020" y="2455164"/>
            <a:ext cx="502920" cy="502920"/>
          </a:xfrm>
          <a:prstGeom prst="ellipse">
            <a:avLst/>
          </a:prstGeom>
          <a:solidFill>
            <a:srgbClr val="0A0B0C"/>
          </a:solidFill>
          <a:ln w="1905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25694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0993" y="3035808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0993" y="3118103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0993" y="3200399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0993" y="3282695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0993" y="3364991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0993" y="3447287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3657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E1E1E"/>
                </a:solidFill>
                <a:latin typeface="Inter"/>
              </a:defRPr>
            </a:pPr>
            <a:r>
              <a:t>PROTOTYPE</a:t>
            </a:r>
            <a:br/>
            <a:r>
              <a:t>DEVELOPMENT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343400"/>
            <a:ext cx="365760" cy="13715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4920" y="457200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Develop a proof
of concept</a:t>
            </a: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Connect multiple
AI nodes</a:t>
            </a: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Demonstrate secure
collaboration</a:t>
            </a:r>
          </a:p>
        </p:txBody>
      </p:sp>
      <p:sp>
        <p:nvSpPr>
          <p:cNvPr id="43" name="Oval 42"/>
          <p:cNvSpPr/>
          <p:nvPr/>
        </p:nvSpPr>
        <p:spPr>
          <a:xfrm>
            <a:off x="8206740" y="2455164"/>
            <a:ext cx="502920" cy="502920"/>
          </a:xfrm>
          <a:prstGeom prst="ellipse">
            <a:avLst/>
          </a:prstGeom>
          <a:solidFill>
            <a:srgbClr val="0A0B0C"/>
          </a:solidFill>
          <a:ln w="1905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25694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713" y="3035808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52713" y="3118103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52713" y="3200399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52713" y="3282695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52713" y="3364991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52713" y="3447287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2360" y="3657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E1E1E"/>
                </a:solidFill>
                <a:latin typeface="Inter"/>
              </a:defRPr>
            </a:pPr>
            <a:r>
              <a:t>TESTING &amp;</a:t>
            </a:r>
            <a:br/>
            <a:r>
              <a:t>VALIDATION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4343400"/>
            <a:ext cx="365759" cy="13715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457200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Test communication
reliability</a:t>
            </a: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Evaluate system
performance</a:t>
            </a: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Verify privacy
and security</a:t>
            </a:r>
          </a:p>
        </p:txBody>
      </p:sp>
      <p:sp>
        <p:nvSpPr>
          <p:cNvPr id="54" name="Oval 53"/>
          <p:cNvSpPr/>
          <p:nvPr/>
        </p:nvSpPr>
        <p:spPr>
          <a:xfrm>
            <a:off x="10538460" y="2455164"/>
            <a:ext cx="502920" cy="502920"/>
          </a:xfrm>
          <a:prstGeom prst="ellipse">
            <a:avLst/>
          </a:prstGeom>
          <a:solidFill>
            <a:srgbClr val="0A0B0C"/>
          </a:solidFill>
          <a:ln w="1905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07040" y="25694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84433" y="3035808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784433" y="3118103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784433" y="3200399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784433" y="3282695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84433" y="3364991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784433" y="3447287"/>
            <a:ext cx="10972" cy="4571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3657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E1E1E"/>
                </a:solidFill>
                <a:latin typeface="Inter"/>
              </a:defRPr>
            </a:pPr>
            <a:r>
              <a:t>FUTURE</a:t>
            </a:r>
            <a:br/>
            <a:r>
              <a:t>EXPANSION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07040" y="4343400"/>
            <a:ext cx="365759" cy="13715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38360" y="457200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Support more
organizations</a:t>
            </a: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Improve scalability
and efficiency</a:t>
            </a: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sz="1000" b="1">
                <a:solidFill>
                  <a:srgbClr val="C66A2B"/>
                </a:solidFill>
                <a:latin typeface="Inter"/>
              </a:rPr>
              <a:t>•   </a:t>
            </a:r>
            <a:r>
              <a:rPr sz="950">
                <a:solidFill>
                  <a:srgbClr val="1E1E1E"/>
                </a:solidFill>
                <a:latin typeface="Inter"/>
              </a:rPr>
              <a:t>Enable broader
intelligent collaboration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