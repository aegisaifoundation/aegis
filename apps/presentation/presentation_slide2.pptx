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Freeform 1"/>
          <p:cNvSpPr/>
          <p:nvPr/>
        </p:nvSpPr>
        <p:spPr>
          <a:xfrm>
            <a:off x="0" y="0"/>
            <a:ext cx="8229600" cy="6858000"/>
          </a:xfrm>
          <a:custGeom>
            <a:avLst/>
            <a:gdLst/>
            <a:ahLst/>
            <a:cxnLst/>
            <a:rect l="l" t="t" r="r" b="b"/>
            <a:pathLst>
              <a:path w="8229600" h="6858000">
                <a:moveTo>
                  <a:pt x="0" y="0"/>
                </a:moveTo>
                <a:lnTo>
                  <a:pt x="8229600" y="0"/>
                </a:lnTo>
                <a:lnTo>
                  <a:pt x="7040880" y="6858000"/>
                </a:lnTo>
                <a:lnTo>
                  <a:pt x="0" y="6858000"/>
                </a:lnTo>
                <a:lnTo>
                  <a:pt x="0" y="0"/>
                </a:lnTo>
                <a:close/>
              </a:path>
            </a:pathLst>
          </a:custGeom>
          <a:solidFill>
            <a:srgbClr val="0A0B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48640"/>
            <a:ext cx="1371600" cy="457200"/>
          </a:xfrm>
          <a:prstGeom prst="rect">
            <a:avLst/>
          </a:prstGeom>
          <a:noFill/>
        </p:spPr>
        <p:txBody>
          <a:bodyPr wrap="square" lIns="0" rIns="0" tIns="0" bIns="0">
            <a:spAutoFit/>
          </a:bodyPr>
          <a:lstStyle/>
          <a:p>
            <a:pPr>
              <a:defRPr sz="1800" b="1">
                <a:solidFill>
                  <a:srgbClr val="C66A2B"/>
                </a:solidFill>
                <a:latin typeface="Inter"/>
              </a:defRPr>
            </a:pPr>
            <a:r>
              <a:t>02</a:t>
            </a:r>
          </a:p>
        </p:txBody>
      </p:sp>
      <p:sp>
        <p:nvSpPr>
          <p:cNvPr id="4" name="Rectangle 3"/>
          <p:cNvSpPr/>
          <p:nvPr/>
        </p:nvSpPr>
        <p:spPr>
          <a:xfrm>
            <a:off x="502920" y="1005840"/>
            <a:ext cx="13715" cy="128016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5486400" cy="1097280"/>
          </a:xfrm>
          <a:prstGeom prst="rect">
            <a:avLst/>
          </a:prstGeom>
          <a:noFill/>
        </p:spPr>
        <p:txBody>
          <a:bodyPr wrap="square" lIns="0" rIns="0" tIns="0" bIns="0">
            <a:spAutoFit/>
          </a:bodyPr>
          <a:lstStyle/>
          <a:p>
            <a:pPr>
              <a:defRPr sz="5800" b="1">
                <a:solidFill>
                  <a:srgbClr val="F5F5F7"/>
                </a:solidFill>
                <a:latin typeface="Sora"/>
              </a:defRPr>
            </a:pPr>
            <a:r>
              <a:t>ABSTRACT</a:t>
            </a:r>
          </a:p>
        </p:txBody>
      </p:sp>
      <p:sp>
        <p:nvSpPr>
          <p:cNvPr id="6" name="Rectangle 5"/>
          <p:cNvSpPr/>
          <p:nvPr/>
        </p:nvSpPr>
        <p:spPr>
          <a:xfrm>
            <a:off x="1005840" y="3200400"/>
            <a:ext cx="365759" cy="27431"/>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566160"/>
            <a:ext cx="5577840" cy="2926080"/>
          </a:xfrm>
          <a:prstGeom prst="rect">
            <a:avLst/>
          </a:prstGeom>
          <a:noFill/>
        </p:spPr>
        <p:txBody>
          <a:bodyPr wrap="square" lIns="0" rIns="0" tIns="0" bIns="0">
            <a:spAutoFit/>
          </a:bodyPr>
          <a:lstStyle/>
          <a:p>
            <a:pPr>
              <a:lnSpc>
                <a:spcPct val="135000"/>
              </a:lnSpc>
              <a:spcAft>
                <a:spcPts val="2400"/>
              </a:spcAft>
              <a:defRPr sz="1350">
                <a:solidFill>
                  <a:srgbClr val="F5F5F7"/>
                </a:solidFill>
                <a:latin typeface="Inter"/>
              </a:defRPr>
            </a:pPr>
            <a:r>
              <a:t>As Artificial Intelligence systems become more powerful and widespread, they remain largely isolated within organizational boundaries. This isolation limits collaboration, causes repeated development of similar solutions, and prevents systems from sharing capabilities or knowledge.</a:t>
            </a:r>
          </a:p>
          <a:p>
            <a:pPr>
              <a:lnSpc>
                <a:spcPct val="135000"/>
              </a:lnSpc>
              <a:defRPr sz="1350">
                <a:solidFill>
                  <a:srgbClr val="F5F5F7"/>
                </a:solidFill>
                <a:latin typeface="Inter"/>
              </a:defRPr>
            </a:pPr>
            <a:r>
              <a:t>This project proposes a distributed intelligence infrastructure that enables independent AI systems to communicate, collaborate, and coordinate securely while preserving each organization’s autonomy and data privacy.</a:t>
            </a:r>
          </a:p>
        </p:txBody>
      </p:sp>
      <p:sp>
        <p:nvSpPr>
          <p:cNvPr id="8" name="Rectangle 7"/>
          <p:cNvSpPr/>
          <p:nvPr/>
        </p:nvSpPr>
        <p:spPr>
          <a:xfrm>
            <a:off x="73152" y="5760720"/>
            <a:ext cx="4572" cy="109728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46304" y="5843016"/>
            <a:ext cx="4572" cy="1014983"/>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9456" y="5925312"/>
            <a:ext cx="4572" cy="932687"/>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2608" y="6007608"/>
            <a:ext cx="4572" cy="850391"/>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6089904"/>
            <a:ext cx="4572" cy="768095"/>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 y="6172200"/>
            <a:ext cx="4572" cy="68580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2063" y="6254496"/>
            <a:ext cx="4572" cy="603504"/>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85216" y="6336792"/>
            <a:ext cx="4572" cy="521208"/>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6419088"/>
            <a:ext cx="4572" cy="438912"/>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19" y="6501384"/>
            <a:ext cx="4572" cy="356615"/>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672" y="6583680"/>
            <a:ext cx="4572" cy="2743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77824" y="6665976"/>
            <a:ext cx="4572" cy="192023"/>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75320" y="1645919"/>
            <a:ext cx="640080" cy="640080"/>
          </a:xfrm>
          <a:prstGeom prst="ellipse">
            <a:avLst/>
          </a:prstGeom>
          <a:solidFill>
            <a:srgbClr val="0A0B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8522208" y="1883664"/>
            <a:ext cx="146304" cy="164591"/>
          </a:xfrm>
          <a:custGeom>
            <a:avLst/>
            <a:gdLst/>
            <a:ahLst/>
            <a:cxnLst/>
            <a:rect l="l" t="t" r="r" b="b"/>
            <a:pathLst>
              <a:path w="146304" h="164591">
                <a:moveTo>
                  <a:pt x="0" y="0"/>
                </a:moveTo>
                <a:lnTo>
                  <a:pt x="146304" y="0"/>
                </a:lnTo>
                <a:lnTo>
                  <a:pt x="146304" y="82296"/>
                </a:lnTo>
                <a:lnTo>
                  <a:pt x="73152" y="164591"/>
                </a:lnTo>
                <a:lnTo>
                  <a:pt x="0" y="82296"/>
                </a:lnTo>
                <a:lnTo>
                  <a:pt x="0" y="0"/>
                </a:lnTo>
                <a:close/>
              </a:path>
            </a:pathLst>
          </a:custGeom>
          <a:noFill/>
          <a:ln w="1905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572500" y="1924812"/>
            <a:ext cx="45720" cy="45720"/>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67928" y="1965960"/>
            <a:ext cx="54864" cy="4572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35440" y="1691640"/>
            <a:ext cx="13716" cy="54864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20" y="1645920"/>
            <a:ext cx="2377440" cy="1188720"/>
          </a:xfrm>
          <a:prstGeom prst="rect">
            <a:avLst/>
          </a:prstGeom>
          <a:noFill/>
        </p:spPr>
        <p:txBody>
          <a:bodyPr wrap="square" lIns="0" rIns="0" tIns="0" bIns="0">
            <a:spAutoFit/>
          </a:bodyPr>
          <a:lstStyle/>
          <a:p>
            <a:pPr>
              <a:lnSpc>
                <a:spcPct val="115000"/>
              </a:lnSpc>
              <a:spcAft>
                <a:spcPts val="800"/>
              </a:spcAft>
              <a:defRPr sz="1100" b="1">
                <a:solidFill>
                  <a:srgbClr val="1E1E1E"/>
                </a:solidFill>
                <a:latin typeface="Inter"/>
              </a:defRPr>
            </a:pPr>
            <a:r>
              <a:t>SECURE</a:t>
            </a:r>
            <a:br/>
            <a:r>
              <a:t>COLLABORATION</a:t>
            </a:r>
          </a:p>
          <a:p>
            <a:pPr>
              <a:lnSpc>
                <a:spcPct val="120000"/>
              </a:lnSpc>
              <a:defRPr sz="950">
                <a:solidFill>
                  <a:srgbClr val="5C5F5C"/>
                </a:solidFill>
                <a:latin typeface="Inter"/>
              </a:defRPr>
            </a:pPr>
            <a:r>
              <a:t>Enables trusted communication between independent AI systems across organizations.</a:t>
            </a:r>
          </a:p>
        </p:txBody>
      </p:sp>
      <p:sp>
        <p:nvSpPr>
          <p:cNvPr id="26" name="Oval 25"/>
          <p:cNvSpPr/>
          <p:nvPr/>
        </p:nvSpPr>
        <p:spPr>
          <a:xfrm>
            <a:off x="8275320" y="3291840"/>
            <a:ext cx="640080" cy="640080"/>
          </a:xfrm>
          <a:prstGeom prst="ellipse">
            <a:avLst/>
          </a:prstGeom>
          <a:solidFill>
            <a:srgbClr val="0A0B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549640" y="3538728"/>
            <a:ext cx="91440" cy="91440"/>
          </a:xfrm>
          <a:prstGeom prst="ellipse">
            <a:avLst/>
          </a:prstGeom>
          <a:noFill/>
          <a:ln w="1905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531352" y="3593592"/>
            <a:ext cx="128016" cy="100584"/>
          </a:xfrm>
          <a:prstGeom prst="round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77072" y="3611880"/>
            <a:ext cx="36576" cy="36576"/>
          </a:xfrm>
          <a:prstGeom prst="ellipse">
            <a:avLst/>
          </a:prstGeom>
          <a:solidFill>
            <a:srgbClr val="0A0B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235440" y="3337560"/>
            <a:ext cx="13716" cy="54864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18320" y="3291840"/>
            <a:ext cx="2377440" cy="1188720"/>
          </a:xfrm>
          <a:prstGeom prst="rect">
            <a:avLst/>
          </a:prstGeom>
          <a:noFill/>
        </p:spPr>
        <p:txBody>
          <a:bodyPr wrap="square" lIns="0" rIns="0" tIns="0" bIns="0">
            <a:spAutoFit/>
          </a:bodyPr>
          <a:lstStyle/>
          <a:p>
            <a:pPr>
              <a:lnSpc>
                <a:spcPct val="115000"/>
              </a:lnSpc>
              <a:spcAft>
                <a:spcPts val="800"/>
              </a:spcAft>
              <a:defRPr sz="1100" b="1">
                <a:solidFill>
                  <a:srgbClr val="1E1E1E"/>
                </a:solidFill>
                <a:latin typeface="Inter"/>
              </a:defRPr>
            </a:pPr>
            <a:r>
              <a:t>PRIVACY</a:t>
            </a:r>
            <a:br/>
            <a:r>
              <a:t>PRESERVATION</a:t>
            </a:r>
          </a:p>
          <a:p>
            <a:pPr>
              <a:lnSpc>
                <a:spcPct val="120000"/>
              </a:lnSpc>
              <a:defRPr sz="950">
                <a:solidFill>
                  <a:srgbClr val="5C5F5C"/>
                </a:solidFill>
                <a:latin typeface="Inter"/>
              </a:defRPr>
            </a:pPr>
            <a:r>
              <a:t>Protects data ownership and ensures privacy through decentralized and secure interaction.</a:t>
            </a:r>
          </a:p>
        </p:txBody>
      </p:sp>
      <p:sp>
        <p:nvSpPr>
          <p:cNvPr id="32" name="Oval 31"/>
          <p:cNvSpPr/>
          <p:nvPr/>
        </p:nvSpPr>
        <p:spPr>
          <a:xfrm>
            <a:off x="8275320" y="4937760"/>
            <a:ext cx="640080" cy="640080"/>
          </a:xfrm>
          <a:prstGeom prst="ellipse">
            <a:avLst/>
          </a:prstGeom>
          <a:solidFill>
            <a:srgbClr val="0A0B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540496" y="5294376"/>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50224" y="5294376"/>
            <a:ext cx="13716"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540496" y="5294376"/>
            <a:ext cx="109728"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563356" y="5170932"/>
            <a:ext cx="64008" cy="64008"/>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08492" y="5262372"/>
            <a:ext cx="64008" cy="64008"/>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618220" y="5262372"/>
            <a:ext cx="64008" cy="64008"/>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235440" y="4983480"/>
            <a:ext cx="13716" cy="54864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18320" y="4937760"/>
            <a:ext cx="2377440" cy="1188720"/>
          </a:xfrm>
          <a:prstGeom prst="rect">
            <a:avLst/>
          </a:prstGeom>
          <a:noFill/>
        </p:spPr>
        <p:txBody>
          <a:bodyPr wrap="square" lIns="0" rIns="0" tIns="0" bIns="0">
            <a:spAutoFit/>
          </a:bodyPr>
          <a:lstStyle/>
          <a:p>
            <a:pPr>
              <a:lnSpc>
                <a:spcPct val="115000"/>
              </a:lnSpc>
              <a:spcAft>
                <a:spcPts val="800"/>
              </a:spcAft>
              <a:defRPr sz="1100" b="1">
                <a:solidFill>
                  <a:srgbClr val="1E1E1E"/>
                </a:solidFill>
                <a:latin typeface="Inter"/>
              </a:defRPr>
            </a:pPr>
            <a:r>
              <a:t>CONNECTED</a:t>
            </a:r>
            <a:br/>
            <a:r>
              <a:t>AI ECOSYSTEM</a:t>
            </a:r>
          </a:p>
          <a:p>
            <a:pPr>
              <a:lnSpc>
                <a:spcPct val="120000"/>
              </a:lnSpc>
              <a:defRPr sz="950">
                <a:solidFill>
                  <a:srgbClr val="5C5F5C"/>
                </a:solidFill>
                <a:latin typeface="Inter"/>
              </a:defRPr>
            </a:pPr>
            <a:r>
              <a:t>Builds a collaborative ecosystem where AI systems can share capabilities, coordinate tasks, and create value together.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