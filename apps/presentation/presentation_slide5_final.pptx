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66A2B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1325880" y="384048"/>
            <a:ext cx="9144" cy="329184"/>
          </a:xfrm>
          <a:prstGeom prst="rect">
            <a:avLst/>
          </a:prstGeom>
          <a:solidFill>
            <a:srgbClr val="DC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850" b="1">
                <a:solidFill>
                  <a:srgbClr val="8C8C91"/>
                </a:solidFill>
                <a:latin typeface="Inter"/>
              </a:defRPr>
            </a:pPr>
            <a:r>
              <a:t>CONNECTING INTELLIGENCE</a:t>
            </a:r>
            <a:br/>
            <a:r>
              <a:t>ACROSS ORGANIZATIONS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384048"/>
            <a:ext cx="13715" cy="329184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55480" y="3840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1E1E"/>
                </a:solidFill>
                <a:latin typeface="Inter"/>
              </a:defRPr>
            </a:pPr>
            <a:r>
              <a:t>KEY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3840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C66A2B"/>
                </a:solidFill>
                <a:latin typeface="Inter"/>
              </a:defRPr>
            </a:pPr>
            <a:r>
              <a:t>KEY BENEFITS</a:t>
            </a:r>
          </a:p>
          <a:p>
            <a:pPr>
              <a:lnSpc>
                <a:spcPct val="95000"/>
              </a:lnSpc>
              <a:spcAft>
                <a:spcPts val="1200"/>
              </a:spcAft>
            </a:pPr>
            <a:r>
              <a:rPr sz="3600" b="1">
                <a:solidFill>
                  <a:srgbClr val="1E1E1E"/>
                </a:solidFill>
                <a:latin typeface="Sora"/>
              </a:rPr>
              <a:t>UNLOCKING THE
POWER OF
</a:t>
            </a:r>
            <a:r>
              <a:rPr sz="3600" b="1">
                <a:solidFill>
                  <a:srgbClr val="C66A2B"/>
                </a:solidFill>
                <a:latin typeface="Sora"/>
              </a:rPr>
              <a:t>COLLABORATIVE
INTELLIGENCE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937760"/>
            <a:ext cx="457200" cy="18287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16636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sz="1250">
                <a:solidFill>
                  <a:srgbClr val="1E1E1E"/>
                </a:solidFill>
                <a:latin typeface="Inter"/>
              </a:defRPr>
            </a:pPr>
            <a:r>
              <a:t>Our solution transforms isolated AI systems into a connected ecosystem that drives measurable impact across organizations and industries.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005840"/>
            <a:ext cx="2194560" cy="2377440"/>
          </a:xfrm>
          <a:prstGeom prst="roundRect">
            <a:avLst/>
          </a:prstGeom>
          <a:solidFill>
            <a:srgbClr val="FCFCFA"/>
          </a:solidFill>
          <a:ln w="1270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54980" y="1211580"/>
            <a:ext cx="594360" cy="594360"/>
          </a:xfrm>
          <a:prstGeom prst="ellipse">
            <a:avLst/>
          </a:prstGeom>
          <a:noFill/>
          <a:ln w="1016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33872" y="1490472"/>
            <a:ext cx="36576" cy="36576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852160" y="1508760"/>
            <a:ext cx="109728" cy="0"/>
          </a:xfrm>
          <a:prstGeom prst="line">
            <a:avLst/>
          </a:prstGeom>
          <a:ln w="101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939028" y="1485900"/>
            <a:ext cx="45720" cy="4572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852160" y="1508760"/>
            <a:ext cx="33907" cy="104357"/>
          </a:xfrm>
          <a:prstGeom prst="line">
            <a:avLst/>
          </a:prstGeom>
          <a:ln w="101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63207" y="1590257"/>
            <a:ext cx="45720" cy="4572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H="1">
            <a:off x="5763388" y="1508760"/>
            <a:ext cx="88772" cy="64496"/>
          </a:xfrm>
          <a:prstGeom prst="line">
            <a:avLst/>
          </a:prstGeom>
          <a:ln w="101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740528" y="1550396"/>
            <a:ext cx="45720" cy="4572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5763388" y="1444263"/>
            <a:ext cx="88772" cy="64497"/>
          </a:xfrm>
          <a:prstGeom prst="line">
            <a:avLst/>
          </a:prstGeom>
          <a:ln w="101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740528" y="1421403"/>
            <a:ext cx="45720" cy="4572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5852160" y="1404402"/>
            <a:ext cx="33907" cy="104358"/>
          </a:xfrm>
          <a:prstGeom prst="line">
            <a:avLst/>
          </a:prstGeom>
          <a:ln w="101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863207" y="1381542"/>
            <a:ext cx="45720" cy="4572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20116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050" b="1">
                <a:solidFill>
                  <a:srgbClr val="1E1E1E"/>
                </a:solidFill>
                <a:latin typeface="Inter"/>
              </a:defRPr>
            </a:pPr>
            <a:r>
              <a:t>STRONGER</a:t>
            </a:r>
            <a:br/>
            <a:r>
              <a:t>COLLABORATION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260604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defRPr sz="900">
                <a:solidFill>
                  <a:srgbClr val="8C8C91"/>
                </a:solidFill>
                <a:latin typeface="Inter"/>
              </a:defRPr>
            </a:pPr>
            <a:r>
              <a:t>Break down silos and enable seamless collaboration across organizations.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1005840"/>
            <a:ext cx="2194560" cy="2377440"/>
          </a:xfrm>
          <a:prstGeom prst="roundRect">
            <a:avLst/>
          </a:prstGeom>
          <a:solidFill>
            <a:srgbClr val="FCFCFA"/>
          </a:solidFill>
          <a:ln w="1270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32420" y="1211580"/>
            <a:ext cx="594360" cy="594360"/>
          </a:xfrm>
          <a:prstGeom prst="ellipse">
            <a:avLst/>
          </a:prstGeom>
          <a:noFill/>
          <a:ln w="1016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56448" y="1563624"/>
            <a:ext cx="36576" cy="54863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11312" y="1527048"/>
            <a:ext cx="36575" cy="91439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66175" y="1490472"/>
            <a:ext cx="36576" cy="128015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V="1">
            <a:off x="8147304" y="1435608"/>
            <a:ext cx="164592" cy="146304"/>
          </a:xfrm>
          <a:prstGeom prst="line">
            <a:avLst/>
          </a:prstGeom>
          <a:ln w="15240">
            <a:solidFill>
              <a:srgbClr val="C66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>
            <a:off x="8275320" y="1408176"/>
            <a:ext cx="54864" cy="54864"/>
          </a:xfrm>
          <a:prstGeom prst="triangl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20116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050" b="1">
                <a:solidFill>
                  <a:srgbClr val="1E1E1E"/>
                </a:solidFill>
                <a:latin typeface="Inter"/>
              </a:defRPr>
            </a:pPr>
            <a:r>
              <a:t>ACCELERATED</a:t>
            </a:r>
            <a:br/>
            <a:r>
              <a:t>INNOVATION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260604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defRPr sz="900">
                <a:solidFill>
                  <a:srgbClr val="8C8C91"/>
                </a:solidFill>
                <a:latin typeface="Inter"/>
              </a:defRPr>
            </a:pPr>
            <a:r>
              <a:t>Combine diverse data, models, and expertise to drive faster breakthroughs.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1005840"/>
            <a:ext cx="2194560" cy="2377440"/>
          </a:xfrm>
          <a:prstGeom prst="roundRect">
            <a:avLst/>
          </a:prstGeom>
          <a:solidFill>
            <a:srgbClr val="FCFCFA"/>
          </a:solidFill>
          <a:ln w="1270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309860" y="1211580"/>
            <a:ext cx="594360" cy="594360"/>
          </a:xfrm>
          <a:prstGeom prst="ellipse">
            <a:avLst/>
          </a:prstGeom>
          <a:noFill/>
          <a:ln w="1016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10543032" y="1435608"/>
            <a:ext cx="128016" cy="146304"/>
          </a:xfrm>
          <a:custGeom>
            <a:avLst/>
            <a:gdLst/>
            <a:ahLst/>
            <a:cxnLst/>
            <a:rect l="l" t="t" r="r" b="b"/>
            <a:pathLst>
              <a:path w="128016" h="146304">
                <a:moveTo>
                  <a:pt x="0" y="0"/>
                </a:moveTo>
                <a:lnTo>
                  <a:pt x="128016" y="0"/>
                </a:lnTo>
                <a:lnTo>
                  <a:pt x="128016" y="73152"/>
                </a:lnTo>
                <a:lnTo>
                  <a:pt x="64008" y="146304"/>
                </a:lnTo>
                <a:lnTo>
                  <a:pt x="0" y="73152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588752" y="1481328"/>
            <a:ext cx="36576" cy="36576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579608" y="1517904"/>
            <a:ext cx="54864" cy="45720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0" y="20116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050" b="1">
                <a:solidFill>
                  <a:srgbClr val="1E1E1E"/>
                </a:solidFill>
                <a:latin typeface="Inter"/>
              </a:defRPr>
            </a:pPr>
            <a:r>
              <a:t>ENHANCED</a:t>
            </a:r>
            <a:br/>
            <a:r>
              <a:t>SECURITY &amp; TRUST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260604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defRPr sz="900">
                <a:solidFill>
                  <a:srgbClr val="8C8C91"/>
                </a:solidFill>
                <a:latin typeface="Inter"/>
              </a:defRPr>
            </a:pPr>
            <a:r>
              <a:t>Built with privacy-preserving technology and zero-trust architecture.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54880" y="3611880"/>
            <a:ext cx="2194560" cy="2377440"/>
          </a:xfrm>
          <a:prstGeom prst="roundRect">
            <a:avLst/>
          </a:prstGeom>
          <a:solidFill>
            <a:srgbClr val="FCFCFA"/>
          </a:solidFill>
          <a:ln w="1270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54980" y="3817620"/>
            <a:ext cx="594360" cy="594360"/>
          </a:xfrm>
          <a:prstGeom prst="ellipse">
            <a:avLst/>
          </a:prstGeom>
          <a:noFill/>
          <a:ln w="1016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769864" y="4023360"/>
            <a:ext cx="91440" cy="91440"/>
          </a:xfrm>
          <a:prstGeom prst="ellipse">
            <a:avLst/>
          </a:prstGeom>
          <a:noFill/>
          <a:ln w="127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769864" y="4069080"/>
            <a:ext cx="91440" cy="91440"/>
          </a:xfrm>
          <a:prstGeom prst="ellipse">
            <a:avLst/>
          </a:prstGeom>
          <a:noFill/>
          <a:ln w="127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769864" y="4114800"/>
            <a:ext cx="91440" cy="91440"/>
          </a:xfrm>
          <a:prstGeom prst="ellipse">
            <a:avLst/>
          </a:prstGeom>
          <a:noFill/>
          <a:ln w="127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870448" y="4123944"/>
            <a:ext cx="73152" cy="73152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79592" y="4128515"/>
            <a:ext cx="54864" cy="64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00" b="1">
                <a:solidFill>
                  <a:srgbClr val="F5F5F7"/>
                </a:solidFill>
                <a:latin typeface="Inter"/>
              </a:defRPr>
            </a:pPr>
            <a:r>
              <a:t>$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0" y="46177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050" b="1">
                <a:solidFill>
                  <a:srgbClr val="1E1E1E"/>
                </a:solidFill>
                <a:latin typeface="Inter"/>
              </a:defRPr>
            </a:pPr>
            <a:r>
              <a:t>GREATER</a:t>
            </a:r>
            <a:br/>
            <a:r>
              <a:t>EFFICIENCY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521208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defRPr sz="900">
                <a:solidFill>
                  <a:srgbClr val="8C8C91"/>
                </a:solidFill>
                <a:latin typeface="Inter"/>
              </a:defRPr>
            </a:pPr>
            <a:r>
              <a:t>Reduce duplication, optimize resources, and lower operational costs.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32320" y="3611880"/>
            <a:ext cx="2194560" cy="2377440"/>
          </a:xfrm>
          <a:prstGeom prst="roundRect">
            <a:avLst/>
          </a:prstGeom>
          <a:solidFill>
            <a:srgbClr val="FCFCFA"/>
          </a:solidFill>
          <a:ln w="1270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932420" y="3817620"/>
            <a:ext cx="594360" cy="594360"/>
          </a:xfrm>
          <a:prstGeom prst="ellipse">
            <a:avLst/>
          </a:prstGeom>
          <a:noFill/>
          <a:ln w="1016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119872" y="4005072"/>
            <a:ext cx="219456" cy="219456"/>
          </a:xfrm>
          <a:prstGeom prst="ellipse">
            <a:avLst/>
          </a:prstGeom>
          <a:noFill/>
          <a:ln w="127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174736" y="4059936"/>
            <a:ext cx="109728" cy="109728"/>
          </a:xfrm>
          <a:prstGeom prst="ellipse">
            <a:avLst/>
          </a:prstGeom>
          <a:noFill/>
          <a:ln w="127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H="1">
            <a:off x="8229600" y="4023360"/>
            <a:ext cx="91440" cy="91440"/>
          </a:xfrm>
          <a:prstGeom prst="line">
            <a:avLst/>
          </a:prstGeom>
          <a:ln w="15240">
            <a:solidFill>
              <a:srgbClr val="C66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8311896" y="4014215"/>
            <a:ext cx="27431" cy="27432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23760" y="46177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050" b="1">
                <a:solidFill>
                  <a:srgbClr val="1E1E1E"/>
                </a:solidFill>
                <a:latin typeface="Inter"/>
              </a:defRPr>
            </a:pPr>
            <a:r>
              <a:t>IMPACT AT</a:t>
            </a:r>
            <a:br/>
            <a:r>
              <a:t>SCALE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0" y="521208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defRPr sz="900">
                <a:solidFill>
                  <a:srgbClr val="8C8C91"/>
                </a:solidFill>
                <a:latin typeface="Inter"/>
              </a:defRPr>
            </a:pPr>
            <a:r>
              <a:t>Solve bigger challenges together and create lasting value for society.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509760" y="3611880"/>
            <a:ext cx="2194560" cy="2377440"/>
          </a:xfrm>
          <a:prstGeom prst="roundRect">
            <a:avLst/>
          </a:prstGeom>
          <a:solidFill>
            <a:srgbClr val="FCFCFA"/>
          </a:solidFill>
          <a:ln w="1270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309860" y="3817620"/>
            <a:ext cx="594360" cy="594360"/>
          </a:xfrm>
          <a:prstGeom prst="ellipse">
            <a:avLst/>
          </a:prstGeom>
          <a:noFill/>
          <a:ln w="1016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515600" y="4023360"/>
            <a:ext cx="182880" cy="182880"/>
          </a:xfrm>
          <a:prstGeom prst="ellipse">
            <a:avLst/>
          </a:prstGeom>
          <a:noFill/>
          <a:ln w="127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10497312" y="4096512"/>
            <a:ext cx="219455" cy="36575"/>
          </a:xfrm>
          <a:prstGeom prst="line">
            <a:avLst/>
          </a:prstGeom>
          <a:ln w="101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88752" y="4005072"/>
            <a:ext cx="36576" cy="219456"/>
          </a:xfrm>
          <a:prstGeom prst="line">
            <a:avLst/>
          </a:prstGeom>
          <a:ln w="101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10533888" y="4133088"/>
            <a:ext cx="36576" cy="36576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43616" y="4059936"/>
            <a:ext cx="36576" cy="36576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01200" y="46177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050" b="1">
                <a:solidFill>
                  <a:srgbClr val="1E1E1E"/>
                </a:solidFill>
                <a:latin typeface="Inter"/>
              </a:defRPr>
            </a:pPr>
            <a:r>
              <a:t>FUTURE-READY</a:t>
            </a:r>
            <a:br/>
            <a:r>
              <a:t>ECOSYSTEM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0" y="521208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defRPr sz="900">
                <a:solidFill>
                  <a:srgbClr val="8C8C91"/>
                </a:solidFill>
                <a:latin typeface="Inter"/>
              </a:defRPr>
            </a:pPr>
            <a:r>
              <a:t>A scalable foundation designed to evolve with emerging technologies.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A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85216" y="6483096"/>
            <a:ext cx="292608" cy="292608"/>
          </a:xfrm>
          <a:prstGeom prst="ellipse">
            <a:avLst/>
          </a:prstGeom>
          <a:solidFill>
            <a:srgbClr val="0A0B0C"/>
          </a:solidFill>
          <a:ln w="12700">
            <a:solidFill>
              <a:srgbClr val="C6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58368" y="6556248"/>
            <a:ext cx="146304" cy="146304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97280" y="6492240"/>
            <a:ext cx="13716" cy="274320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234440" y="649224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F5F5F7"/>
                </a:solidFill>
                <a:latin typeface="Inter"/>
              </a:rPr>
              <a:t>Together, we can turn independent intelligence into </a:t>
            </a:r>
            <a:r>
              <a:rPr sz="1050" b="1">
                <a:solidFill>
                  <a:srgbClr val="C66A2B"/>
                </a:solidFill>
                <a:latin typeface="Inter"/>
              </a:rPr>
              <a:t>collective impact</a:t>
            </a:r>
            <a:r>
              <a:rPr sz="1050">
                <a:solidFill>
                  <a:srgbClr val="F5F5F7"/>
                </a:solidFill>
                <a:latin typeface="Inter"/>
              </a:rPr>
              <a:t>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61120" y="6492240"/>
            <a:ext cx="13715" cy="274320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144000" y="647395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5000"/>
              </a:lnSpc>
              <a:defRPr sz="850" b="1">
                <a:solidFill>
                  <a:srgbClr val="F5F5F7"/>
                </a:solidFill>
                <a:latin typeface="Inter"/>
              </a:defRPr>
            </a:pPr>
            <a:r>
              <a:t>CONNECTED INTELLIGENCE.</a:t>
            </a:r>
            <a:br/>
            <a:r>
              <a:t>STRONGER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