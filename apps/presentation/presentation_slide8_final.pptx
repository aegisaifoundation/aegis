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66A2B"/>
                </a:solidFill>
                <a:latin typeface="Inter"/>
              </a:defRPr>
            </a:pPr>
            <a: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5880" y="384048"/>
            <a:ext cx="9144" cy="329184"/>
          </a:xfrm>
          <a:prstGeom prst="rect">
            <a:avLst/>
          </a:prstGeom>
          <a:solidFill>
            <a:srgbClr val="DCD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850" b="1">
                <a:solidFill>
                  <a:srgbClr val="78787D"/>
                </a:solidFill>
                <a:latin typeface="Inter"/>
              </a:defRPr>
            </a:pPr>
            <a:r>
              <a:t>CONNECTING INTELLIGENCE</a:t>
            </a:r>
            <a:br/>
            <a:r>
              <a:t>ACROSS ORGANIZATIONS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0" y="384048"/>
            <a:ext cx="13716" cy="329184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78440" y="38404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1E1E"/>
                </a:solidFill>
                <a:latin typeface="Inter"/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737360"/>
            <a:ext cx="670529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1E1E1E"/>
                </a:solidFill>
                <a:latin typeface="Sora"/>
              </a:rPr>
              <a:t>CONCLU</a:t>
            </a:r>
            <a:r>
              <a:rPr sz="4800" b="1">
                <a:solidFill>
                  <a:srgbClr val="C66A2B"/>
                </a:solidFill>
                <a:latin typeface="Sora"/>
              </a:rPr>
              <a:t>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3291840"/>
            <a:ext cx="1005840" cy="18288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3657600"/>
            <a:ext cx="761969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  <a:defRPr sz="1350">
                <a:solidFill>
                  <a:srgbClr val="1E1E1E"/>
                </a:solidFill>
                <a:latin typeface="Inter"/>
              </a:defRPr>
            </a:pPr>
            <a:r>
              <a:t>Our vision is to build a future where intelligence</a:t>
            </a:r>
            <a:br/>
            <a:r>
              <a:t>is not isolated within organizations, but connected</a:t>
            </a:r>
            <a:br/>
            <a:r>
              <a:t>across them to create a more collaborative,</a:t>
            </a:r>
            <a:br/>
            <a:r>
              <a:t>secure, and intelligent world.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5029200"/>
            <a:ext cx="8899855" cy="1371600"/>
          </a:xfrm>
          <a:prstGeom prst="roundRect">
            <a:avLst/>
          </a:prstGeom>
          <a:solidFill>
            <a:srgbClr val="10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5166360"/>
            <a:ext cx="8351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C66A2B"/>
                </a:solidFill>
                <a:latin typeface="Libre Baskerville"/>
              </a:rPr>
              <a:t>“   </a:t>
            </a:r>
            <a:r>
              <a:rPr sz="1200">
                <a:solidFill>
                  <a:srgbClr val="FFFFFF"/>
                </a:solidFill>
                <a:latin typeface="Inter"/>
              </a:rPr>
              <a:t>The future of Artificial Intelligence is not defined by the intelligence
of individual systems, but by their ability to </a:t>
            </a:r>
            <a:r>
              <a:rPr sz="1200" b="1">
                <a:solidFill>
                  <a:srgbClr val="C66A2B"/>
                </a:solidFill>
                <a:latin typeface="Inter"/>
              </a:rPr>
              <a:t>collaborate.</a:t>
            </a:r>
            <a:r>
              <a:rPr sz="2000" b="1">
                <a:solidFill>
                  <a:srgbClr val="C66A2B"/>
                </a:solidFill>
                <a:latin typeface="Libre Baskerville"/>
              </a:rPr>
              <a:t>   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24144" y="5870448"/>
            <a:ext cx="731519" cy="13715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5961888"/>
            <a:ext cx="48764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50" b="1">
                <a:solidFill>
                  <a:srgbClr val="C66A2B"/>
                </a:solidFill>
                <a:latin typeface="Inter"/>
              </a:defRPr>
            </a:pPr>
            <a:r>
              <a:t>CONNECT. COLLABORATE. CREATE IMPACT.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