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8C8C91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384048"/>
            <a:ext cx="13715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384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C66A2B"/>
                </a:solidFill>
                <a:latin typeface="Inter"/>
              </a:defRPr>
            </a:pPr>
            <a:r>
              <a:t>THE SOLUTION</a:t>
            </a:r>
          </a:p>
          <a:p>
            <a:pPr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E1E1E"/>
                </a:solidFill>
                <a:latin typeface="Sora"/>
              </a:rPr>
              <a:t>DISTRIBUTED
</a:t>
            </a:r>
            <a:r>
              <a:rPr sz="3600" b="1">
                <a:solidFill>
                  <a:srgbClr val="C66A2B"/>
                </a:solidFill>
                <a:latin typeface="Sora"/>
              </a:rPr>
              <a:t>INTELLIGENCE
</a:t>
            </a:r>
            <a:r>
              <a:rPr sz="3600" b="1">
                <a:solidFill>
                  <a:srgbClr val="1E1E1E"/>
                </a:solidFill>
                <a:latin typeface="Sora"/>
              </a:rPr>
              <a:t>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457200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defRPr sz="1250">
                <a:solidFill>
                  <a:srgbClr val="1E1E1E"/>
                </a:solidFill>
                <a:latin typeface="Inter"/>
              </a:defRPr>
            </a:pPr>
            <a:r>
              <a:t>A secure, decentralized foundation that enables independent AI systems to connect, collaborate, and create collective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3657600" cy="822960"/>
          </a:xfrm>
          <a:prstGeom prst="round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4919472"/>
            <a:ext cx="402336" cy="402336"/>
          </a:xfrm>
          <a:prstGeom prst="ellipse">
            <a:avLst/>
          </a:prstGeom>
          <a:solidFill>
            <a:srgbClr val="0A0B0C"/>
          </a:solidFill>
          <a:ln w="1524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5010912"/>
            <a:ext cx="219456" cy="21945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5074920"/>
            <a:ext cx="91440" cy="9144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81888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F5F5F7"/>
                </a:solidFill>
                <a:latin typeface="Inter"/>
              </a:defRPr>
            </a:pPr>
            <a:r>
              <a:t>Connecting independent intelligence.</a:t>
            </a:r>
          </a:p>
          <a:p>
            <a:pPr>
              <a:defRPr sz="1050" b="1">
                <a:solidFill>
                  <a:srgbClr val="C66A2B"/>
                </a:solidFill>
                <a:latin typeface="Inter"/>
              </a:defRPr>
            </a:pPr>
            <a:r>
              <a:t>Empowering collective progress.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1645920"/>
            <a:ext cx="3474720" cy="3474720"/>
          </a:xfrm>
          <a:prstGeom prst="ellipse">
            <a:avLst/>
          </a:prstGeom>
          <a:solidFill>
            <a:srgbClr val="FCFCFA"/>
          </a:solidFill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004304" y="2157984"/>
            <a:ext cx="1225296" cy="1225296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514539" y="2668219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229600" y="2157984"/>
            <a:ext cx="1225296" cy="1225296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862364" y="2668219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383280"/>
            <a:ext cx="1225296" cy="1225296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862364" y="4016044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7004304" y="3383280"/>
            <a:ext cx="1225296" cy="1225296"/>
          </a:xfrm>
          <a:prstGeom prst="line">
            <a:avLst/>
          </a:prstGeom>
          <a:ln w="12700">
            <a:solidFill>
              <a:srgbClr val="DC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514539" y="4016044"/>
            <a:ext cx="82296" cy="8229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0920" y="2514600"/>
            <a:ext cx="1737360" cy="1737360"/>
          </a:xfrm>
          <a:prstGeom prst="ellipse">
            <a:avLst/>
          </a:prstGeom>
          <a:solidFill>
            <a:srgbClr val="0A0B0C"/>
          </a:solidFill>
          <a:ln w="1905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8183879" y="3136392"/>
            <a:ext cx="45721" cy="82296"/>
          </a:xfrm>
          <a:prstGeom prst="line">
            <a:avLst/>
          </a:prstGeom>
          <a:ln w="1270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229600" y="3136392"/>
            <a:ext cx="45720" cy="82296"/>
          </a:xfrm>
          <a:prstGeom prst="line">
            <a:avLst/>
          </a:prstGeom>
          <a:ln w="1270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83879" y="3218688"/>
            <a:ext cx="91441" cy="0"/>
          </a:xfrm>
          <a:prstGeom prst="line">
            <a:avLst/>
          </a:prstGeom>
          <a:ln w="1270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06740" y="3113532"/>
            <a:ext cx="45720" cy="4572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61019" y="3195828"/>
            <a:ext cx="45720" cy="4572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52460" y="3195828"/>
            <a:ext cx="45720" cy="4572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4290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5F5F7"/>
                </a:solidFill>
                <a:latin typeface="Inter"/>
              </a:defRPr>
            </a:pPr>
            <a:r>
              <a:t>DISTRIBUTED</a:t>
            </a:r>
            <a:br/>
            <a:r>
              <a:t>INTELLIGENCE</a:t>
            </a:r>
            <a:br/>
            <a:r>
              <a:t>INFRASTRUCTURE</a:t>
            </a:r>
          </a:p>
        </p:txBody>
      </p:sp>
      <p:sp>
        <p:nvSpPr>
          <p:cNvPr id="32" name="Oval 31"/>
          <p:cNvSpPr/>
          <p:nvPr/>
        </p:nvSpPr>
        <p:spPr>
          <a:xfrm>
            <a:off x="6501384" y="1655063"/>
            <a:ext cx="1005840" cy="100584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0296" y="2011679"/>
            <a:ext cx="128016" cy="91440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3331" y="1975103"/>
            <a:ext cx="21945" cy="3657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76872" y="1993391"/>
            <a:ext cx="54864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1" y="1728216"/>
            <a:ext cx="274320" cy="27432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528816" y="1828800"/>
            <a:ext cx="73152" cy="73152"/>
          </a:xfrm>
          <a:custGeom>
            <a:avLst/>
            <a:gdLst/>
            <a:ahLst/>
            <a:cxnLst/>
            <a:rect l="l" t="t" r="r" b="b"/>
            <a:pathLst>
              <a:path w="73152" h="73152">
                <a:moveTo>
                  <a:pt x="0" y="0"/>
                </a:moveTo>
                <a:lnTo>
                  <a:pt x="73152" y="0"/>
                </a:lnTo>
                <a:lnTo>
                  <a:pt x="73152" y="36576"/>
                </a:lnTo>
                <a:lnTo>
                  <a:pt x="36576" y="73152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2267712"/>
            <a:ext cx="950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1F4D3A"/>
                </a:solidFill>
                <a:latin typeface="Inter"/>
              </a:defRPr>
            </a:pPr>
            <a:r>
              <a:t>HEALTHCARE</a:t>
            </a:r>
            <a:br/>
            <a:r>
              <a:t>ORGANIZATION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951976" y="1655063"/>
            <a:ext cx="1005840" cy="100584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9381744" y="1984248"/>
            <a:ext cx="146304" cy="45720"/>
          </a:xfrm>
          <a:prstGeom prst="triangl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90888" y="2029967"/>
            <a:ext cx="128016" cy="64008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41180" y="2052827"/>
            <a:ext cx="27432" cy="27432"/>
          </a:xfrm>
          <a:prstGeom prst="ellipse">
            <a:avLst/>
          </a:prstGeom>
          <a:solidFill>
            <a:srgbClr val="FC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56648" y="1728216"/>
            <a:ext cx="274320" cy="27432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848088" y="1828800"/>
            <a:ext cx="91440" cy="54864"/>
          </a:xfrm>
          <a:prstGeom prst="diamond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9408" y="2267712"/>
            <a:ext cx="950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1F4D3A"/>
                </a:solidFill>
                <a:latin typeface="Inter"/>
              </a:defRPr>
            </a:pPr>
            <a:r>
              <a:t>EDUCATIONAL</a:t>
            </a:r>
            <a:br/>
            <a:r>
              <a:t>INSTITUTION</a:t>
            </a:r>
          </a:p>
        </p:txBody>
      </p:sp>
      <p:sp>
        <p:nvSpPr>
          <p:cNvPr id="46" name="Oval 45"/>
          <p:cNvSpPr/>
          <p:nvPr/>
        </p:nvSpPr>
        <p:spPr>
          <a:xfrm>
            <a:off x="8951976" y="4105656"/>
            <a:ext cx="1005840" cy="100584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81744" y="4462272"/>
            <a:ext cx="146304" cy="73152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9372600" y="4425696"/>
            <a:ext cx="164592" cy="36576"/>
          </a:xfrm>
          <a:prstGeom prst="triangl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56648" y="4764024"/>
            <a:ext cx="274320" cy="27432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57232" y="4873752"/>
            <a:ext cx="73152" cy="5486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79408" y="4718304"/>
            <a:ext cx="950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1F4D3A"/>
                </a:solidFill>
                <a:latin typeface="Inter"/>
              </a:defRPr>
            </a:pPr>
            <a:r>
              <a:t>GOVERNMENT</a:t>
            </a:r>
            <a:br/>
            <a:r>
              <a:t>AGENCY</a:t>
            </a:r>
          </a:p>
        </p:txBody>
      </p:sp>
      <p:sp>
        <p:nvSpPr>
          <p:cNvPr id="52" name="Oval 51"/>
          <p:cNvSpPr/>
          <p:nvPr/>
        </p:nvSpPr>
        <p:spPr>
          <a:xfrm>
            <a:off x="6501384" y="4105656"/>
            <a:ext cx="1005840" cy="1005840"/>
          </a:xfrm>
          <a:prstGeom prst="ellipse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6940296" y="4471416"/>
            <a:ext cx="128016" cy="73152"/>
          </a:xfrm>
          <a:custGeom>
            <a:avLst/>
            <a:gdLst/>
            <a:ahLst/>
            <a:cxnLst/>
            <a:rect l="l" t="t" r="r" b="b"/>
            <a:pathLst>
              <a:path w="128016" h="73152">
                <a:moveTo>
                  <a:pt x="0" y="73152"/>
                </a:moveTo>
                <a:lnTo>
                  <a:pt x="0" y="0"/>
                </a:lnTo>
                <a:lnTo>
                  <a:pt x="36576" y="36576"/>
                </a:lnTo>
                <a:lnTo>
                  <a:pt x="36576" y="0"/>
                </a:lnTo>
                <a:lnTo>
                  <a:pt x="73152" y="36576"/>
                </a:lnTo>
                <a:lnTo>
                  <a:pt x="73152" y="0"/>
                </a:lnTo>
                <a:lnTo>
                  <a:pt x="128016" y="36576"/>
                </a:lnTo>
                <a:lnTo>
                  <a:pt x="128016" y="73152"/>
                </a:lnTo>
                <a:lnTo>
                  <a:pt x="0" y="73152"/>
                </a:lnTo>
                <a:close/>
              </a:path>
            </a:pathLst>
          </a:cu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28231" y="4764024"/>
            <a:ext cx="274320" cy="27432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28816" y="4864608"/>
            <a:ext cx="73152" cy="73152"/>
          </a:xfrm>
          <a:prstGeom prst="ellipse">
            <a:avLst/>
          </a:prstGeom>
          <a:solidFill>
            <a:srgbClr val="16181A"/>
          </a:solidFill>
          <a:ln w="1270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28816" y="4718304"/>
            <a:ext cx="950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1F4D3A"/>
                </a:solidFill>
                <a:latin typeface="Inter"/>
              </a:defRPr>
            </a:pPr>
            <a:r>
              <a:t>INDUSTRY</a:t>
            </a:r>
            <a:br/>
            <a:r>
              <a:t>ENTERPRISE</a:t>
            </a:r>
          </a:p>
        </p:txBody>
      </p:sp>
      <p:sp>
        <p:nvSpPr>
          <p:cNvPr id="57" name="Oval 56"/>
          <p:cNvSpPr/>
          <p:nvPr/>
        </p:nvSpPr>
        <p:spPr>
          <a:xfrm>
            <a:off x="8183879" y="1691639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502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E1E1E"/>
                </a:solidFill>
                <a:latin typeface="Inter"/>
              </a:rPr>
              <a:t>SECURE BY DESIGN
</a:t>
            </a:r>
            <a:r>
              <a:rPr sz="800">
                <a:solidFill>
                  <a:srgbClr val="8C8C91"/>
                </a:solidFill>
                <a:latin typeface="Inter"/>
              </a:rPr>
              <a:t>Privacy-preserving collaboration
with zero-trust architecture.</a:t>
            </a:r>
          </a:p>
        </p:txBody>
      </p:sp>
      <p:sp>
        <p:nvSpPr>
          <p:cNvPr id="59" name="Oval 58"/>
          <p:cNvSpPr/>
          <p:nvPr/>
        </p:nvSpPr>
        <p:spPr>
          <a:xfrm>
            <a:off x="8183879" y="498348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5257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E1E1E"/>
                </a:solidFill>
                <a:latin typeface="Inter"/>
              </a:rPr>
              <a:t>DECENTRALIZED &amp; SOVEREIGN
</a:t>
            </a:r>
            <a:r>
              <a:rPr sz="800">
                <a:solidFill>
                  <a:srgbClr val="8C8C91"/>
                </a:solidFill>
                <a:latin typeface="Inter"/>
              </a:rPr>
              <a:t>Each organization retains control
over its data and models.</a:t>
            </a:r>
          </a:p>
        </p:txBody>
      </p:sp>
      <p:sp>
        <p:nvSpPr>
          <p:cNvPr id="61" name="Oval 60"/>
          <p:cNvSpPr/>
          <p:nvPr/>
        </p:nvSpPr>
        <p:spPr>
          <a:xfrm>
            <a:off x="6537960" y="333756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29718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>
                <a:solidFill>
                  <a:srgbClr val="1E1E1E"/>
                </a:solidFill>
                <a:latin typeface="Inter"/>
              </a:rPr>
              <a:t>SHARED CAPABILITIES
</a:t>
            </a:r>
            <a:r>
              <a:rPr sz="800">
                <a:solidFill>
                  <a:srgbClr val="8C8C91"/>
                </a:solidFill>
                <a:latin typeface="Inter"/>
              </a:rPr>
              <a:t>Discover and access
capabilities across
organizations.</a:t>
            </a:r>
          </a:p>
        </p:txBody>
      </p:sp>
      <p:sp>
        <p:nvSpPr>
          <p:cNvPr id="63" name="Oval 62"/>
          <p:cNvSpPr/>
          <p:nvPr/>
        </p:nvSpPr>
        <p:spPr>
          <a:xfrm>
            <a:off x="9829800" y="333756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0" y="29718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1E1E1E"/>
                </a:solidFill>
                <a:latin typeface="Inter"/>
              </a:rPr>
              <a:t>COLLECTIVE INTELLIGENCE
</a:t>
            </a:r>
            <a:r>
              <a:rPr sz="800">
                <a:solidFill>
                  <a:srgbClr val="8C8C91"/>
                </a:solidFill>
                <a:latin typeface="Inter"/>
              </a:rPr>
              <a:t>Combine strengths,
share insights, and
solve bigger challenges.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66A2B"/>
                </a:solidFill>
                <a:latin typeface="Libre Baskerville"/>
              </a:rPr>
              <a:t>“   </a:t>
            </a:r>
            <a:r>
              <a:rPr sz="1300">
                <a:solidFill>
                  <a:srgbClr val="F5F5F7"/>
                </a:solidFill>
                <a:latin typeface="Libre Baskerville"/>
              </a:rPr>
              <a:t>Turning isolated AI systems into a network of </a:t>
            </a:r>
            <a:r>
              <a:rPr sz="1300" b="1">
                <a:solidFill>
                  <a:srgbClr val="C66A2B"/>
                </a:solidFill>
                <a:latin typeface="Libre Baskerville"/>
              </a:rPr>
              <a:t>collaborative intelligence</a:t>
            </a:r>
            <a:r>
              <a:rPr sz="1300">
                <a:solidFill>
                  <a:srgbClr val="F5F5F7"/>
                </a:solidFill>
                <a:latin typeface="Libre Baskerville"/>
              </a:rPr>
              <a:t>.</a:t>
            </a:r>
            <a:r>
              <a:rPr sz="1600" b="1">
                <a:solidFill>
                  <a:srgbClr val="C66A2B"/>
                </a:solidFill>
                <a:latin typeface="Libre Baskerville"/>
              </a:rPr>
              <a:t>  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