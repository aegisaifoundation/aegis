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0"/>
              </a:spcAft>
              <a:defRPr sz="1100" b="1">
                <a:solidFill>
                  <a:srgbClr val="B87333"/>
                </a:solidFill>
                <a:latin typeface="Sora"/>
              </a:defRPr>
            </a:pPr>
            <a:r>
              <a:t>B.TECH FINAL YEAR PROJECT PRESENTATION</a:t>
            </a:r>
          </a:p>
          <a:p>
            <a:pPr>
              <a:spcAft>
                <a:spcPts val="2000"/>
              </a:spcAft>
              <a:defRPr sz="4000" b="1">
                <a:solidFill>
                  <a:srgbClr val="F5F5F7"/>
                </a:solidFill>
                <a:latin typeface="Sora"/>
              </a:defRPr>
            </a:pPr>
            <a:r>
              <a:t>Connecting Intelligence</a:t>
            </a:r>
            <a:br/>
            <a:r>
              <a:t>Across Organizations</a:t>
            </a:r>
          </a:p>
          <a:p>
            <a:pPr>
              <a:defRPr sz="1500">
                <a:solidFill>
                  <a:srgbClr val="86868B"/>
                </a:solidFill>
                <a:latin typeface="Inter"/>
              </a:defRPr>
            </a:pPr>
            <a:r>
              <a:t>A Distributed Intelligence Infrastructure for Secure AI Collaboration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297680"/>
            <a:ext cx="10728655" cy="9144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66344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15154"/>
                </a:solidFill>
                <a:latin typeface="Sora"/>
              </a:defRPr>
            </a:pPr>
            <a:r>
              <a:t>PRESENTED BY</a:t>
            </a:r>
          </a:p>
          <a:p>
            <a:pPr>
              <a:defRPr sz="1300">
                <a:solidFill>
                  <a:srgbClr val="F5F5F7"/>
                </a:solidFill>
                <a:latin typeface="Inter"/>
              </a:defRPr>
            </a:pPr>
            <a:r>
              <a:t>Gokul S</a:t>
            </a:r>
            <a:br/>
            <a:r>
              <a:t>Gautham Krishna R Nair</a:t>
            </a:r>
            <a:br/>
            <a:r>
              <a:t>Sreenidhi V</a:t>
            </a:r>
            <a:br/>
            <a:r>
              <a:t>T Maheswaran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66344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15154"/>
                </a:solidFill>
                <a:latin typeface="Sora"/>
              </a:defRPr>
            </a:pPr>
            <a:r>
              <a:t>PROJECT GUIDE</a:t>
            </a:r>
          </a:p>
          <a:p>
            <a:pPr>
              <a:spcAft>
                <a:spcPts val="400"/>
              </a:spcAft>
              <a:defRPr sz="1300" b="1">
                <a:solidFill>
                  <a:srgbClr val="F5F5F7"/>
                </a:solidFill>
                <a:latin typeface="Inter"/>
              </a:defRPr>
            </a:pPr>
            <a:r>
              <a:t>Assistant Professor Nisha Soman</a:t>
            </a:r>
          </a:p>
          <a:p>
            <a:pPr>
              <a:defRPr sz="1100">
                <a:solidFill>
                  <a:srgbClr val="86868B"/>
                </a:solidFill>
                <a:latin typeface="Inter"/>
              </a:defRPr>
            </a:pPr>
            <a:r>
              <a:t>Department of AIML</a:t>
            </a:r>
            <a:br/>
            <a:r>
              <a:t>Marian Engineering College, Thiruvananthapuram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0" y="2011680"/>
            <a:ext cx="1188720" cy="914400"/>
          </a:xfrm>
          <a:prstGeom prst="line">
            <a:avLst/>
          </a:prstGeom>
          <a:ln w="952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875520" y="1645920"/>
            <a:ext cx="914400" cy="1280160"/>
          </a:xfrm>
          <a:prstGeom prst="line">
            <a:avLst/>
          </a:prstGeom>
          <a:ln w="952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875520" y="2926080"/>
            <a:ext cx="1280160" cy="182880"/>
          </a:xfrm>
          <a:prstGeom prst="line">
            <a:avLst/>
          </a:prstGeom>
          <a:ln w="952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961120" y="2926080"/>
            <a:ext cx="914400" cy="1005840"/>
          </a:xfrm>
          <a:prstGeom prst="line">
            <a:avLst/>
          </a:prstGeom>
          <a:ln w="952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61120" y="3931920"/>
            <a:ext cx="1554480" cy="182880"/>
          </a:xfrm>
          <a:prstGeom prst="line">
            <a:avLst/>
          </a:prstGeom>
          <a:ln w="952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515600" y="3108960"/>
            <a:ext cx="640080" cy="1005840"/>
          </a:xfrm>
          <a:prstGeom prst="line">
            <a:avLst/>
          </a:prstGeom>
          <a:ln w="952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613648" y="1938528"/>
            <a:ext cx="146304" cy="146304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35056" y="1591056"/>
            <a:ext cx="109728" cy="109728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65792" y="2816352"/>
            <a:ext cx="219456" cy="219456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1672" y="3044952"/>
            <a:ext cx="128016" cy="128016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78824" y="3849624"/>
            <a:ext cx="164592" cy="164592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24160" y="4023360"/>
            <a:ext cx="182880" cy="182880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B87333"/>
                </a:solidFill>
                <a:latin typeface="Sor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5F5F7"/>
                </a:solidFill>
                <a:latin typeface="Sora"/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0"/>
              </a:spcAft>
              <a:defRPr sz="1700">
                <a:solidFill>
                  <a:srgbClr val="F5F5F7"/>
                </a:solidFill>
                <a:latin typeface="Inter"/>
              </a:defRPr>
            </a:pPr>
            <a:r>
              <a:t>Artificial Intelligence is transforming industries through intelligent decision-making and automation. However, AI systems developed by different organizations often work independently because of privacy, security, and ownership concerns.</a:t>
            </a:r>
          </a:p>
          <a:p>
            <a:pPr>
              <a:defRPr sz="1400">
                <a:solidFill>
                  <a:srgbClr val="86868B"/>
                </a:solidFill>
                <a:latin typeface="Inter"/>
              </a:defRPr>
            </a:pPr>
            <a:r>
              <a:t>This project proposes a Distributed Intelligence Infrastructure that enables AI systems to collaborate securely without compromising organizational control. The objective is to improve collaboration, accelerate innovation, and establish a connected AI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645920"/>
            <a:ext cx="4114800" cy="3931920"/>
          </a:xfrm>
          <a:prstGeom prst="roundRect">
            <a:avLst/>
          </a:prstGeom>
          <a:solidFill>
            <a:srgbClr val="191B1D"/>
          </a:solidFill>
          <a:ln w="12700">
            <a:solidFill>
              <a:srgbClr val="2C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46720" y="2468880"/>
            <a:ext cx="1325880" cy="1143000"/>
          </a:xfrm>
          <a:prstGeom prst="line">
            <a:avLst/>
          </a:prstGeom>
          <a:ln w="952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973568" y="2395728"/>
            <a:ext cx="146304" cy="146304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9372600" y="2377440"/>
            <a:ext cx="1325880" cy="1234440"/>
          </a:xfrm>
          <a:prstGeom prst="line">
            <a:avLst/>
          </a:prstGeom>
          <a:ln w="952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625328" y="2304288"/>
            <a:ext cx="146304" cy="146304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229600" y="3611880"/>
            <a:ext cx="1143000" cy="960120"/>
          </a:xfrm>
          <a:prstGeom prst="line">
            <a:avLst/>
          </a:prstGeom>
          <a:ln w="952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156448" y="4498848"/>
            <a:ext cx="146304" cy="146304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9372600" y="3611880"/>
            <a:ext cx="1143000" cy="868680"/>
          </a:xfrm>
          <a:prstGeom prst="line">
            <a:avLst/>
          </a:prstGeom>
          <a:ln w="952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0442448" y="4407408"/>
            <a:ext cx="146304" cy="146304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89720" y="34290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4937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6868B"/>
                </a:solidFill>
                <a:latin typeface="Sora"/>
              </a:defRPr>
            </a:pPr>
            <a:r>
              <a:t>Central Collaboration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B87333"/>
                </a:solidFill>
                <a:latin typeface="Sor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5F5F7"/>
                </a:solidFill>
                <a:latin typeface="Sora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0"/>
              </a:spcAft>
              <a:defRPr sz="2000" b="1">
                <a:solidFill>
                  <a:srgbClr val="F5F5F7"/>
                </a:solidFill>
                <a:latin typeface="Sora"/>
              </a:defRPr>
            </a:pPr>
            <a:r>
              <a:t>Current Challenges</a:t>
            </a:r>
          </a:p>
          <a:p>
            <a:pPr>
              <a:spcAft>
                <a:spcPts val="1200"/>
              </a:spcAft>
              <a:defRPr sz="1400">
                <a:solidFill>
                  <a:srgbClr val="86868B"/>
                </a:solidFill>
                <a:latin typeface="Inter"/>
              </a:defRPr>
            </a:pPr>
            <a:r>
              <a:t>•   AI systems operate independently.</a:t>
            </a:r>
          </a:p>
          <a:p>
            <a:pPr>
              <a:spcAft>
                <a:spcPts val="1200"/>
              </a:spcAft>
              <a:defRPr sz="1400">
                <a:solidFill>
                  <a:srgbClr val="86868B"/>
                </a:solidFill>
                <a:latin typeface="Inter"/>
              </a:defRPr>
            </a:pPr>
            <a:r>
              <a:t>•   Organizations cannot easily collaborate.</a:t>
            </a:r>
          </a:p>
          <a:p>
            <a:pPr>
              <a:spcAft>
                <a:spcPts val="1200"/>
              </a:spcAft>
              <a:defRPr sz="1400">
                <a:solidFill>
                  <a:srgbClr val="86868B"/>
                </a:solidFill>
                <a:latin typeface="Inter"/>
              </a:defRPr>
            </a:pPr>
            <a:r>
              <a:t>•   Privacy prevents direct data sharing.</a:t>
            </a:r>
          </a:p>
          <a:p>
            <a:pPr>
              <a:spcAft>
                <a:spcPts val="1200"/>
              </a:spcAft>
              <a:defRPr sz="1400">
                <a:solidFill>
                  <a:srgbClr val="86868B"/>
                </a:solidFill>
                <a:latin typeface="Inter"/>
              </a:defRPr>
            </a:pPr>
            <a:r>
              <a:t>•   Similar AI solutions are repeatedly developed.</a:t>
            </a:r>
          </a:p>
          <a:p>
            <a:pPr>
              <a:spcAft>
                <a:spcPts val="1200"/>
              </a:spcAft>
              <a:defRPr sz="1400">
                <a:solidFill>
                  <a:srgbClr val="86868B"/>
                </a:solidFill>
                <a:latin typeface="Inter"/>
              </a:defRPr>
            </a:pPr>
            <a:r>
              <a:t>•   No common infrastructure exists for collaboration.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645920"/>
            <a:ext cx="4114800" cy="3931920"/>
          </a:xfrm>
          <a:prstGeom prst="roundRect">
            <a:avLst/>
          </a:prstGeom>
          <a:solidFill>
            <a:srgbClr val="191B1D"/>
          </a:solidFill>
          <a:ln w="12700">
            <a:solidFill>
              <a:srgbClr val="2C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65008" y="2212848"/>
            <a:ext cx="146304" cy="146304"/>
          </a:xfrm>
          <a:prstGeom prst="ellipse">
            <a:avLst/>
          </a:prstGeom>
          <a:solidFill>
            <a:srgbClr val="86868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2423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86868B"/>
                </a:solidFill>
                <a:latin typeface="Inter"/>
              </a:defRPr>
            </a:pPr>
            <a:r>
              <a:t>Hospital</a:t>
            </a:r>
          </a:p>
        </p:txBody>
      </p:sp>
      <p:sp>
        <p:nvSpPr>
          <p:cNvPr id="8" name="Oval 7"/>
          <p:cNvSpPr/>
          <p:nvPr/>
        </p:nvSpPr>
        <p:spPr>
          <a:xfrm>
            <a:off x="10533888" y="2212848"/>
            <a:ext cx="146304" cy="146304"/>
          </a:xfrm>
          <a:prstGeom prst="ellipse">
            <a:avLst/>
          </a:prstGeom>
          <a:solidFill>
            <a:srgbClr val="86868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2423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86868B"/>
                </a:solidFill>
                <a:latin typeface="Inter"/>
              </a:defRPr>
            </a:pPr>
            <a:r>
              <a:t>Research Lab</a:t>
            </a:r>
          </a:p>
        </p:txBody>
      </p:sp>
      <p:sp>
        <p:nvSpPr>
          <p:cNvPr id="10" name="Oval 9"/>
          <p:cNvSpPr/>
          <p:nvPr/>
        </p:nvSpPr>
        <p:spPr>
          <a:xfrm>
            <a:off x="9299448" y="3310128"/>
            <a:ext cx="146304" cy="146304"/>
          </a:xfrm>
          <a:prstGeom prst="ellipse">
            <a:avLst/>
          </a:prstGeom>
          <a:solidFill>
            <a:srgbClr val="86868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3520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86868B"/>
                </a:solidFill>
                <a:latin typeface="Inter"/>
              </a:defRPr>
            </a:pPr>
            <a:r>
              <a:t>University</a:t>
            </a:r>
          </a:p>
        </p:txBody>
      </p:sp>
      <p:sp>
        <p:nvSpPr>
          <p:cNvPr id="12" name="Oval 11"/>
          <p:cNvSpPr/>
          <p:nvPr/>
        </p:nvSpPr>
        <p:spPr>
          <a:xfrm>
            <a:off x="8247888" y="4407408"/>
            <a:ext cx="146304" cy="146304"/>
          </a:xfrm>
          <a:prstGeom prst="ellipse">
            <a:avLst/>
          </a:prstGeom>
          <a:solidFill>
            <a:srgbClr val="86868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4617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86868B"/>
                </a:solidFill>
                <a:latin typeface="Inter"/>
              </a:defRPr>
            </a:pPr>
            <a:r>
              <a:t>Industry</a:t>
            </a:r>
          </a:p>
        </p:txBody>
      </p:sp>
      <p:sp>
        <p:nvSpPr>
          <p:cNvPr id="14" name="Oval 13"/>
          <p:cNvSpPr/>
          <p:nvPr/>
        </p:nvSpPr>
        <p:spPr>
          <a:xfrm>
            <a:off x="10351008" y="4407408"/>
            <a:ext cx="146304" cy="146304"/>
          </a:xfrm>
          <a:prstGeom prst="ellipse">
            <a:avLst/>
          </a:prstGeom>
          <a:solidFill>
            <a:srgbClr val="86868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4617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86868B"/>
                </a:solidFill>
                <a:latin typeface="Inter"/>
              </a:defRPr>
            </a:pPr>
            <a:r>
              <a:t>Government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737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F4444"/>
                </a:solidFill>
                <a:latin typeface="Sora"/>
              </a:defRPr>
            </a:pPr>
            <a:r>
              <a:t>ISOLATED SILOS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86868B"/>
                </a:solidFill>
                <a:latin typeface="Inter"/>
              </a:defRPr>
            </a:pPr>
            <a:r>
              <a:t>"The next challenge in AI is enabling independent AI systems to collaborate securely."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B87333"/>
                </a:solidFill>
                <a:latin typeface="Sor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5F5F7"/>
                </a:solidFill>
                <a:latin typeface="Sora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B87333"/>
                </a:solidFill>
                <a:latin typeface="Sora"/>
              </a:defRPr>
            </a:pPr>
            <a:r>
              <a:t>THE NEW PARADIGM</a:t>
            </a:r>
          </a:p>
          <a:p>
            <a:pPr>
              <a:spcAft>
                <a:spcPts val="2000"/>
              </a:spcAft>
              <a:defRPr sz="2200" b="1">
                <a:solidFill>
                  <a:srgbClr val="F5F5F7"/>
                </a:solidFill>
                <a:latin typeface="Sora"/>
              </a:defRPr>
            </a:pPr>
            <a:r>
              <a:t>Distributed Intelligence Infrastructure</a:t>
            </a:r>
          </a:p>
          <a:p>
            <a:pPr>
              <a:spcAft>
                <a:spcPts val="1000"/>
              </a:spcAft>
              <a:defRPr sz="1400">
                <a:solidFill>
                  <a:srgbClr val="86868B"/>
                </a:solidFill>
                <a:latin typeface="Inter"/>
              </a:defRPr>
            </a:pPr>
            <a:r>
              <a:t>•   Communicate securely</a:t>
            </a:r>
          </a:p>
          <a:p>
            <a:pPr>
              <a:spcAft>
                <a:spcPts val="1000"/>
              </a:spcAft>
              <a:defRPr sz="1400">
                <a:solidFill>
                  <a:srgbClr val="86868B"/>
                </a:solidFill>
                <a:latin typeface="Inter"/>
              </a:defRPr>
            </a:pPr>
            <a:r>
              <a:t>•   Coordinate tasks</a:t>
            </a:r>
          </a:p>
          <a:p>
            <a:pPr>
              <a:spcAft>
                <a:spcPts val="1000"/>
              </a:spcAft>
              <a:defRPr sz="1400">
                <a:solidFill>
                  <a:srgbClr val="86868B"/>
                </a:solidFill>
                <a:latin typeface="Inter"/>
              </a:defRPr>
            </a:pPr>
            <a:r>
              <a:t>•   Share approved capabilities</a:t>
            </a:r>
          </a:p>
          <a:p>
            <a:pPr>
              <a:spcAft>
                <a:spcPts val="1000"/>
              </a:spcAft>
              <a:defRPr sz="1400">
                <a:solidFill>
                  <a:srgbClr val="86868B"/>
                </a:solidFill>
                <a:latin typeface="Inter"/>
              </a:defRPr>
            </a:pPr>
            <a:r>
              <a:t>•   Preserve ownership</a:t>
            </a:r>
          </a:p>
          <a:p>
            <a:pPr>
              <a:spcAft>
                <a:spcPts val="1000"/>
              </a:spcAft>
              <a:defRPr sz="1400">
                <a:solidFill>
                  <a:srgbClr val="86868B"/>
                </a:solidFill>
                <a:latin typeface="Inter"/>
              </a:defRPr>
            </a:pPr>
            <a:r>
              <a:t>•   Maintain privacy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645920"/>
            <a:ext cx="4114800" cy="3931920"/>
          </a:xfrm>
          <a:prstGeom prst="roundRect">
            <a:avLst/>
          </a:prstGeom>
          <a:solidFill>
            <a:srgbClr val="191B1D"/>
          </a:solidFill>
          <a:ln w="127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138160" y="2286000"/>
            <a:ext cx="1234440" cy="1325880"/>
          </a:xfrm>
          <a:prstGeom prst="line">
            <a:avLst/>
          </a:prstGeom>
          <a:ln w="1587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065008" y="2212848"/>
            <a:ext cx="146304" cy="146304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9372600" y="2286000"/>
            <a:ext cx="1234440" cy="1325880"/>
          </a:xfrm>
          <a:prstGeom prst="line">
            <a:avLst/>
          </a:prstGeom>
          <a:ln w="1587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533888" y="2212848"/>
            <a:ext cx="146304" cy="146304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372600" y="3383280"/>
            <a:ext cx="0" cy="228600"/>
          </a:xfrm>
          <a:prstGeom prst="line">
            <a:avLst/>
          </a:prstGeom>
          <a:ln w="1587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299448" y="3310128"/>
            <a:ext cx="146304" cy="146304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8321040" y="3611880"/>
            <a:ext cx="1051560" cy="868680"/>
          </a:xfrm>
          <a:prstGeom prst="line">
            <a:avLst/>
          </a:prstGeom>
          <a:ln w="1587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47888" y="4407408"/>
            <a:ext cx="146304" cy="146304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9372600" y="3611880"/>
            <a:ext cx="1051560" cy="868680"/>
          </a:xfrm>
          <a:prstGeom prst="line">
            <a:avLst/>
          </a:prstGeom>
          <a:ln w="15875">
            <a:solidFill>
              <a:srgbClr val="B87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351008" y="4407408"/>
            <a:ext cx="146304" cy="146304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26296" y="3465576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1089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F5F7"/>
                </a:solidFill>
                <a:latin typeface="Sora"/>
              </a:defRPr>
            </a:pPr>
            <a:r>
              <a:t>DII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B87333"/>
                </a:solidFill>
                <a:latin typeface="Sora"/>
              </a:defRPr>
            </a:pPr>
            <a:r>
              <a:t>Connecting intelligence without compromising trust.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B87333"/>
                </a:solidFill>
                <a:latin typeface="Sor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5F5F7"/>
                </a:solidFill>
                <a:latin typeface="Sora"/>
              </a:defRPr>
            </a:pPr>
            <a:r>
              <a:t>Implementation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10362895" cy="18288"/>
          </a:xfrm>
          <a:prstGeom prst="rect">
            <a:avLst/>
          </a:prstGeom>
          <a:solidFill>
            <a:srgbClr val="2C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4520" y="3154680"/>
            <a:ext cx="274320" cy="274320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B87333"/>
                </a:solidFill>
                <a:latin typeface="Sora"/>
              </a:defRPr>
            </a:pPr>
            <a:r>
              <a:t>STAGE 01</a:t>
            </a:r>
          </a:p>
          <a:p>
            <a:pPr algn="ctr">
              <a:defRPr sz="1800" b="1">
                <a:solidFill>
                  <a:srgbClr val="F5F5F7"/>
                </a:solidFill>
                <a:latin typeface="Sora"/>
              </a:defRPr>
            </a:pPr>
            <a:r>
              <a:t>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6868B"/>
                </a:solidFill>
                <a:latin typeface="Inter"/>
              </a:defRPr>
            </a:pPr>
            <a:r>
              <a:t>Study AI collaboration approaches.</a:t>
            </a:r>
          </a:p>
        </p:txBody>
      </p:sp>
      <p:sp>
        <p:nvSpPr>
          <p:cNvPr id="8" name="Oval 7"/>
          <p:cNvSpPr/>
          <p:nvPr/>
        </p:nvSpPr>
        <p:spPr>
          <a:xfrm>
            <a:off x="4434840" y="3154680"/>
            <a:ext cx="274320" cy="274320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288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B87333"/>
                </a:solidFill>
                <a:latin typeface="Sora"/>
              </a:defRPr>
            </a:pPr>
            <a:r>
              <a:t>STAGE 02</a:t>
            </a:r>
          </a:p>
          <a:p>
            <a:pPr algn="ctr">
              <a:defRPr sz="1800" b="1">
                <a:solidFill>
                  <a:srgbClr val="F5F5F7"/>
                </a:solidFill>
                <a:latin typeface="Sora"/>
              </a:defRPr>
            </a:pPr>
            <a: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6576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6868B"/>
                </a:solidFill>
                <a:latin typeface="Inter"/>
              </a:defRPr>
            </a:pPr>
            <a:r>
              <a:t>Design secure communication architecture.</a:t>
            </a:r>
          </a:p>
        </p:txBody>
      </p:sp>
      <p:sp>
        <p:nvSpPr>
          <p:cNvPr id="11" name="Oval 10"/>
          <p:cNvSpPr/>
          <p:nvPr/>
        </p:nvSpPr>
        <p:spPr>
          <a:xfrm>
            <a:off x="6995159" y="3154680"/>
            <a:ext cx="274320" cy="274320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8288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B87333"/>
                </a:solidFill>
                <a:latin typeface="Sora"/>
              </a:defRPr>
            </a:pPr>
            <a:r>
              <a:t>STAGE 03</a:t>
            </a:r>
          </a:p>
          <a:p>
            <a:pPr algn="ctr">
              <a:defRPr sz="1800" b="1">
                <a:solidFill>
                  <a:srgbClr val="F5F5F7"/>
                </a:solidFill>
                <a:latin typeface="Sora"/>
              </a:defRPr>
            </a:pPr>
            <a:r>
              <a:t>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6576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6868B"/>
                </a:solidFill>
                <a:latin typeface="Inter"/>
              </a:defRPr>
            </a:pPr>
            <a:r>
              <a:t>Develop a working prototype.</a:t>
            </a:r>
          </a:p>
        </p:txBody>
      </p:sp>
      <p:sp>
        <p:nvSpPr>
          <p:cNvPr id="14" name="Oval 13"/>
          <p:cNvSpPr/>
          <p:nvPr/>
        </p:nvSpPr>
        <p:spPr>
          <a:xfrm>
            <a:off x="9555480" y="3154680"/>
            <a:ext cx="274320" cy="274320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8288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B87333"/>
                </a:solidFill>
                <a:latin typeface="Sora"/>
              </a:defRPr>
            </a:pPr>
            <a:r>
              <a:t>STAGE 04</a:t>
            </a:r>
          </a:p>
          <a:p>
            <a:pPr algn="ctr">
              <a:defRPr sz="1800" b="1">
                <a:solidFill>
                  <a:srgbClr val="F5F5F7"/>
                </a:solidFill>
                <a:latin typeface="Sora"/>
              </a:defRPr>
            </a:pPr>
            <a: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6576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6868B"/>
                </a:solidFill>
                <a:latin typeface="Inter"/>
              </a:defRPr>
            </a:pPr>
            <a:r>
              <a:t>Test collaboration, security and scalability.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B87333"/>
                </a:solidFill>
                <a:latin typeface="Sor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5F5F7"/>
                </a:solidFill>
                <a:latin typeface="Sora"/>
              </a:defRPr>
            </a:pPr>
            <a:r>
              <a:t>Target Users &amp; 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87333"/>
                </a:solidFill>
                <a:latin typeface="Sora"/>
              </a:defRPr>
            </a:pPr>
            <a:r>
              <a:t>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5F5F7"/>
                </a:solidFill>
                <a:latin typeface="Inter"/>
              </a:defRPr>
            </a:pPr>
            <a:r>
              <a:t>•   Educational Institutions</a:t>
            </a:r>
          </a:p>
          <a:p>
            <a:pPr>
              <a:spcAft>
                <a:spcPts val="1400"/>
              </a:spcAft>
              <a:defRPr sz="1400">
                <a:solidFill>
                  <a:srgbClr val="F5F5F7"/>
                </a:solidFill>
                <a:latin typeface="Inter"/>
              </a:defRPr>
            </a:pPr>
            <a:r>
              <a:t>•   Research Organizations</a:t>
            </a:r>
          </a:p>
          <a:p>
            <a:pPr>
              <a:spcAft>
                <a:spcPts val="1400"/>
              </a:spcAft>
              <a:defRPr sz="1400">
                <a:solidFill>
                  <a:srgbClr val="F5F5F7"/>
                </a:solidFill>
                <a:latin typeface="Inter"/>
              </a:defRPr>
            </a:pPr>
            <a:r>
              <a:t>•   Healthcare</a:t>
            </a:r>
          </a:p>
          <a:p>
            <a:pPr>
              <a:spcAft>
                <a:spcPts val="1400"/>
              </a:spcAft>
              <a:defRPr sz="1400">
                <a:solidFill>
                  <a:srgbClr val="F5F5F7"/>
                </a:solidFill>
                <a:latin typeface="Inter"/>
              </a:defRPr>
            </a:pPr>
            <a:r>
              <a:t>•   Government</a:t>
            </a:r>
          </a:p>
          <a:p>
            <a:pPr>
              <a:spcAft>
                <a:spcPts val="1400"/>
              </a:spcAft>
              <a:defRPr sz="1400">
                <a:solidFill>
                  <a:srgbClr val="F5F5F7"/>
                </a:solidFill>
                <a:latin typeface="Inter"/>
              </a:defRPr>
            </a:pPr>
            <a:r>
              <a:t>•   Enterprises</a:t>
            </a:r>
          </a:p>
          <a:p>
            <a:pPr>
              <a:spcAft>
                <a:spcPts val="1400"/>
              </a:spcAft>
              <a:defRPr sz="1400">
                <a:solidFill>
                  <a:srgbClr val="F5F5F7"/>
                </a:solidFill>
                <a:latin typeface="Inter"/>
              </a:defRPr>
            </a:pPr>
            <a:r>
              <a:t>•   AI Developers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ora"/>
              </a:defRPr>
            </a:pPr>
            <a:r>
              <a:t>Expected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5F5F7"/>
                </a:solidFill>
                <a:latin typeface="Inter"/>
              </a:defRPr>
            </a:pPr>
            <a:r>
              <a:t>•   Secure collaboration</a:t>
            </a:r>
          </a:p>
          <a:p>
            <a:pPr>
              <a:spcAft>
                <a:spcPts val="1400"/>
              </a:spcAft>
              <a:defRPr sz="1400">
                <a:solidFill>
                  <a:srgbClr val="F5F5F7"/>
                </a:solidFill>
                <a:latin typeface="Inter"/>
              </a:defRPr>
            </a:pPr>
            <a:r>
              <a:t>•   Faster innovation</a:t>
            </a:r>
          </a:p>
          <a:p>
            <a:pPr>
              <a:spcAft>
                <a:spcPts val="1400"/>
              </a:spcAft>
              <a:defRPr sz="1400">
                <a:solidFill>
                  <a:srgbClr val="F5F5F7"/>
                </a:solidFill>
                <a:latin typeface="Inter"/>
              </a:defRPr>
            </a:pPr>
            <a:r>
              <a:t>•   Knowledge sharing</a:t>
            </a:r>
          </a:p>
          <a:p>
            <a:pPr>
              <a:spcAft>
                <a:spcPts val="1400"/>
              </a:spcAft>
              <a:defRPr sz="1400">
                <a:solidFill>
                  <a:srgbClr val="F5F5F7"/>
                </a:solidFill>
                <a:latin typeface="Inter"/>
              </a:defRPr>
            </a:pPr>
            <a:r>
              <a:t>•   Reduced duplication</a:t>
            </a:r>
          </a:p>
          <a:p>
            <a:pPr>
              <a:spcAft>
                <a:spcPts val="1400"/>
              </a:spcAft>
              <a:defRPr sz="1400">
                <a:solidFill>
                  <a:srgbClr val="F5F5F7"/>
                </a:solidFill>
                <a:latin typeface="Inter"/>
              </a:defRPr>
            </a:pPr>
            <a:r>
              <a:t>•   Better utilization of AI resources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B87333"/>
                </a:solidFill>
                <a:latin typeface="Sora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5F5F7"/>
                </a:solidFill>
                <a:latin typeface="Sora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0"/>
              </a:spcAft>
              <a:defRPr sz="1600">
                <a:solidFill>
                  <a:srgbClr val="F5F5F7"/>
                </a:solidFill>
                <a:latin typeface="Inter"/>
              </a:defRPr>
            </a:pPr>
            <a:r>
              <a:t>Artificial Intelligence is becoming an essential technology across industries, but collaboration between independent AI systems remains a major challenge.</a:t>
            </a:r>
          </a:p>
          <a:p>
            <a:pPr>
              <a:spcAft>
                <a:spcPts val="2000"/>
              </a:spcAft>
              <a:defRPr sz="1400">
                <a:solidFill>
                  <a:srgbClr val="86868B"/>
                </a:solidFill>
                <a:latin typeface="Inter"/>
              </a:defRPr>
            </a:pPr>
            <a:r>
              <a:t>This project proposes a Distributed Intelligence Infrastructure that enables secure collaboration while preserving privacy, ownership, and trust.</a:t>
            </a:r>
          </a:p>
          <a:p>
            <a:pPr>
              <a:defRPr sz="1400">
                <a:solidFill>
                  <a:srgbClr val="86868B"/>
                </a:solidFill>
                <a:latin typeface="Inter"/>
              </a:defRPr>
            </a:pPr>
            <a:r>
              <a:t>By connecting intelligence across organizations, the proposed approach aims to support the next generation of collaborative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645920"/>
            <a:ext cx="4754880" cy="3931920"/>
          </a:xfrm>
          <a:prstGeom prst="roundRect">
            <a:avLst/>
          </a:prstGeom>
          <a:solidFill>
            <a:srgbClr val="191B1D"/>
          </a:solidFill>
          <a:ln w="12700">
            <a:solidFill>
              <a:srgbClr val="2C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1645920"/>
            <a:ext cx="73152" cy="393192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201168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 i="1">
                <a:solidFill>
                  <a:srgbClr val="F5F5F7"/>
                </a:solidFill>
                <a:latin typeface="Sora"/>
              </a:defRPr>
            </a:pPr>
            <a:r>
              <a:t>"The future of Artificial Intelligence is not only about building intelligent systems, but enabling them to work together."</a:t>
            </a:r>
          </a:p>
          <a:p>
            <a:pPr>
              <a:defRPr sz="1200">
                <a:solidFill>
                  <a:srgbClr val="B87333"/>
                </a:solidFill>
                <a:latin typeface="Inter"/>
              </a:defRPr>
            </a:pPr>
            <a:r>
              <a:t>— Closing Statement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