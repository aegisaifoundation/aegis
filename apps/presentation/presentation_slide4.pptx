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A0A0A5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84048"/>
            <a:ext cx="13715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C66A2B"/>
                </a:solidFill>
                <a:latin typeface="Inter"/>
              </a:defRPr>
            </a:pPr>
            <a:r>
              <a:t>THE SOLUTION</a:t>
            </a:r>
          </a:p>
          <a:p>
            <a:pPr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E1E1E"/>
                </a:solidFill>
                <a:latin typeface="Sora"/>
              </a:rPr>
              <a:t>DISTRIBUTED
</a:t>
            </a:r>
            <a:r>
              <a:rPr sz="3600" b="1">
                <a:solidFill>
                  <a:srgbClr val="C66A2B"/>
                </a:solidFill>
                <a:latin typeface="Sora"/>
              </a:rPr>
              <a:t>INTELLIGENCE
</a:t>
            </a:r>
            <a:r>
              <a:rPr sz="3600" b="1">
                <a:solidFill>
                  <a:srgbClr val="1E1E1E"/>
                </a:solidFill>
                <a:latin typeface="Sora"/>
              </a:rPr>
              <a:t>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45720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defRPr sz="1250">
                <a:solidFill>
                  <a:srgbClr val="1E1E1E"/>
                </a:solidFill>
                <a:latin typeface="Inter"/>
              </a:defRPr>
            </a:pPr>
            <a:r>
              <a:t>A secure, decentralized foundation that enables independent AI systems to connect, collaborate, and create collective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3657600" cy="822960"/>
          </a:xfrm>
          <a:prstGeom prst="round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4919472"/>
            <a:ext cx="402336" cy="402336"/>
          </a:xfrm>
          <a:prstGeom prst="ellipse">
            <a:avLst/>
          </a:prstGeom>
          <a:solidFill>
            <a:srgbClr val="0A0B0C"/>
          </a:solidFill>
          <a:ln w="1524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5010912"/>
            <a:ext cx="219456" cy="21945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5074920"/>
            <a:ext cx="91440" cy="9144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81888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F5F5F7"/>
                </a:solidFill>
                <a:latin typeface="Inter"/>
              </a:defRPr>
            </a:pPr>
            <a:r>
              <a:t>Connecting independent intelligence.</a:t>
            </a:r>
          </a:p>
          <a:p>
            <a:pPr>
              <a:defRPr sz="1050" b="1">
                <a:solidFill>
                  <a:srgbClr val="C66A2B"/>
                </a:solidFill>
                <a:latin typeface="Inter"/>
              </a:defRPr>
            </a:pPr>
            <a:r>
              <a:t>Empowering collective progress.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1828800"/>
            <a:ext cx="3108960" cy="3108960"/>
          </a:xfrm>
          <a:prstGeom prst="ellipse">
            <a:avLst/>
          </a:prstGeom>
          <a:solidFill>
            <a:srgbClr val="FCFCFA"/>
          </a:solidFill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8229600" y="1737360"/>
            <a:ext cx="0" cy="1645920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188452" y="2354580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229600" y="2286000"/>
            <a:ext cx="2011680" cy="1097280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395460" y="2683764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383280"/>
            <a:ext cx="2011680" cy="1097280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95460" y="4000500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6217920" y="3383280"/>
            <a:ext cx="2011680" cy="1097280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981444" y="4000500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06640" y="2560320"/>
            <a:ext cx="1645920" cy="1645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718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850" b="1">
                <a:solidFill>
                  <a:srgbClr val="F5F5F7"/>
                </a:solidFill>
                <a:latin typeface="Inter"/>
              </a:defRPr>
            </a:pPr>
            <a:r>
              <a:t>DISTRIBUTED</a:t>
            </a:r>
            <a:br/>
            <a:r>
              <a:t>INTELLIGENCE</a:t>
            </a:r>
            <a:br/>
            <a:r>
              <a:t>INFRASTRUCTURE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0" y="1325880"/>
            <a:ext cx="822960" cy="82296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1682495"/>
            <a:ext cx="146304" cy="109728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5883" y="1645919"/>
            <a:ext cx="27432" cy="3657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7596" y="1664207"/>
            <a:ext cx="64008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335024"/>
            <a:ext cx="292608" cy="292608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63840" y="1435607"/>
            <a:ext cx="91440" cy="91441"/>
          </a:xfrm>
          <a:custGeom>
            <a:avLst/>
            <a:gdLst/>
            <a:ahLst/>
            <a:cxnLst/>
            <a:rect l="l" t="t" r="r" b="b"/>
            <a:pathLst>
              <a:path w="91440" h="91441">
                <a:moveTo>
                  <a:pt x="0" y="0"/>
                </a:moveTo>
                <a:lnTo>
                  <a:pt x="91440" y="0"/>
                </a:lnTo>
                <a:lnTo>
                  <a:pt x="91440" y="45721"/>
                </a:lnTo>
                <a:lnTo>
                  <a:pt x="45720" y="91441"/>
                </a:lnTo>
                <a:lnTo>
                  <a:pt x="0" y="45721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10058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1E1E1E"/>
                </a:solidFill>
                <a:latin typeface="Inter"/>
              </a:defRPr>
            </a:pPr>
            <a:r>
              <a:t>HEALTHCARE</a:t>
            </a:r>
            <a:br/>
            <a:r>
              <a:t>ORGANIZATION</a:t>
            </a:r>
          </a:p>
        </p:txBody>
      </p:sp>
      <p:sp>
        <p:nvSpPr>
          <p:cNvPr id="33" name="Oval 32"/>
          <p:cNvSpPr/>
          <p:nvPr/>
        </p:nvSpPr>
        <p:spPr>
          <a:xfrm>
            <a:off x="9829800" y="1874519"/>
            <a:ext cx="822960" cy="82296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10158984" y="2203704"/>
            <a:ext cx="164592" cy="54864"/>
          </a:xfrm>
          <a:prstGeom prst="triangl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68128" y="2258568"/>
            <a:ext cx="146304" cy="73152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24820" y="2287828"/>
            <a:ext cx="32918" cy="32918"/>
          </a:xfrm>
          <a:prstGeom prst="ellipse">
            <a:avLst/>
          </a:prstGeom>
          <a:solidFill>
            <a:srgbClr val="FC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15015" y="1883663"/>
            <a:ext cx="292608" cy="292608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10506455" y="1984248"/>
            <a:ext cx="109728" cy="64008"/>
          </a:xfrm>
          <a:prstGeom prst="diamond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1E1E1E"/>
                </a:solidFill>
                <a:latin typeface="Inter"/>
              </a:defRPr>
            </a:pPr>
            <a:r>
              <a:t>EDUCATIONAL</a:t>
            </a:r>
            <a:br/>
            <a:r>
              <a:t>INSTITUTION</a:t>
            </a:r>
          </a:p>
        </p:txBody>
      </p:sp>
      <p:sp>
        <p:nvSpPr>
          <p:cNvPr id="40" name="Oval 39"/>
          <p:cNvSpPr/>
          <p:nvPr/>
        </p:nvSpPr>
        <p:spPr>
          <a:xfrm>
            <a:off x="9829800" y="4069080"/>
            <a:ext cx="822960" cy="82296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58984" y="4434840"/>
            <a:ext cx="164592" cy="9144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10149840" y="4389120"/>
            <a:ext cx="182880" cy="45720"/>
          </a:xfrm>
          <a:prstGeom prst="triangl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15015" y="4590288"/>
            <a:ext cx="292608" cy="292608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15599" y="4700016"/>
            <a:ext cx="91440" cy="73152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4956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1E1E1E"/>
                </a:solidFill>
                <a:latin typeface="Inter"/>
              </a:defRPr>
            </a:pPr>
            <a:r>
              <a:t>GOVERNMENT</a:t>
            </a:r>
            <a:br/>
            <a:r>
              <a:t>AGENCY</a:t>
            </a:r>
          </a:p>
        </p:txBody>
      </p:sp>
      <p:sp>
        <p:nvSpPr>
          <p:cNvPr id="46" name="Oval 45"/>
          <p:cNvSpPr/>
          <p:nvPr/>
        </p:nvSpPr>
        <p:spPr>
          <a:xfrm>
            <a:off x="5806440" y="4069080"/>
            <a:ext cx="822960" cy="82296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144768" y="4443984"/>
            <a:ext cx="146304" cy="91440"/>
          </a:xfrm>
          <a:custGeom>
            <a:avLst/>
            <a:gdLst/>
            <a:ahLst/>
            <a:cxnLst/>
            <a:rect l="l" t="t" r="r" b="b"/>
            <a:pathLst>
              <a:path w="146304" h="91440">
                <a:moveTo>
                  <a:pt x="0" y="91440"/>
                </a:moveTo>
                <a:lnTo>
                  <a:pt x="0" y="0"/>
                </a:lnTo>
                <a:lnTo>
                  <a:pt x="45720" y="45720"/>
                </a:lnTo>
                <a:lnTo>
                  <a:pt x="45720" y="0"/>
                </a:lnTo>
                <a:lnTo>
                  <a:pt x="91439" y="45720"/>
                </a:lnTo>
                <a:lnTo>
                  <a:pt x="91439" y="0"/>
                </a:lnTo>
                <a:lnTo>
                  <a:pt x="146304" y="45720"/>
                </a:lnTo>
                <a:lnTo>
                  <a:pt x="146304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751576" y="4590288"/>
            <a:ext cx="292608" cy="292608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852160" y="4690872"/>
            <a:ext cx="91440" cy="91440"/>
          </a:xfrm>
          <a:prstGeom prst="ellipse">
            <a:avLst/>
          </a:prstGeom>
          <a:solidFill>
            <a:srgbClr val="16181A"/>
          </a:solidFill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4956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1E1E1E"/>
                </a:solidFill>
                <a:latin typeface="Inter"/>
              </a:defRPr>
            </a:pPr>
            <a:r>
              <a:t>INDUSTRY</a:t>
            </a:r>
            <a:br/>
            <a:r>
              <a:t>ENTERPRISE</a:t>
            </a:r>
          </a:p>
        </p:txBody>
      </p:sp>
      <p:sp>
        <p:nvSpPr>
          <p:cNvPr id="51" name="Oval 50"/>
          <p:cNvSpPr/>
          <p:nvPr/>
        </p:nvSpPr>
        <p:spPr>
          <a:xfrm>
            <a:off x="8183879" y="109728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594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800">
                <a:solidFill>
                  <a:srgbClr val="A0A0A5"/>
                </a:solidFill>
                <a:latin typeface="Inter"/>
              </a:defRPr>
            </a:pPr>
            <a:r>
              <a:rPr sz="850" b="1">
                <a:solidFill>
                  <a:srgbClr val="1E1E1E"/>
                </a:solidFill>
                <a:latin typeface="Inter"/>
              </a:rPr>
              <a:t>SECURE BY DESIGN
</a:t>
            </a:r>
            <a:r>
              <a:rPr sz="800">
                <a:solidFill>
                  <a:srgbClr val="A0A0A5"/>
                </a:solidFill>
                <a:latin typeface="Inter"/>
              </a:rPr>
              <a:t>Privacy-preserving collaboration
with zero-trust architecture.</a:t>
            </a:r>
          </a:p>
        </p:txBody>
      </p:sp>
      <p:sp>
        <p:nvSpPr>
          <p:cNvPr id="53" name="Oval 52"/>
          <p:cNvSpPr/>
          <p:nvPr/>
        </p:nvSpPr>
        <p:spPr>
          <a:xfrm>
            <a:off x="8183879" y="562356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806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800">
                <a:solidFill>
                  <a:srgbClr val="A0A0A5"/>
                </a:solidFill>
                <a:latin typeface="Inter"/>
              </a:defRPr>
            </a:pPr>
            <a:r>
              <a:rPr sz="850" b="1">
                <a:solidFill>
                  <a:srgbClr val="1E1E1E"/>
                </a:solidFill>
                <a:latin typeface="Inter"/>
              </a:rPr>
              <a:t>DECENTRALIZED &amp; SOVEREIGN
</a:t>
            </a:r>
            <a:r>
              <a:rPr sz="800">
                <a:solidFill>
                  <a:srgbClr val="A0A0A5"/>
                </a:solidFill>
                <a:latin typeface="Inter"/>
              </a:rPr>
              <a:t>Each organization retains control
over its data and models.</a:t>
            </a:r>
          </a:p>
        </p:txBody>
      </p:sp>
      <p:sp>
        <p:nvSpPr>
          <p:cNvPr id="55" name="Oval 54"/>
          <p:cNvSpPr/>
          <p:nvPr/>
        </p:nvSpPr>
        <p:spPr>
          <a:xfrm>
            <a:off x="6355080" y="333756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3566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800">
                <a:solidFill>
                  <a:srgbClr val="A0A0A5"/>
                </a:solidFill>
                <a:latin typeface="Inter"/>
              </a:defRPr>
            </a:pPr>
            <a:r>
              <a:rPr sz="850" b="1">
                <a:solidFill>
                  <a:srgbClr val="1E1E1E"/>
                </a:solidFill>
                <a:latin typeface="Inter"/>
              </a:rPr>
              <a:t>SHARED CAPABILITIES
</a:t>
            </a:r>
            <a:r>
              <a:rPr sz="800">
                <a:solidFill>
                  <a:srgbClr val="A0A0A5"/>
                </a:solidFill>
                <a:latin typeface="Inter"/>
              </a:rPr>
              <a:t>Discover and access
capabilities across
organizations.</a:t>
            </a:r>
          </a:p>
        </p:txBody>
      </p:sp>
      <p:sp>
        <p:nvSpPr>
          <p:cNvPr id="57" name="Oval 56"/>
          <p:cNvSpPr/>
          <p:nvPr/>
        </p:nvSpPr>
        <p:spPr>
          <a:xfrm>
            <a:off x="10012680" y="333756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5661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800">
                <a:solidFill>
                  <a:srgbClr val="A0A0A5"/>
                </a:solidFill>
                <a:latin typeface="Inter"/>
              </a:defRPr>
            </a:pPr>
            <a:r>
              <a:rPr sz="850" b="1">
                <a:solidFill>
                  <a:srgbClr val="1E1E1E"/>
                </a:solidFill>
                <a:latin typeface="Inter"/>
              </a:rPr>
              <a:t>COLLECTIVE INTELLIGENCE
</a:t>
            </a:r>
            <a:r>
              <a:rPr sz="800">
                <a:solidFill>
                  <a:srgbClr val="A0A0A5"/>
                </a:solidFill>
                <a:latin typeface="Inter"/>
              </a:rPr>
              <a:t>Combine strengths,
share insights, and
solve bigger challenges.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66A2B"/>
                </a:solidFill>
                <a:latin typeface="Libre Baskerville"/>
              </a:rPr>
              <a:t>“   </a:t>
            </a:r>
            <a:r>
              <a:rPr sz="1300">
                <a:solidFill>
                  <a:srgbClr val="F5F5F7"/>
                </a:solidFill>
                <a:latin typeface="Libre Baskerville"/>
              </a:rPr>
              <a:t>Turning isolated AI systems into a network of </a:t>
            </a:r>
            <a:r>
              <a:rPr sz="1300" b="1">
                <a:solidFill>
                  <a:srgbClr val="C66A2B"/>
                </a:solidFill>
                <a:latin typeface="Libre Baskerville"/>
              </a:rPr>
              <a:t>collaborative intelligence</a:t>
            </a:r>
            <a:r>
              <a:rPr sz="1300">
                <a:solidFill>
                  <a:srgbClr val="F5F5F7"/>
                </a:solidFill>
                <a:latin typeface="Libre Baskerville"/>
              </a:rPr>
              <a:t>.</a:t>
            </a:r>
            <a:r>
              <a:rPr sz="1600" b="1">
                <a:solidFill>
                  <a:srgbClr val="C66A2B"/>
                </a:solidFill>
                <a:latin typeface="Libre Baskerville"/>
              </a:rPr>
              <a:t>  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